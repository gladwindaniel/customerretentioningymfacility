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embeddedFontLst>
    <p:embeddedFont>
      <p:font typeface="Anton" pitchFamily="2" charset="0"/>
      <p:regular r:id="rId27"/>
    </p:embeddedFont>
    <p:embeddedFont>
      <p:font typeface="Work Sans" pitchFamily="2" charset="0"/>
      <p:bold r:id="rId28"/>
    </p:embeddedFont>
    <p:embeddedFont>
      <p:font typeface="Work Sans Medium" pitchFamily="2" charset="0"/>
      <p:regular r:id="rId29"/>
    </p:embeddedFont>
    <p:embeddedFont>
      <p:font typeface="Work Sans SemiBold" pitchFamily="2" charset="0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474" y="-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139a579331fea6b5_3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139a579331fea6b5_3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139a579331fea6b5_3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139a579331fea6b5_3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139a579331fea6b5_3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h139a579331fea6b5_3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139a579331fea6b5_2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h139a579331fea6b5_2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h139a579331fea6b5_2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h139a579331fea6b5_2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139a579331fea6b5_2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h139a579331fea6b5_2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h139a579331fea6b5_2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h139a579331fea6b5_2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h139a579331fea6b5_2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h139a579331fea6b5_2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h139a579331fea6b5_2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h139a579331fea6b5_2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h139a579331fea6b5_103_10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h139a579331fea6b5_103_10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h139a579331fea6b5_2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h139a579331fea6b5_2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h139a579331fea6b5_2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h139a579331fea6b5_2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h139a579331fea6b5_2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h139a579331fea6b5_2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h139a579331fea6b5_1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h139a579331fea6b5_1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h139a579331fea6b5_1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h139a579331fea6b5_1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h139a579331fea6b5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h139a579331fea6b5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h139a579331fea6b5_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h139a579331fea6b5_1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h139a579331fea6b5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h139a579331fea6b5_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h139a579331fea6b5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h139a579331fea6b5_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h139a579331fea6b5_1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h139a579331fea6b5_1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h139a579331fea6b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4" name="Google Shape;1374;h139a579331fea6b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h139a579331fea6b5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h139a579331fea6b5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h139a579331fea6b5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0" name="Google Shape;1530;h139a579331fea6b5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h139a579331fea6b5_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h139a579331fea6b5_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h139a579331fea6b5_8_0)">
  <p:cSld name="Generated (h139a579331fea6b5_8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3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476250" y="342900"/>
            <a:ext cx="4210050" cy="209700"/>
            <a:chOff x="0" y="0"/>
            <a:chExt cx="4210050" cy="209700"/>
          </a:xfrm>
        </p:grpSpPr>
        <p:sp>
          <p:nvSpPr>
            <p:cNvPr id="57" name="Google Shape;57;p14"/>
            <p:cNvSpPr/>
            <p:nvPr/>
          </p:nvSpPr>
          <p:spPr>
            <a:xfrm>
              <a:off x="0" y="0"/>
              <a:ext cx="1238400" cy="209700"/>
            </a:xfrm>
            <a:prstGeom prst="roundRect">
              <a:avLst>
                <a:gd name="adj" fmla="val 18181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4"/>
            <p:cNvSpPr txBox="1"/>
            <p:nvPr/>
          </p:nvSpPr>
          <p:spPr>
            <a:xfrm>
              <a:off x="0" y="0"/>
              <a:ext cx="12384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PROJECT REVIEW – 2</a:t>
              </a:r>
              <a:endParaRPr sz="7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9" name="Google Shape;59;p14"/>
            <p:cNvSpPr txBox="1"/>
            <p:nvPr/>
          </p:nvSpPr>
          <p:spPr>
            <a:xfrm>
              <a:off x="1352550" y="0"/>
              <a:ext cx="2857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MGT4003 – LEAN SIX SIGMA PRINCIPLES</a:t>
              </a:r>
              <a:endParaRPr sz="8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60" name="Google Shape;60;p14"/>
          <p:cNvSpPr txBox="1"/>
          <p:nvPr/>
        </p:nvSpPr>
        <p:spPr>
          <a:xfrm>
            <a:off x="476250" y="647700"/>
            <a:ext cx="39054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rPr>
              <a:t>IMPROVING</a:t>
            </a:r>
            <a:endParaRPr sz="3200">
              <a:solidFill>
                <a:srgbClr val="0E1C5D"/>
              </a:solidFill>
              <a:latin typeface="Anton"/>
              <a:ea typeface="Anton"/>
              <a:cs typeface="Anton"/>
              <a:sym typeface="Anto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A60042"/>
                </a:solidFill>
                <a:latin typeface="Anton"/>
                <a:ea typeface="Anton"/>
                <a:cs typeface="Anton"/>
                <a:sym typeface="Anton"/>
              </a:rPr>
              <a:t>MEMBER RETENTION</a:t>
            </a:r>
            <a:endParaRPr sz="3200">
              <a:solidFill>
                <a:srgbClr val="A60042"/>
              </a:solidFill>
              <a:latin typeface="Anton"/>
              <a:ea typeface="Anton"/>
              <a:cs typeface="Anton"/>
              <a:sym typeface="Anto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rPr>
              <a:t>IN A FITNESS CENTRE</a:t>
            </a:r>
            <a:endParaRPr sz="2000">
              <a:solidFill>
                <a:srgbClr val="0E1C5D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61" name="Google Shape;61;p14"/>
          <p:cNvGrpSpPr/>
          <p:nvPr/>
        </p:nvGrpSpPr>
        <p:grpSpPr>
          <a:xfrm>
            <a:off x="476250" y="2000250"/>
            <a:ext cx="3905400" cy="266700"/>
            <a:chOff x="0" y="0"/>
            <a:chExt cx="3905400" cy="266700"/>
          </a:xfrm>
        </p:grpSpPr>
        <p:sp>
          <p:nvSpPr>
            <p:cNvPr id="62" name="Google Shape;62;p14"/>
            <p:cNvSpPr/>
            <p:nvPr/>
          </p:nvSpPr>
          <p:spPr>
            <a:xfrm>
              <a:off x="0" y="0"/>
              <a:ext cx="3905400" cy="266700"/>
            </a:xfrm>
            <a:prstGeom prst="roundRect">
              <a:avLst>
                <a:gd name="adj" fmla="val 14285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0" y="0"/>
              <a:ext cx="39054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Using DMAIC Methodology and Statistical Analysis</a:t>
              </a:r>
              <a:endParaRPr sz="9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64" name="Google Shape;64;p14"/>
          <p:cNvGrpSpPr/>
          <p:nvPr/>
        </p:nvGrpSpPr>
        <p:grpSpPr>
          <a:xfrm>
            <a:off x="476250" y="2362200"/>
            <a:ext cx="3905400" cy="228600"/>
            <a:chOff x="0" y="0"/>
            <a:chExt cx="3905400" cy="228600"/>
          </a:xfrm>
        </p:grpSpPr>
        <p:grpSp>
          <p:nvGrpSpPr>
            <p:cNvPr id="65" name="Google Shape;65;p14"/>
            <p:cNvGrpSpPr/>
            <p:nvPr/>
          </p:nvGrpSpPr>
          <p:grpSpPr>
            <a:xfrm>
              <a:off x="0" y="0"/>
              <a:ext cx="723900" cy="228600"/>
              <a:chOff x="0" y="0"/>
              <a:chExt cx="723900" cy="228600"/>
            </a:xfrm>
          </p:grpSpPr>
          <p:sp>
            <p:nvSpPr>
              <p:cNvPr id="66" name="Google Shape;66;p14"/>
              <p:cNvSpPr/>
              <p:nvPr/>
            </p:nvSpPr>
            <p:spPr>
              <a:xfrm>
                <a:off x="0" y="0"/>
                <a:ext cx="7239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14"/>
              <p:cNvSpPr txBox="1"/>
              <p:nvPr/>
            </p:nvSpPr>
            <p:spPr>
              <a:xfrm>
                <a:off x="0" y="0"/>
                <a:ext cx="723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D • DEFINE</a:t>
                </a:r>
                <a:endParaRPr sz="7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</p:grpSp>
        <p:grpSp>
          <p:nvGrpSpPr>
            <p:cNvPr id="68" name="Google Shape;68;p14"/>
            <p:cNvGrpSpPr/>
            <p:nvPr/>
          </p:nvGrpSpPr>
          <p:grpSpPr>
            <a:xfrm>
              <a:off x="790575" y="0"/>
              <a:ext cx="723900" cy="228600"/>
              <a:chOff x="0" y="0"/>
              <a:chExt cx="723900" cy="228600"/>
            </a:xfrm>
          </p:grpSpPr>
          <p:sp>
            <p:nvSpPr>
              <p:cNvPr id="69" name="Google Shape;69;p14"/>
              <p:cNvSpPr/>
              <p:nvPr/>
            </p:nvSpPr>
            <p:spPr>
              <a:xfrm>
                <a:off x="0" y="0"/>
                <a:ext cx="7239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14"/>
              <p:cNvSpPr txBox="1"/>
              <p:nvPr/>
            </p:nvSpPr>
            <p:spPr>
              <a:xfrm>
                <a:off x="0" y="0"/>
                <a:ext cx="723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M • MEASURE</a:t>
                </a:r>
                <a:endParaRPr sz="7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</p:grpSp>
        <p:grpSp>
          <p:nvGrpSpPr>
            <p:cNvPr id="71" name="Google Shape;71;p14"/>
            <p:cNvGrpSpPr/>
            <p:nvPr/>
          </p:nvGrpSpPr>
          <p:grpSpPr>
            <a:xfrm>
              <a:off x="1581150" y="0"/>
              <a:ext cx="723900" cy="228600"/>
              <a:chOff x="0" y="0"/>
              <a:chExt cx="723900" cy="228600"/>
            </a:xfrm>
          </p:grpSpPr>
          <p:sp>
            <p:nvSpPr>
              <p:cNvPr id="72" name="Google Shape;72;p14"/>
              <p:cNvSpPr/>
              <p:nvPr/>
            </p:nvSpPr>
            <p:spPr>
              <a:xfrm>
                <a:off x="0" y="0"/>
                <a:ext cx="7239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14"/>
              <p:cNvSpPr txBox="1"/>
              <p:nvPr/>
            </p:nvSpPr>
            <p:spPr>
              <a:xfrm>
                <a:off x="0" y="0"/>
                <a:ext cx="723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A • ANALYZE</a:t>
                </a:r>
                <a:endParaRPr sz="7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</p:grpSp>
        <p:grpSp>
          <p:nvGrpSpPr>
            <p:cNvPr id="74" name="Google Shape;74;p14"/>
            <p:cNvGrpSpPr/>
            <p:nvPr/>
          </p:nvGrpSpPr>
          <p:grpSpPr>
            <a:xfrm>
              <a:off x="2371725" y="0"/>
              <a:ext cx="723900" cy="228600"/>
              <a:chOff x="0" y="0"/>
              <a:chExt cx="723900" cy="228600"/>
            </a:xfrm>
          </p:grpSpPr>
          <p:sp>
            <p:nvSpPr>
              <p:cNvPr id="75" name="Google Shape;75;p14"/>
              <p:cNvSpPr/>
              <p:nvPr/>
            </p:nvSpPr>
            <p:spPr>
              <a:xfrm>
                <a:off x="0" y="0"/>
                <a:ext cx="7239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14"/>
              <p:cNvSpPr txBox="1"/>
              <p:nvPr/>
            </p:nvSpPr>
            <p:spPr>
              <a:xfrm>
                <a:off x="0" y="0"/>
                <a:ext cx="723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I • IMPROVE</a:t>
                </a:r>
                <a:endParaRPr sz="7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</p:grpSp>
        <p:grpSp>
          <p:nvGrpSpPr>
            <p:cNvPr id="77" name="Google Shape;77;p14"/>
            <p:cNvGrpSpPr/>
            <p:nvPr/>
          </p:nvGrpSpPr>
          <p:grpSpPr>
            <a:xfrm>
              <a:off x="3162300" y="0"/>
              <a:ext cx="743100" cy="228600"/>
              <a:chOff x="0" y="0"/>
              <a:chExt cx="743100" cy="228600"/>
            </a:xfrm>
          </p:grpSpPr>
          <p:sp>
            <p:nvSpPr>
              <p:cNvPr id="78" name="Google Shape;78;p14"/>
              <p:cNvSpPr/>
              <p:nvPr/>
            </p:nvSpPr>
            <p:spPr>
              <a:xfrm>
                <a:off x="0" y="0"/>
                <a:ext cx="7431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14"/>
              <p:cNvSpPr txBox="1"/>
              <p:nvPr/>
            </p:nvSpPr>
            <p:spPr>
              <a:xfrm>
                <a:off x="0" y="0"/>
                <a:ext cx="7431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C • CONTROL</a:t>
                </a:r>
                <a:endParaRPr sz="7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</p:grpSp>
      </p:grpSp>
      <p:grpSp>
        <p:nvGrpSpPr>
          <p:cNvPr id="80" name="Google Shape;80;p14"/>
          <p:cNvGrpSpPr/>
          <p:nvPr/>
        </p:nvGrpSpPr>
        <p:grpSpPr>
          <a:xfrm>
            <a:off x="476250" y="2705100"/>
            <a:ext cx="3905400" cy="2057400"/>
            <a:chOff x="0" y="0"/>
            <a:chExt cx="3905400" cy="2057400"/>
          </a:xfrm>
        </p:grpSpPr>
        <p:sp>
          <p:nvSpPr>
            <p:cNvPr id="81" name="Google Shape;81;p14"/>
            <p:cNvSpPr/>
            <p:nvPr/>
          </p:nvSpPr>
          <p:spPr>
            <a:xfrm>
              <a:off x="0" y="0"/>
              <a:ext cx="3905400" cy="2057400"/>
            </a:xfrm>
            <a:prstGeom prst="roundRect">
              <a:avLst>
                <a:gd name="adj" fmla="val 370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0" y="0"/>
              <a:ext cx="57300" cy="2057400"/>
            </a:xfrm>
            <a:prstGeom prst="roundRect">
              <a:avLst>
                <a:gd name="adj" fmla="val 50000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4"/>
            <p:cNvSpPr txBox="1"/>
            <p:nvPr/>
          </p:nvSpPr>
          <p:spPr>
            <a:xfrm>
              <a:off x="209550" y="152400"/>
              <a:ext cx="3543300" cy="175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ORGANIZATION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0E1C5D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rPr>
                <a:t>Ultimate Fitness Centre, Rathinamangalam</a:t>
              </a:r>
              <a:endParaRPr sz="950" b="0">
                <a:solidFill>
                  <a:srgbClr val="0E1C5D"/>
                </a:solidFill>
                <a:latin typeface="Work Sans SemiBold"/>
                <a:ea typeface="Work Sans SemiBold"/>
                <a:cs typeface="Work Sans SemiBold"/>
                <a:sym typeface="Work Sans SemiBold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AUTHORS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334155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Gladwin Daniel P (23MIA1058) &amp; Karthikeyan A (23MIA1123)</a:t>
              </a:r>
              <a:endParaRPr sz="900" b="0">
                <a:solidFill>
                  <a:srgbClr val="334155"/>
                </a:solidFill>
                <a:latin typeface="Work Sans Medium"/>
                <a:ea typeface="Work Sans Medium"/>
                <a:cs typeface="Work Sans Medium"/>
                <a:sym typeface="Work Sans Medium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FACULTY GUIDE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334155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Dr. Vadivel SM</a:t>
              </a:r>
              <a:endParaRPr sz="900" b="0">
                <a:solidFill>
                  <a:srgbClr val="334155"/>
                </a:solidFill>
                <a:latin typeface="Work Sans Medium"/>
                <a:ea typeface="Work Sans Medium"/>
                <a:cs typeface="Work Sans Medium"/>
                <a:sym typeface="Work Sans Medium"/>
              </a:endParaRPr>
            </a:p>
          </p:txBody>
        </p:sp>
      </p:grpSp>
      <p:grpSp>
        <p:nvGrpSpPr>
          <p:cNvPr id="84" name="Google Shape;84;p14"/>
          <p:cNvGrpSpPr/>
          <p:nvPr/>
        </p:nvGrpSpPr>
        <p:grpSpPr>
          <a:xfrm>
            <a:off x="4572000" y="342900"/>
            <a:ext cx="4095900" cy="3124200"/>
            <a:chOff x="0" y="0"/>
            <a:chExt cx="4095900" cy="3124200"/>
          </a:xfrm>
        </p:grpSpPr>
        <p:pic>
          <p:nvPicPr>
            <p:cNvPr id="85" name="Google Shape;85;p14"/>
            <p:cNvPicPr preferRelativeResize="0"/>
            <p:nvPr/>
          </p:nvPicPr>
          <p:blipFill rotWithShape="1">
            <a:blip r:embed="rId4">
              <a:alphaModFix/>
            </a:blip>
            <a:srcRect t="778" b="787"/>
            <a:stretch/>
          </p:blipFill>
          <p:spPr>
            <a:xfrm>
              <a:off x="0" y="0"/>
              <a:ext cx="4095900" cy="3124200"/>
            </a:xfrm>
            <a:prstGeom prst="roundRect">
              <a:avLst>
                <a:gd name="adj" fmla="val 3048"/>
              </a:avLst>
            </a:prstGeom>
            <a:noFill/>
            <a:ln>
              <a:noFill/>
            </a:ln>
          </p:spPr>
        </p:pic>
        <p:sp>
          <p:nvSpPr>
            <p:cNvPr id="86" name="Google Shape;86;p14"/>
            <p:cNvSpPr/>
            <p:nvPr/>
          </p:nvSpPr>
          <p:spPr>
            <a:xfrm>
              <a:off x="0" y="0"/>
              <a:ext cx="4095900" cy="3124200"/>
            </a:xfrm>
            <a:prstGeom prst="roundRect">
              <a:avLst>
                <a:gd name="adj" fmla="val 3048"/>
              </a:avLst>
            </a:prstGeom>
            <a:solidFill>
              <a:srgbClr val="000000">
                <a:alpha val="0"/>
              </a:srgbClr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" name="Google Shape;87;p14"/>
          <p:cNvGrpSpPr/>
          <p:nvPr/>
        </p:nvGrpSpPr>
        <p:grpSpPr>
          <a:xfrm>
            <a:off x="4572000" y="3619500"/>
            <a:ext cx="4095900" cy="1143000"/>
            <a:chOff x="0" y="0"/>
            <a:chExt cx="4095900" cy="1143000"/>
          </a:xfrm>
        </p:grpSpPr>
        <p:sp>
          <p:nvSpPr>
            <p:cNvPr id="88" name="Google Shape;88;p14"/>
            <p:cNvSpPr/>
            <p:nvPr/>
          </p:nvSpPr>
          <p:spPr>
            <a:xfrm>
              <a:off x="0" y="0"/>
              <a:ext cx="4095900" cy="1143000"/>
            </a:xfrm>
            <a:prstGeom prst="roundRect">
              <a:avLst>
                <a:gd name="adj" fmla="val 8333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0" y="0"/>
              <a:ext cx="4095900" cy="38100"/>
            </a:xfrm>
            <a:prstGeom prst="roundRect">
              <a:avLst>
                <a:gd name="adj" fmla="val 50000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4"/>
            <p:cNvSpPr txBox="1"/>
            <p:nvPr/>
          </p:nvSpPr>
          <p:spPr>
            <a:xfrm>
              <a:off x="190500" y="133350"/>
              <a:ext cx="3714900" cy="87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Data-Driven Lean Six Sigma Case Study</a:t>
              </a:r>
              <a:endParaRPr sz="1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FFCCD5"/>
                  </a:solidFill>
                  <a:latin typeface="Work Sans"/>
                  <a:ea typeface="Work Sans"/>
                  <a:cs typeface="Work Sans"/>
                  <a:sym typeface="Work Sans"/>
                </a:rPr>
                <a:t>Empirical Attrition Analysis &amp; Quality Control Framework</a:t>
              </a:r>
              <a:endParaRPr sz="850" b="0">
                <a:solidFill>
                  <a:srgbClr val="FFCCD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514350" y="238125"/>
            <a:ext cx="81153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rPr>
              <a:t>Problem Statement: </a:t>
            </a:r>
            <a:r>
              <a:rPr lang="en" sz="2400" b="0">
                <a:solidFill>
                  <a:srgbClr val="A60042"/>
                </a:solidFill>
                <a:latin typeface="Anton"/>
                <a:ea typeface="Anton"/>
                <a:cs typeface="Anton"/>
                <a:sym typeface="Anton"/>
              </a:rPr>
              <a:t>Member Churn Reduction</a:t>
            </a:r>
            <a:endParaRPr sz="2400" b="0">
              <a:solidFill>
                <a:srgbClr val="0E1C5D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97" name="Google Shape;97;p15"/>
          <p:cNvGrpSpPr/>
          <p:nvPr/>
        </p:nvGrpSpPr>
        <p:grpSpPr>
          <a:xfrm>
            <a:off x="514350" y="714375"/>
            <a:ext cx="3905400" cy="762000"/>
            <a:chOff x="0" y="0"/>
            <a:chExt cx="3905400" cy="762000"/>
          </a:xfrm>
        </p:grpSpPr>
        <p:sp>
          <p:nvSpPr>
            <p:cNvPr id="98" name="Google Shape;98;p15"/>
            <p:cNvSpPr/>
            <p:nvPr/>
          </p:nvSpPr>
          <p:spPr>
            <a:xfrm>
              <a:off x="0" y="0"/>
              <a:ext cx="3905400" cy="762000"/>
            </a:xfrm>
            <a:prstGeom prst="roundRect">
              <a:avLst>
                <a:gd name="adj" fmla="val 7500"/>
              </a:avLst>
            </a:prstGeom>
            <a:solidFill>
              <a:srgbClr val="F4F5F8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152400" y="9525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53.8%</a:t>
              </a:r>
              <a:endParaRPr sz="200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Current Baseline Churn</a:t>
              </a:r>
              <a:endParaRPr sz="850" b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rPr>
                <a:t>Ultimate Fitness Centre</a:t>
              </a:r>
              <a:endParaRPr sz="750" b="0">
                <a:solidFill>
                  <a:srgbClr val="666666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1838325" y="333375"/>
              <a:ext cx="2286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  <a:moveTo>
                    <a:pt x="90000" y="0"/>
                  </a:moveTo>
                  <a:lnTo>
                    <a:pt x="120000" y="60000"/>
                  </a:lnTo>
                  <a:lnTo>
                    <a:pt x="9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3825" cap="rnd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/>
            <p:cNvSpPr txBox="1"/>
            <p:nvPr/>
          </p:nvSpPr>
          <p:spPr>
            <a:xfrm>
              <a:off x="2228850" y="9525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&lt; 15%</a:t>
              </a:r>
              <a:endParaRPr sz="200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Target Monthly Churn</a:t>
              </a:r>
              <a:endParaRPr sz="8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rPr>
                <a:t>Data-Driven Goal</a:t>
              </a:r>
              <a:endParaRPr sz="750" b="0">
                <a:solidFill>
                  <a:srgbClr val="666666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02" name="Google Shape;102;p15"/>
          <p:cNvGrpSpPr/>
          <p:nvPr/>
        </p:nvGrpSpPr>
        <p:grpSpPr>
          <a:xfrm>
            <a:off x="514350" y="1600200"/>
            <a:ext cx="3905400" cy="2028825"/>
            <a:chOff x="0" y="0"/>
            <a:chExt cx="3905400" cy="2028825"/>
          </a:xfrm>
        </p:grpSpPr>
        <p:sp>
          <p:nvSpPr>
            <p:cNvPr id="103" name="Google Shape;103;p15"/>
            <p:cNvSpPr txBox="1"/>
            <p:nvPr/>
          </p:nvSpPr>
          <p:spPr>
            <a:xfrm>
              <a:off x="0" y="0"/>
              <a:ext cx="3905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8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BUSINESS IMPACT</a:t>
              </a:r>
              <a:endParaRPr sz="1018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694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Member churn at Ultimate Fitness Centre stands at 53.16% overall (26.9% monthly tracked rate), driving critical operational challenges:</a:t>
              </a:r>
              <a:endParaRPr sz="694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04" name="Google Shape;104;p15"/>
            <p:cNvGrpSpPr/>
            <p:nvPr/>
          </p:nvGrpSpPr>
          <p:grpSpPr>
            <a:xfrm>
              <a:off x="0" y="447675"/>
              <a:ext cx="1905000" cy="762000"/>
              <a:chOff x="0" y="0"/>
              <a:chExt cx="1905000" cy="762000"/>
            </a:xfrm>
          </p:grpSpPr>
          <p:sp>
            <p:nvSpPr>
              <p:cNvPr id="105" name="Google Shape;105;p15"/>
              <p:cNvSpPr/>
              <p:nvPr/>
            </p:nvSpPr>
            <p:spPr>
              <a:xfrm>
                <a:off x="0" y="0"/>
                <a:ext cx="1905000" cy="7620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 cap="flat" cmpd="sng">
                <a:solidFill>
                  <a:srgbClr val="E0E0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5"/>
              <p:cNvSpPr/>
              <p:nvPr/>
            </p:nvSpPr>
            <p:spPr>
              <a:xfrm>
                <a:off x="0" y="0"/>
                <a:ext cx="38100" cy="762000"/>
              </a:xfrm>
              <a:prstGeom prst="roundRect">
                <a:avLst>
                  <a:gd name="adj" fmla="val 5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15"/>
              <p:cNvSpPr txBox="1"/>
              <p:nvPr/>
            </p:nvSpPr>
            <p:spPr>
              <a:xfrm>
                <a:off x="114300" y="76200"/>
                <a:ext cx="17145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Direct Revenue Loss</a:t>
                </a:r>
                <a:endParaRPr sz="8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Recurring monthly membership revenue drops significantly.</a:t>
                </a:r>
                <a:endParaRPr sz="75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08" name="Google Shape;108;p15"/>
            <p:cNvGrpSpPr/>
            <p:nvPr/>
          </p:nvGrpSpPr>
          <p:grpSpPr>
            <a:xfrm>
              <a:off x="2000250" y="447675"/>
              <a:ext cx="1905000" cy="762000"/>
              <a:chOff x="0" y="0"/>
              <a:chExt cx="1905000" cy="762000"/>
            </a:xfrm>
          </p:grpSpPr>
          <p:sp>
            <p:nvSpPr>
              <p:cNvPr id="109" name="Google Shape;109;p15"/>
              <p:cNvSpPr/>
              <p:nvPr/>
            </p:nvSpPr>
            <p:spPr>
              <a:xfrm>
                <a:off x="0" y="0"/>
                <a:ext cx="1905000" cy="7620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 cap="flat" cmpd="sng">
                <a:solidFill>
                  <a:srgbClr val="E0E0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0" y="0"/>
                <a:ext cx="38100" cy="762000"/>
              </a:xfrm>
              <a:prstGeom prst="roundRect">
                <a:avLst>
                  <a:gd name="adj" fmla="val 5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5"/>
              <p:cNvSpPr txBox="1"/>
              <p:nvPr/>
            </p:nvSpPr>
            <p:spPr>
              <a:xfrm>
                <a:off x="114300" y="76200"/>
                <a:ext cx="17145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Reduced Predictability</a:t>
                </a:r>
                <a:endParaRPr sz="8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Unpredictable cash flow hinders expansion and planning.</a:t>
                </a:r>
                <a:endParaRPr sz="75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12" name="Google Shape;112;p15"/>
            <p:cNvGrpSpPr/>
            <p:nvPr/>
          </p:nvGrpSpPr>
          <p:grpSpPr>
            <a:xfrm>
              <a:off x="0" y="1266825"/>
              <a:ext cx="1905000" cy="762000"/>
              <a:chOff x="0" y="0"/>
              <a:chExt cx="1905000" cy="762000"/>
            </a:xfrm>
          </p:grpSpPr>
          <p:sp>
            <p:nvSpPr>
              <p:cNvPr id="113" name="Google Shape;113;p15"/>
              <p:cNvSpPr/>
              <p:nvPr/>
            </p:nvSpPr>
            <p:spPr>
              <a:xfrm>
                <a:off x="0" y="0"/>
                <a:ext cx="1905000" cy="7620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 cap="flat" cmpd="sng">
                <a:solidFill>
                  <a:srgbClr val="E0E0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0" y="0"/>
                <a:ext cx="38100" cy="762000"/>
              </a:xfrm>
              <a:prstGeom prst="roundRect">
                <a:avLst>
                  <a:gd name="adj" fmla="val 5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15"/>
              <p:cNvSpPr txBox="1"/>
              <p:nvPr/>
            </p:nvSpPr>
            <p:spPr>
              <a:xfrm>
                <a:off x="114300" y="76200"/>
                <a:ext cx="17145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Higher Acquisition Costs</a:t>
                </a:r>
                <a:endParaRPr sz="8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Continuously replacing members drives up marketing spend.</a:t>
                </a:r>
                <a:endParaRPr sz="75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16" name="Google Shape;116;p15"/>
            <p:cNvGrpSpPr/>
            <p:nvPr/>
          </p:nvGrpSpPr>
          <p:grpSpPr>
            <a:xfrm>
              <a:off x="2000250" y="1266825"/>
              <a:ext cx="1905000" cy="762000"/>
              <a:chOff x="0" y="0"/>
              <a:chExt cx="1905000" cy="762000"/>
            </a:xfrm>
          </p:grpSpPr>
          <p:sp>
            <p:nvSpPr>
              <p:cNvPr id="117" name="Google Shape;117;p15"/>
              <p:cNvSpPr/>
              <p:nvPr/>
            </p:nvSpPr>
            <p:spPr>
              <a:xfrm>
                <a:off x="0" y="0"/>
                <a:ext cx="1905000" cy="762000"/>
              </a:xfrm>
              <a:prstGeom prst="roundRect">
                <a:avLst>
                  <a:gd name="adj" fmla="val 6250"/>
                </a:avLst>
              </a:prstGeom>
              <a:solidFill>
                <a:srgbClr val="FFFFFF"/>
              </a:solidFill>
              <a:ln w="9525" cap="flat" cmpd="sng">
                <a:solidFill>
                  <a:srgbClr val="E0E0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0" y="0"/>
                <a:ext cx="38100" cy="762000"/>
              </a:xfrm>
              <a:prstGeom prst="roundRect">
                <a:avLst>
                  <a:gd name="adj" fmla="val 5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15"/>
              <p:cNvSpPr txBox="1"/>
              <p:nvPr/>
            </p:nvSpPr>
            <p:spPr>
              <a:xfrm>
                <a:off x="114300" y="76200"/>
                <a:ext cx="17145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Early Dropout</a:t>
                </a:r>
                <a:endParaRPr sz="8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Members leave before achieving fitness goals or habits.</a:t>
                </a:r>
                <a:endParaRPr sz="75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120" name="Google Shape;120;p15"/>
          <p:cNvGrpSpPr/>
          <p:nvPr/>
        </p:nvGrpSpPr>
        <p:grpSpPr>
          <a:xfrm>
            <a:off x="514350" y="3733800"/>
            <a:ext cx="3905400" cy="1028700"/>
            <a:chOff x="0" y="0"/>
            <a:chExt cx="3905400" cy="1028700"/>
          </a:xfrm>
        </p:grpSpPr>
        <p:sp>
          <p:nvSpPr>
            <p:cNvPr id="121" name="Google Shape;121;p15"/>
            <p:cNvSpPr/>
            <p:nvPr/>
          </p:nvSpPr>
          <p:spPr>
            <a:xfrm>
              <a:off x="0" y="0"/>
              <a:ext cx="3905400" cy="1028700"/>
            </a:xfrm>
            <a:prstGeom prst="roundRect">
              <a:avLst>
                <a:gd name="adj" fmla="val 5555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0" y="0"/>
              <a:ext cx="57300" cy="1028700"/>
            </a:xfrm>
            <a:prstGeom prst="roundRect">
              <a:avLst>
                <a:gd name="adj" fmla="val 50000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/>
            <p:cNvSpPr txBox="1"/>
            <p:nvPr/>
          </p:nvSpPr>
          <p:spPr>
            <a:xfrm>
              <a:off x="171450" y="114300"/>
              <a:ext cx="36006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Primary Project Objective</a:t>
              </a:r>
              <a:endParaRPr sz="9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E0E0E0"/>
                  </a:solidFill>
                  <a:latin typeface="Work Sans"/>
                  <a:ea typeface="Work Sans"/>
                  <a:cs typeface="Work Sans"/>
                  <a:sym typeface="Work Sans"/>
                </a:rPr>
                <a:t>Systematically reduce the monthly churn rate from the 53.8% overall rate (26.9% monthly tracked) baseline to sub-15% levels through targeted data-driven intervention strategies.</a:t>
              </a:r>
              <a:endParaRPr sz="800" b="0">
                <a:solidFill>
                  <a:srgbClr val="E0E0E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24" name="Google Shape;124;p15"/>
          <p:cNvGrpSpPr/>
          <p:nvPr/>
        </p:nvGrpSpPr>
        <p:grpSpPr>
          <a:xfrm>
            <a:off x="4724400" y="714375"/>
            <a:ext cx="3905400" cy="3953025"/>
            <a:chOff x="0" y="0"/>
            <a:chExt cx="3905400" cy="3953025"/>
          </a:xfrm>
        </p:grpSpPr>
        <p:sp>
          <p:nvSpPr>
            <p:cNvPr id="125" name="Google Shape;125;p15"/>
            <p:cNvSpPr txBox="1"/>
            <p:nvPr/>
          </p:nvSpPr>
          <p:spPr>
            <a:xfrm>
              <a:off x="0" y="0"/>
              <a:ext cx="3905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PLAN BREAKDOWN ANALYSIS</a:t>
              </a:r>
              <a:endParaRPr sz="1300" b="1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rPr>
                <a:t>A detailed breakdown of membership plan types reveals a critical imbalance in customer retention:</a:t>
              </a:r>
              <a:endParaRPr sz="850" b="0">
                <a:solidFill>
                  <a:srgbClr val="5555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26" name="Google Shape;126;p15"/>
            <p:cNvGrpSpPr/>
            <p:nvPr/>
          </p:nvGrpSpPr>
          <p:grpSpPr>
            <a:xfrm>
              <a:off x="0" y="619125"/>
              <a:ext cx="3905400" cy="1047900"/>
              <a:chOff x="0" y="0"/>
              <a:chExt cx="3905400" cy="1047900"/>
            </a:xfrm>
          </p:grpSpPr>
          <p:sp>
            <p:nvSpPr>
              <p:cNvPr id="127" name="Google Shape;127;p15"/>
              <p:cNvSpPr/>
              <p:nvPr/>
            </p:nvSpPr>
            <p:spPr>
              <a:xfrm>
                <a:off x="0" y="0"/>
                <a:ext cx="3905400" cy="1047900"/>
              </a:xfrm>
              <a:prstGeom prst="roundRect">
                <a:avLst>
                  <a:gd name="adj" fmla="val 5454"/>
                </a:avLst>
              </a:prstGeom>
              <a:solidFill>
                <a:srgbClr val="FFF5F7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>
                <a:off x="0" y="0"/>
                <a:ext cx="76200" cy="1047900"/>
              </a:xfrm>
              <a:prstGeom prst="roundRect">
                <a:avLst>
                  <a:gd name="adj" fmla="val 5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15"/>
              <p:cNvSpPr txBox="1"/>
              <p:nvPr/>
            </p:nvSpPr>
            <p:spPr>
              <a:xfrm>
                <a:off x="190500" y="142875"/>
                <a:ext cx="1047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800" b="1">
                    <a:solidFill>
                      <a:srgbClr val="A60042"/>
                    </a:solidFill>
                    <a:latin typeface="Anton"/>
                    <a:ea typeface="Anton"/>
                    <a:cs typeface="Anton"/>
                    <a:sym typeface="Anton"/>
                  </a:rPr>
                  <a:t>77%</a:t>
                </a:r>
                <a:endParaRPr sz="2800" b="1">
                  <a:solidFill>
                    <a:srgbClr val="A60042"/>
                  </a:solidFill>
                  <a:latin typeface="Anton"/>
                  <a:ea typeface="Anton"/>
                  <a:cs typeface="Anton"/>
                  <a:sym typeface="Anton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CHURN RATE</a:t>
                </a:r>
                <a:endParaRPr sz="6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130" name="Google Shape;130;p15"/>
              <p:cNvCxnSpPr/>
              <p:nvPr/>
            </p:nvCxnSpPr>
            <p:spPr>
              <a:xfrm>
                <a:off x="1314450" y="171450"/>
                <a:ext cx="0" cy="7050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FFCCD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31" name="Google Shape;131;p15"/>
              <p:cNvSpPr txBox="1"/>
              <p:nvPr/>
            </p:nvSpPr>
            <p:spPr>
              <a:xfrm>
                <a:off x="1447800" y="142875"/>
                <a:ext cx="23052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Monthly Plans</a:t>
                </a:r>
                <a:endParaRPr sz="11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Highest risk segment requiring immediate intervention. Accounts for the primary volume of overall member attrition.</a:t>
                </a:r>
                <a:endParaRPr sz="80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32" name="Google Shape;132;p15"/>
            <p:cNvGrpSpPr/>
            <p:nvPr/>
          </p:nvGrpSpPr>
          <p:grpSpPr>
            <a:xfrm>
              <a:off x="0" y="1762125"/>
              <a:ext cx="3905400" cy="1047900"/>
              <a:chOff x="0" y="0"/>
              <a:chExt cx="3905400" cy="1047900"/>
            </a:xfrm>
          </p:grpSpPr>
          <p:sp>
            <p:nvSpPr>
              <p:cNvPr id="133" name="Google Shape;133;p15"/>
              <p:cNvSpPr/>
              <p:nvPr/>
            </p:nvSpPr>
            <p:spPr>
              <a:xfrm>
                <a:off x="0" y="0"/>
                <a:ext cx="3905400" cy="1047900"/>
              </a:xfrm>
              <a:prstGeom prst="roundRect">
                <a:avLst>
                  <a:gd name="adj" fmla="val 5454"/>
                </a:avLst>
              </a:prstGeom>
              <a:solidFill>
                <a:srgbClr val="F4F5F8"/>
              </a:solidFill>
              <a:ln w="9525" cap="flat" cmpd="sng">
                <a:solidFill>
                  <a:srgbClr val="E0E0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15"/>
              <p:cNvSpPr/>
              <p:nvPr/>
            </p:nvSpPr>
            <p:spPr>
              <a:xfrm>
                <a:off x="0" y="0"/>
                <a:ext cx="76200" cy="1047900"/>
              </a:xfrm>
              <a:prstGeom prst="roundRect">
                <a:avLst>
                  <a:gd name="adj" fmla="val 50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15"/>
              <p:cNvSpPr txBox="1"/>
              <p:nvPr/>
            </p:nvSpPr>
            <p:spPr>
              <a:xfrm>
                <a:off x="190500" y="142875"/>
                <a:ext cx="1047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800" b="1">
                    <a:solidFill>
                      <a:srgbClr val="0E1C5D"/>
                    </a:solidFill>
                    <a:latin typeface="Anton"/>
                    <a:ea typeface="Anton"/>
                    <a:cs typeface="Anton"/>
                    <a:sym typeface="Anton"/>
                  </a:rPr>
                  <a:t>50%</a:t>
                </a:r>
                <a:endParaRPr sz="2800" b="1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CHURN RATE</a:t>
                </a:r>
                <a:endParaRPr sz="6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136" name="Google Shape;136;p15"/>
              <p:cNvCxnSpPr/>
              <p:nvPr/>
            </p:nvCxnSpPr>
            <p:spPr>
              <a:xfrm>
                <a:off x="1314450" y="171450"/>
                <a:ext cx="0" cy="7050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37" name="Google Shape;137;p15"/>
              <p:cNvSpPr txBox="1"/>
              <p:nvPr/>
            </p:nvSpPr>
            <p:spPr>
              <a:xfrm>
                <a:off x="1447800" y="142875"/>
                <a:ext cx="23052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Quarterly Plans</a:t>
                </a:r>
                <a:endParaRPr sz="11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Moderate retention with engagement potential. Serves as a key transition segment for long-term commitment upgrade.</a:t>
                </a:r>
                <a:endParaRPr sz="80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38" name="Google Shape;138;p15"/>
            <p:cNvGrpSpPr/>
            <p:nvPr/>
          </p:nvGrpSpPr>
          <p:grpSpPr>
            <a:xfrm>
              <a:off x="0" y="2905125"/>
              <a:ext cx="3905400" cy="1047900"/>
              <a:chOff x="0" y="0"/>
              <a:chExt cx="3905400" cy="1047900"/>
            </a:xfrm>
          </p:grpSpPr>
          <p:sp>
            <p:nvSpPr>
              <p:cNvPr id="139" name="Google Shape;139;p15"/>
              <p:cNvSpPr/>
              <p:nvPr/>
            </p:nvSpPr>
            <p:spPr>
              <a:xfrm>
                <a:off x="0" y="0"/>
                <a:ext cx="3905400" cy="1047900"/>
              </a:xfrm>
              <a:prstGeom prst="roundRect">
                <a:avLst>
                  <a:gd name="adj" fmla="val 5454"/>
                </a:avLst>
              </a:prstGeom>
              <a:solidFill>
                <a:srgbClr val="F0FDF4"/>
              </a:solidFill>
              <a:ln w="14300" cap="flat" cmpd="sng">
                <a:solidFill>
                  <a:srgbClr val="2E7D3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15"/>
              <p:cNvSpPr/>
              <p:nvPr/>
            </p:nvSpPr>
            <p:spPr>
              <a:xfrm>
                <a:off x="0" y="0"/>
                <a:ext cx="76200" cy="104790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15"/>
              <p:cNvSpPr txBox="1"/>
              <p:nvPr/>
            </p:nvSpPr>
            <p:spPr>
              <a:xfrm>
                <a:off x="190500" y="142875"/>
                <a:ext cx="1047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800" b="1">
                    <a:solidFill>
                      <a:srgbClr val="2E7D32"/>
                    </a:solidFill>
                    <a:latin typeface="Anton"/>
                    <a:ea typeface="Anton"/>
                    <a:cs typeface="Anton"/>
                    <a:sym typeface="Anton"/>
                  </a:rPr>
                  <a:t>16%</a:t>
                </a:r>
                <a:endParaRPr sz="2800" b="1">
                  <a:solidFill>
                    <a:srgbClr val="2E7D32"/>
                  </a:solidFill>
                  <a:latin typeface="Anton"/>
                  <a:ea typeface="Anton"/>
                  <a:cs typeface="Anton"/>
                  <a:sym typeface="Anton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2E7D3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CHURN RATE</a:t>
                </a:r>
                <a:endParaRPr sz="650" b="1">
                  <a:solidFill>
                    <a:srgbClr val="2E7D3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142" name="Google Shape;142;p15"/>
              <p:cNvCxnSpPr/>
              <p:nvPr/>
            </p:nvCxnSpPr>
            <p:spPr>
              <a:xfrm>
                <a:off x="1314450" y="171450"/>
                <a:ext cx="0" cy="7050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BBF7D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43" name="Google Shape;143;p15"/>
              <p:cNvSpPr txBox="1"/>
              <p:nvPr/>
            </p:nvSpPr>
            <p:spPr>
              <a:xfrm>
                <a:off x="1447800" y="142875"/>
                <a:ext cx="23052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Annual Plans</a:t>
                </a:r>
                <a:endParaRPr sz="11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Strongest commitment and highest retention. Represents the benchmark model for maximizing long-term customer lifetime value.</a:t>
                </a:r>
                <a:endParaRPr sz="80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/>
        </p:nvSpPr>
        <p:spPr>
          <a:xfrm>
            <a:off x="514350" y="523875"/>
            <a:ext cx="8115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8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rPr>
              <a:t>DMAIC Framework </a:t>
            </a:r>
            <a:r>
              <a:rPr lang="en" sz="2480" b="0">
                <a:solidFill>
                  <a:srgbClr val="A60042"/>
                </a:solidFill>
                <a:latin typeface="Anton"/>
                <a:ea typeface="Anton"/>
                <a:cs typeface="Anton"/>
                <a:sym typeface="Anton"/>
              </a:rPr>
              <a:t>: Member Attrition</a:t>
            </a:r>
            <a:endParaRPr sz="2480" b="0">
              <a:solidFill>
                <a:srgbClr val="0E1C5D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514350" y="971550"/>
            <a:ext cx="8115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The DMAIC framework provides a rigorous, data-driven structure to systematically resolve member attrition. This project applies the Lean Six Sigma DMAIC methodology, structured into five sequential phases: Define, Measure, Analyze, Improve, and Control.</a:t>
            </a:r>
            <a:endParaRPr sz="850" b="0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8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This empirical framework replaces creative ideation with statistical rigor to identify process defects and implement sustainable improvements.</a:t>
            </a:r>
            <a:endParaRPr sz="850" b="0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514350" y="1504950"/>
            <a:ext cx="81153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rPr>
              <a:t>Analytical Toolkit Deployed Across Sequential Phases</a:t>
            </a:r>
            <a:endParaRPr sz="1300" b="1">
              <a:solidFill>
                <a:srgbClr val="A6004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51" name="Google Shape;151;p16"/>
          <p:cNvGrpSpPr/>
          <p:nvPr/>
        </p:nvGrpSpPr>
        <p:grpSpPr>
          <a:xfrm>
            <a:off x="514350" y="1809750"/>
            <a:ext cx="1505100" cy="2809800"/>
            <a:chOff x="0" y="0"/>
            <a:chExt cx="1505100" cy="2809800"/>
          </a:xfrm>
        </p:grpSpPr>
        <p:sp>
          <p:nvSpPr>
            <p:cNvPr id="152" name="Google Shape;152;p16"/>
            <p:cNvSpPr/>
            <p:nvPr/>
          </p:nvSpPr>
          <p:spPr>
            <a:xfrm>
              <a:off x="0" y="0"/>
              <a:ext cx="1505100" cy="280980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3825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0" y="0"/>
              <a:ext cx="1505100" cy="3429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114300" y="76200"/>
              <a:ext cx="190500" cy="190500"/>
            </a:xfrm>
            <a:prstGeom prst="rect">
              <a:avLst/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6"/>
            <p:cNvSpPr txBox="1"/>
            <p:nvPr/>
          </p:nvSpPr>
          <p:spPr>
            <a:xfrm>
              <a:off x="114300" y="76200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01</a:t>
              </a:r>
              <a:endParaRPr sz="1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56" name="Google Shape;156;p16"/>
            <p:cNvSpPr txBox="1"/>
            <p:nvPr/>
          </p:nvSpPr>
          <p:spPr>
            <a:xfrm>
              <a:off x="361950" y="76200"/>
              <a:ext cx="1028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9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DEFINE</a:t>
              </a:r>
              <a:endParaRPr sz="119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57" name="Google Shape;157;p16"/>
            <p:cNvSpPr txBox="1"/>
            <p:nvPr/>
          </p:nvSpPr>
          <p:spPr>
            <a:xfrm>
              <a:off x="114300" y="457200"/>
              <a:ext cx="12765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Core Deliverables:</a:t>
              </a:r>
              <a:endParaRPr sz="80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Problem Framing &amp; Scope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SIPOC Map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Baseline Metrics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Charter Definition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Key Toolkit: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70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rPr>
                <a:t>SIPOC, VOC, Baseline Analysis</a:t>
              </a:r>
              <a:endParaRPr sz="700" b="0">
                <a:solidFill>
                  <a:srgbClr val="5555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58" name="Google Shape;158;p16"/>
          <p:cNvGrpSpPr/>
          <p:nvPr/>
        </p:nvGrpSpPr>
        <p:grpSpPr>
          <a:xfrm>
            <a:off x="2162175" y="1809750"/>
            <a:ext cx="1505100" cy="2809800"/>
            <a:chOff x="0" y="0"/>
            <a:chExt cx="1505100" cy="2809800"/>
          </a:xfrm>
        </p:grpSpPr>
        <p:sp>
          <p:nvSpPr>
            <p:cNvPr id="159" name="Google Shape;159;p16"/>
            <p:cNvSpPr/>
            <p:nvPr/>
          </p:nvSpPr>
          <p:spPr>
            <a:xfrm>
              <a:off x="0" y="0"/>
              <a:ext cx="1505100" cy="280980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3825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0" y="0"/>
              <a:ext cx="1505100" cy="3429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114300" y="76200"/>
              <a:ext cx="190500" cy="190500"/>
            </a:xfrm>
            <a:prstGeom prst="rect">
              <a:avLst/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6"/>
            <p:cNvSpPr txBox="1"/>
            <p:nvPr/>
          </p:nvSpPr>
          <p:spPr>
            <a:xfrm>
              <a:off x="114300" y="76200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02</a:t>
              </a:r>
              <a:endParaRPr sz="1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63" name="Google Shape;163;p16"/>
            <p:cNvSpPr txBox="1"/>
            <p:nvPr/>
          </p:nvSpPr>
          <p:spPr>
            <a:xfrm>
              <a:off x="361950" y="76200"/>
              <a:ext cx="1028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9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MEASURE</a:t>
              </a:r>
              <a:endParaRPr sz="119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64" name="Google Shape;164;p16"/>
            <p:cNvSpPr txBox="1"/>
            <p:nvPr/>
          </p:nvSpPr>
          <p:spPr>
            <a:xfrm>
              <a:off x="114300" y="457200"/>
              <a:ext cx="12765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Core Deliverables:</a:t>
              </a:r>
              <a:endParaRPr sz="80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Data Collection Plan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Measurement System Analysis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Process Capability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Baseline Attrition Rate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Key Toolkit: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70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rPr>
                <a:t>Baseline Metrics, Sampling Plans</a:t>
              </a:r>
              <a:endParaRPr sz="700" b="0">
                <a:solidFill>
                  <a:srgbClr val="5555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65" name="Google Shape;165;p16"/>
          <p:cNvGrpSpPr/>
          <p:nvPr/>
        </p:nvGrpSpPr>
        <p:grpSpPr>
          <a:xfrm>
            <a:off x="3819525" y="1809750"/>
            <a:ext cx="1505100" cy="2809800"/>
            <a:chOff x="0" y="0"/>
            <a:chExt cx="1505100" cy="2809800"/>
          </a:xfrm>
        </p:grpSpPr>
        <p:sp>
          <p:nvSpPr>
            <p:cNvPr id="166" name="Google Shape;166;p16"/>
            <p:cNvSpPr/>
            <p:nvPr/>
          </p:nvSpPr>
          <p:spPr>
            <a:xfrm>
              <a:off x="0" y="0"/>
              <a:ext cx="1505100" cy="280980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3825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0" y="0"/>
              <a:ext cx="1505100" cy="3429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6"/>
            <p:cNvSpPr/>
            <p:nvPr/>
          </p:nvSpPr>
          <p:spPr>
            <a:xfrm>
              <a:off x="114300" y="76200"/>
              <a:ext cx="190500" cy="190500"/>
            </a:xfrm>
            <a:prstGeom prst="rect">
              <a:avLst/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6"/>
            <p:cNvSpPr txBox="1"/>
            <p:nvPr/>
          </p:nvSpPr>
          <p:spPr>
            <a:xfrm>
              <a:off x="114300" y="76200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03</a:t>
              </a:r>
              <a:endParaRPr sz="1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70" name="Google Shape;170;p16"/>
            <p:cNvSpPr txBox="1"/>
            <p:nvPr/>
          </p:nvSpPr>
          <p:spPr>
            <a:xfrm>
              <a:off x="361950" y="76200"/>
              <a:ext cx="1028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9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ANALYZE</a:t>
              </a:r>
              <a:endParaRPr sz="119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71" name="Google Shape;171;p16"/>
            <p:cNvSpPr txBox="1"/>
            <p:nvPr/>
          </p:nvSpPr>
          <p:spPr>
            <a:xfrm>
              <a:off x="114300" y="457200"/>
              <a:ext cx="12765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Core Deliverables:</a:t>
              </a:r>
              <a:endParaRPr sz="80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Root Cause Identification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Hypothesis Testing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Fishbone Analysis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5-Whys Validation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Key Toolkit: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70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rPr>
                <a:t>t-tests, Chi-square, ANOVA, Fishbone, 5-Whys</a:t>
              </a:r>
              <a:endParaRPr sz="700" b="0">
                <a:solidFill>
                  <a:srgbClr val="5555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72" name="Google Shape;172;p16"/>
          <p:cNvGrpSpPr/>
          <p:nvPr/>
        </p:nvGrpSpPr>
        <p:grpSpPr>
          <a:xfrm>
            <a:off x="5476875" y="1809750"/>
            <a:ext cx="1505100" cy="2809800"/>
            <a:chOff x="0" y="0"/>
            <a:chExt cx="1505100" cy="2809800"/>
          </a:xfrm>
        </p:grpSpPr>
        <p:sp>
          <p:nvSpPr>
            <p:cNvPr id="173" name="Google Shape;173;p16"/>
            <p:cNvSpPr/>
            <p:nvPr/>
          </p:nvSpPr>
          <p:spPr>
            <a:xfrm>
              <a:off x="0" y="0"/>
              <a:ext cx="1505100" cy="280980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3825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0" y="0"/>
              <a:ext cx="1505100" cy="3429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114300" y="76200"/>
              <a:ext cx="190500" cy="190500"/>
            </a:xfrm>
            <a:prstGeom prst="rect">
              <a:avLst/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6"/>
            <p:cNvSpPr txBox="1"/>
            <p:nvPr/>
          </p:nvSpPr>
          <p:spPr>
            <a:xfrm>
              <a:off x="114300" y="76200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04</a:t>
              </a:r>
              <a:endParaRPr sz="1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77" name="Google Shape;177;p16"/>
            <p:cNvSpPr txBox="1"/>
            <p:nvPr/>
          </p:nvSpPr>
          <p:spPr>
            <a:xfrm>
              <a:off x="361950" y="76200"/>
              <a:ext cx="1028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9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IMPROVE</a:t>
              </a:r>
              <a:endParaRPr sz="119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78" name="Google Shape;178;p16"/>
            <p:cNvSpPr txBox="1"/>
            <p:nvPr/>
          </p:nvSpPr>
          <p:spPr>
            <a:xfrm>
              <a:off x="114300" y="457200"/>
              <a:ext cx="12765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Core Deliverables:</a:t>
              </a:r>
              <a:endParaRPr sz="80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Solution Generation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Risk Assessment (FMEA)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Pilot Implementation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Process Optimization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Key Toolkit: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70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rPr>
                <a:t>Failure Mode &amp; Effect Analysis (FMEA)</a:t>
              </a:r>
              <a:endParaRPr sz="700" b="0">
                <a:solidFill>
                  <a:srgbClr val="5555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79" name="Google Shape;179;p16"/>
          <p:cNvGrpSpPr/>
          <p:nvPr/>
        </p:nvGrpSpPr>
        <p:grpSpPr>
          <a:xfrm>
            <a:off x="7124700" y="1809750"/>
            <a:ext cx="1505100" cy="2809800"/>
            <a:chOff x="0" y="0"/>
            <a:chExt cx="1505100" cy="2809800"/>
          </a:xfrm>
        </p:grpSpPr>
        <p:sp>
          <p:nvSpPr>
            <p:cNvPr id="180" name="Google Shape;180;p16"/>
            <p:cNvSpPr/>
            <p:nvPr/>
          </p:nvSpPr>
          <p:spPr>
            <a:xfrm>
              <a:off x="0" y="0"/>
              <a:ext cx="1505100" cy="280980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23825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0" y="0"/>
              <a:ext cx="1505100" cy="3429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114300" y="76200"/>
              <a:ext cx="190500" cy="190500"/>
            </a:xfrm>
            <a:prstGeom prst="rect">
              <a:avLst/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6"/>
            <p:cNvSpPr txBox="1"/>
            <p:nvPr/>
          </p:nvSpPr>
          <p:spPr>
            <a:xfrm>
              <a:off x="114300" y="76200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05</a:t>
              </a:r>
              <a:endParaRPr sz="1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84" name="Google Shape;184;p16"/>
            <p:cNvSpPr txBox="1"/>
            <p:nvPr/>
          </p:nvSpPr>
          <p:spPr>
            <a:xfrm>
              <a:off x="361950" y="76200"/>
              <a:ext cx="1028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9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CONTROL</a:t>
              </a:r>
              <a:endParaRPr sz="119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85" name="Google Shape;185;p16"/>
            <p:cNvSpPr txBox="1"/>
            <p:nvPr/>
          </p:nvSpPr>
          <p:spPr>
            <a:xfrm>
              <a:off x="114300" y="457200"/>
              <a:ext cx="12765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Core Deliverables:</a:t>
              </a:r>
              <a:endParaRPr sz="80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Statistical Process Control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Standard Operating Procedures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Control Plan Execution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457200" lvl="0" indent="-276225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750"/>
                <a:buFont typeface="Work Sans"/>
                <a:buChar char="●"/>
              </a:pPr>
              <a:r>
                <a:rPr lang="en"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Sustainable Gains</a:t>
              </a:r>
              <a:endParaRPr sz="75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Key Toolkit: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70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rPr>
                <a:t>P-Chart Statistical Process Control</a:t>
              </a:r>
              <a:endParaRPr sz="700" b="0">
                <a:solidFill>
                  <a:srgbClr val="5555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cxnSp>
        <p:nvCxnSpPr>
          <p:cNvPr id="186" name="Google Shape;186;p16"/>
          <p:cNvCxnSpPr/>
          <p:nvPr/>
        </p:nvCxnSpPr>
        <p:spPr>
          <a:xfrm>
            <a:off x="514350" y="4743450"/>
            <a:ext cx="8115300" cy="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0E1C5D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514350" y="495300"/>
            <a:ext cx="8115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0" dirty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rPr>
              <a:t>DMAIC ANALYTICAL HIERARCHY</a:t>
            </a:r>
            <a:endParaRPr sz="2800" b="0" dirty="0">
              <a:solidFill>
                <a:srgbClr val="0E1C5D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95" name="Google Shape;195;p17"/>
          <p:cNvGrpSpPr/>
          <p:nvPr/>
        </p:nvGrpSpPr>
        <p:grpSpPr>
          <a:xfrm>
            <a:off x="514350" y="1066800"/>
            <a:ext cx="1531500" cy="3619500"/>
            <a:chOff x="0" y="0"/>
            <a:chExt cx="1531500" cy="3619500"/>
          </a:xfrm>
        </p:grpSpPr>
        <p:sp>
          <p:nvSpPr>
            <p:cNvPr id="196" name="Google Shape;196;p17"/>
            <p:cNvSpPr/>
            <p:nvPr/>
          </p:nvSpPr>
          <p:spPr>
            <a:xfrm>
              <a:off x="0" y="0"/>
              <a:ext cx="1531500" cy="342900"/>
            </a:xfrm>
            <a:prstGeom prst="roundRect">
              <a:avLst>
                <a:gd name="adj" fmla="val 0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7"/>
            <p:cNvSpPr txBox="1"/>
            <p:nvPr/>
          </p:nvSpPr>
          <p:spPr>
            <a:xfrm>
              <a:off x="114300" y="0"/>
              <a:ext cx="130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01. DEFINE</a:t>
              </a:r>
              <a:endParaRPr sz="14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0" y="342900"/>
              <a:ext cx="1531500" cy="3276600"/>
            </a:xfrm>
            <a:prstGeom prst="rect">
              <a:avLst/>
            </a:prstGeom>
            <a:solidFill>
              <a:srgbClr val="F4F5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9" name="Google Shape;199;p17"/>
            <p:cNvCxnSpPr/>
            <p:nvPr/>
          </p:nvCxnSpPr>
          <p:spPr>
            <a:xfrm>
              <a:off x="0" y="342900"/>
              <a:ext cx="1531500" cy="0"/>
            </a:xfrm>
            <a:prstGeom prst="straightConnector1">
              <a:avLst/>
            </a:prstGeom>
            <a:solidFill>
              <a:srgbClr val="FFFFFF"/>
            </a:solidFill>
            <a:ln w="28575" cap="flat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00" name="Google Shape;200;p17"/>
            <p:cNvSpPr txBox="1"/>
            <p:nvPr/>
          </p:nvSpPr>
          <p:spPr>
            <a:xfrm>
              <a:off x="114300" y="476250"/>
              <a:ext cx="1302900" cy="300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CORE FOCUS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Establish project scope, boundaries, and critical customer requirements.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DEPLOYED TOOLS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Project Charter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SIPOC Diagram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CTQ Flowdown Tree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PRIMARY DELIVERABLE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Problem statement, clear business case, and high-level process map establishing strict scope.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201" name="Google Shape;201;p17"/>
          <p:cNvGrpSpPr/>
          <p:nvPr/>
        </p:nvGrpSpPr>
        <p:grpSpPr>
          <a:xfrm>
            <a:off x="2160270" y="1066800"/>
            <a:ext cx="1531500" cy="3619500"/>
            <a:chOff x="0" y="0"/>
            <a:chExt cx="1531500" cy="3619500"/>
          </a:xfrm>
        </p:grpSpPr>
        <p:sp>
          <p:nvSpPr>
            <p:cNvPr id="202" name="Google Shape;202;p17"/>
            <p:cNvSpPr/>
            <p:nvPr/>
          </p:nvSpPr>
          <p:spPr>
            <a:xfrm>
              <a:off x="0" y="0"/>
              <a:ext cx="1531500" cy="342900"/>
            </a:xfrm>
            <a:prstGeom prst="roundRect">
              <a:avLst>
                <a:gd name="adj" fmla="val 0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7"/>
            <p:cNvSpPr txBox="1"/>
            <p:nvPr/>
          </p:nvSpPr>
          <p:spPr>
            <a:xfrm>
              <a:off x="114300" y="0"/>
              <a:ext cx="130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02. MEASURE</a:t>
              </a:r>
              <a:endParaRPr sz="14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0" y="342900"/>
              <a:ext cx="1531500" cy="3276600"/>
            </a:xfrm>
            <a:prstGeom prst="rect">
              <a:avLst/>
            </a:prstGeom>
            <a:solidFill>
              <a:srgbClr val="F4F5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5" name="Google Shape;205;p17"/>
            <p:cNvCxnSpPr/>
            <p:nvPr/>
          </p:nvCxnSpPr>
          <p:spPr>
            <a:xfrm>
              <a:off x="0" y="342900"/>
              <a:ext cx="1531500" cy="0"/>
            </a:xfrm>
            <a:prstGeom prst="straightConnector1">
              <a:avLst/>
            </a:prstGeom>
            <a:solidFill>
              <a:srgbClr val="FFFFFF"/>
            </a:solidFill>
            <a:ln w="28575" cap="flat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06" name="Google Shape;206;p17"/>
            <p:cNvSpPr txBox="1"/>
            <p:nvPr/>
          </p:nvSpPr>
          <p:spPr>
            <a:xfrm>
              <a:off x="114300" y="476250"/>
              <a:ext cx="1302900" cy="300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CORE FOCUS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Collect baseline performance data and validate measurement systems.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DEPLOYED TOOLS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Master Data Cleaning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Pareto Analysis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Process Capability (Cpk)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PRIMARY DELIVERABLE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Validated baseline metrics, capability scorecards, and prioritized defect concentration focus areas.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207" name="Google Shape;207;p17"/>
          <p:cNvGrpSpPr/>
          <p:nvPr/>
        </p:nvGrpSpPr>
        <p:grpSpPr>
          <a:xfrm>
            <a:off x="3806190" y="1066800"/>
            <a:ext cx="1531500" cy="3619500"/>
            <a:chOff x="0" y="0"/>
            <a:chExt cx="1531500" cy="3619500"/>
          </a:xfrm>
        </p:grpSpPr>
        <p:sp>
          <p:nvSpPr>
            <p:cNvPr id="208" name="Google Shape;208;p17"/>
            <p:cNvSpPr/>
            <p:nvPr/>
          </p:nvSpPr>
          <p:spPr>
            <a:xfrm>
              <a:off x="0" y="0"/>
              <a:ext cx="1531500" cy="342900"/>
            </a:xfrm>
            <a:prstGeom prst="roundRect">
              <a:avLst>
                <a:gd name="adj" fmla="val 0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7"/>
            <p:cNvSpPr txBox="1"/>
            <p:nvPr/>
          </p:nvSpPr>
          <p:spPr>
            <a:xfrm>
              <a:off x="114300" y="0"/>
              <a:ext cx="130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03. ANALYZE</a:t>
              </a:r>
              <a:endParaRPr sz="14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0" y="342900"/>
              <a:ext cx="1531500" cy="3276600"/>
            </a:xfrm>
            <a:prstGeom prst="rect">
              <a:avLst/>
            </a:prstGeom>
            <a:solidFill>
              <a:srgbClr val="F4F5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1" name="Google Shape;211;p17"/>
            <p:cNvCxnSpPr/>
            <p:nvPr/>
          </p:nvCxnSpPr>
          <p:spPr>
            <a:xfrm>
              <a:off x="0" y="342900"/>
              <a:ext cx="1531500" cy="0"/>
            </a:xfrm>
            <a:prstGeom prst="straightConnector1">
              <a:avLst/>
            </a:prstGeom>
            <a:solidFill>
              <a:srgbClr val="FFFFFF"/>
            </a:solidFill>
            <a:ln w="28575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12" name="Google Shape;212;p17"/>
            <p:cNvSpPr txBox="1"/>
            <p:nvPr/>
          </p:nvSpPr>
          <p:spPr>
            <a:xfrm>
              <a:off x="114300" y="476250"/>
              <a:ext cx="1302900" cy="300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CORE FOCUS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Isolate root causes and statistically validate key process drivers.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DEPLOYED TOOLS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Welch T-Tests &amp; ANOVA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Chi-Square &amp; Levene's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Fishbone Diagram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5-Whys Analysis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PRIMARY DELIVERABLE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Statistically confirmed root causes and quantitative driver isolation validating operational variation.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213" name="Google Shape;213;p17"/>
          <p:cNvGrpSpPr/>
          <p:nvPr/>
        </p:nvGrpSpPr>
        <p:grpSpPr>
          <a:xfrm>
            <a:off x="5452110" y="1066800"/>
            <a:ext cx="1531500" cy="3619500"/>
            <a:chOff x="0" y="0"/>
            <a:chExt cx="1531500" cy="3619500"/>
          </a:xfrm>
        </p:grpSpPr>
        <p:sp>
          <p:nvSpPr>
            <p:cNvPr id="214" name="Google Shape;214;p17"/>
            <p:cNvSpPr/>
            <p:nvPr/>
          </p:nvSpPr>
          <p:spPr>
            <a:xfrm>
              <a:off x="0" y="0"/>
              <a:ext cx="1531500" cy="342900"/>
            </a:xfrm>
            <a:prstGeom prst="roundRect">
              <a:avLst>
                <a:gd name="adj" fmla="val 0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7"/>
            <p:cNvSpPr txBox="1"/>
            <p:nvPr/>
          </p:nvSpPr>
          <p:spPr>
            <a:xfrm>
              <a:off x="114300" y="0"/>
              <a:ext cx="130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04. IMPROVE</a:t>
              </a:r>
              <a:endParaRPr sz="14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0" y="342900"/>
              <a:ext cx="1531500" cy="3276600"/>
            </a:xfrm>
            <a:prstGeom prst="rect">
              <a:avLst/>
            </a:prstGeom>
            <a:solidFill>
              <a:srgbClr val="F4F5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7" name="Google Shape;217;p17"/>
            <p:cNvCxnSpPr/>
            <p:nvPr/>
          </p:nvCxnSpPr>
          <p:spPr>
            <a:xfrm>
              <a:off x="0" y="342900"/>
              <a:ext cx="1531500" cy="0"/>
            </a:xfrm>
            <a:prstGeom prst="straightConnector1">
              <a:avLst/>
            </a:prstGeom>
            <a:solidFill>
              <a:srgbClr val="FFFFFF"/>
            </a:solidFill>
            <a:ln w="28575" cap="flat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18" name="Google Shape;218;p17"/>
            <p:cNvSpPr txBox="1"/>
            <p:nvPr/>
          </p:nvSpPr>
          <p:spPr>
            <a:xfrm>
              <a:off x="114300" y="476250"/>
              <a:ext cx="1302900" cy="300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CORE FOCUS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Develop, pilot, and deploy targeted solutions to eliminate root causes.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DEPLOYED TOOLS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FMEA Risk Ranking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Action Item Matrix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Pilot Implementation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PRIMARY DELIVERABLE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Prioritized countermeasure roadmap, risk-mitigated action plan, and pilot verification results.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219" name="Google Shape;219;p17"/>
          <p:cNvGrpSpPr/>
          <p:nvPr/>
        </p:nvGrpSpPr>
        <p:grpSpPr>
          <a:xfrm>
            <a:off x="7098030" y="1066800"/>
            <a:ext cx="1531500" cy="3619500"/>
            <a:chOff x="0" y="0"/>
            <a:chExt cx="1531500" cy="3619500"/>
          </a:xfrm>
        </p:grpSpPr>
        <p:sp>
          <p:nvSpPr>
            <p:cNvPr id="220" name="Google Shape;220;p17"/>
            <p:cNvSpPr/>
            <p:nvPr/>
          </p:nvSpPr>
          <p:spPr>
            <a:xfrm>
              <a:off x="0" y="0"/>
              <a:ext cx="1531500" cy="342900"/>
            </a:xfrm>
            <a:prstGeom prst="roundRect">
              <a:avLst>
                <a:gd name="adj" fmla="val 0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7"/>
            <p:cNvSpPr txBox="1"/>
            <p:nvPr/>
          </p:nvSpPr>
          <p:spPr>
            <a:xfrm>
              <a:off x="114300" y="0"/>
              <a:ext cx="130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05. CONTROL</a:t>
              </a:r>
              <a:endParaRPr sz="14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222" name="Google Shape;222;p17"/>
            <p:cNvSpPr/>
            <p:nvPr/>
          </p:nvSpPr>
          <p:spPr>
            <a:xfrm>
              <a:off x="0" y="342900"/>
              <a:ext cx="1531500" cy="3276600"/>
            </a:xfrm>
            <a:prstGeom prst="rect">
              <a:avLst/>
            </a:prstGeom>
            <a:solidFill>
              <a:srgbClr val="F4F5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3" name="Google Shape;223;p17"/>
            <p:cNvCxnSpPr/>
            <p:nvPr/>
          </p:nvCxnSpPr>
          <p:spPr>
            <a:xfrm>
              <a:off x="0" y="342900"/>
              <a:ext cx="1531500" cy="0"/>
            </a:xfrm>
            <a:prstGeom prst="straightConnector1">
              <a:avLst/>
            </a:prstGeom>
            <a:solidFill>
              <a:srgbClr val="FFFFFF"/>
            </a:solidFill>
            <a:ln w="28575" cap="flat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4" name="Google Shape;224;p17"/>
            <p:cNvSpPr txBox="1"/>
            <p:nvPr/>
          </p:nvSpPr>
          <p:spPr>
            <a:xfrm>
              <a:off x="114300" y="476250"/>
              <a:ext cx="1302900" cy="300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CORE FOCUS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Standardize improvements and continuously monitor ongoing process health.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DEPLOYED TOOLS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P-Chart SPC Control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Control Plan Framework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Standard Operating Procedures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PRIMARY DELIVERABLE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Statistical Process Control charts, institutionalized SOPs, and long-term capability monitoring.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225" name="Google Shape;225;p17"/>
          <p:cNvSpPr/>
          <p:nvPr/>
        </p:nvSpPr>
        <p:spPr>
          <a:xfrm>
            <a:off x="514350" y="4819650"/>
            <a:ext cx="8115300" cy="38100"/>
          </a:xfrm>
          <a:prstGeom prst="rect">
            <a:avLst/>
          </a:prstGeom>
          <a:solidFill>
            <a:srgbClr val="0E1C5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514350" y="361950"/>
            <a:ext cx="8115300" cy="5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2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rPr>
              <a:t>DEFINE PHASE: </a:t>
            </a:r>
            <a:r>
              <a:rPr lang="en" sz="2220">
                <a:solidFill>
                  <a:srgbClr val="A60042"/>
                </a:solidFill>
                <a:latin typeface="Anton"/>
                <a:ea typeface="Anton"/>
                <a:cs typeface="Anton"/>
                <a:sym typeface="Anton"/>
              </a:rPr>
              <a:t>PROCESS MAP &amp; CTQ METRICS</a:t>
            </a:r>
            <a:endParaRPr sz="2220">
              <a:solidFill>
                <a:srgbClr val="0E1C5D"/>
              </a:solidFill>
              <a:latin typeface="Anton"/>
              <a:ea typeface="Anton"/>
              <a:cs typeface="Anton"/>
              <a:sym typeface="Anton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879" b="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Defining retention process boundaries and Critical-to-Quality metrics establishes a clear baseline for process improvement.</a:t>
            </a:r>
            <a:endParaRPr sz="879" b="0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32" name="Google Shape;232;p18"/>
          <p:cNvGrpSpPr/>
          <p:nvPr/>
        </p:nvGrpSpPr>
        <p:grpSpPr>
          <a:xfrm>
            <a:off x="514350" y="971550"/>
            <a:ext cx="5067300" cy="3533850"/>
            <a:chOff x="0" y="0"/>
            <a:chExt cx="5067300" cy="3533850"/>
          </a:xfrm>
        </p:grpSpPr>
        <p:sp>
          <p:nvSpPr>
            <p:cNvPr id="233" name="Google Shape;233;p18"/>
            <p:cNvSpPr/>
            <p:nvPr/>
          </p:nvSpPr>
          <p:spPr>
            <a:xfrm>
              <a:off x="0" y="0"/>
              <a:ext cx="5067300" cy="247800"/>
            </a:xfrm>
            <a:prstGeom prst="roundRect">
              <a:avLst>
                <a:gd name="adj" fmla="val 15384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8"/>
            <p:cNvSpPr txBox="1"/>
            <p:nvPr/>
          </p:nvSpPr>
          <p:spPr>
            <a:xfrm>
              <a:off x="0" y="0"/>
              <a:ext cx="50673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SIPOC PROCESS MAP (RETENTION PROCESS BOUNDARIES)</a:t>
              </a:r>
              <a:endParaRPr sz="1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grpSp>
          <p:nvGrpSpPr>
            <p:cNvPr id="235" name="Google Shape;235;p18"/>
            <p:cNvGrpSpPr/>
            <p:nvPr/>
          </p:nvGrpSpPr>
          <p:grpSpPr>
            <a:xfrm>
              <a:off x="0" y="323850"/>
              <a:ext cx="952500" cy="3210000"/>
              <a:chOff x="0" y="0"/>
              <a:chExt cx="952500" cy="3210000"/>
            </a:xfrm>
          </p:grpSpPr>
          <p:sp>
            <p:nvSpPr>
              <p:cNvPr id="236" name="Google Shape;236;p18"/>
              <p:cNvSpPr/>
              <p:nvPr/>
            </p:nvSpPr>
            <p:spPr>
              <a:xfrm>
                <a:off x="0" y="0"/>
                <a:ext cx="952500" cy="266700"/>
              </a:xfrm>
              <a:prstGeom prst="roundRect">
                <a:avLst>
                  <a:gd name="adj" fmla="val 14285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8"/>
              <p:cNvSpPr txBox="1"/>
              <p:nvPr/>
            </p:nvSpPr>
            <p:spPr>
              <a:xfrm>
                <a:off x="0" y="0"/>
                <a:ext cx="952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SUPPLIERS</a:t>
                </a:r>
                <a:endParaRPr sz="9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sp>
            <p:nvSpPr>
              <p:cNvPr id="238" name="Google Shape;238;p18"/>
              <p:cNvSpPr/>
              <p:nvPr/>
            </p:nvSpPr>
            <p:spPr>
              <a:xfrm>
                <a:off x="0" y="304800"/>
                <a:ext cx="952500" cy="2905200"/>
              </a:xfrm>
              <a:prstGeom prst="roundRect">
                <a:avLst>
                  <a:gd name="adj" fmla="val 4000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18"/>
              <p:cNvSpPr txBox="1"/>
              <p:nvPr/>
            </p:nvSpPr>
            <p:spPr>
              <a:xfrm>
                <a:off x="76200" y="400050"/>
                <a:ext cx="800100" cy="271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0E1C5D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• Sales Team</a:t>
                </a:r>
                <a:endParaRPr sz="750" b="0">
                  <a:solidFill>
                    <a:srgbClr val="0E1C5D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lang="en" sz="75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Front Desk Staff</a:t>
                </a:r>
                <a:endParaRPr sz="75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lang="en" sz="75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Marketing Admin</a:t>
                </a:r>
                <a:endParaRPr sz="75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lang="en" sz="75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Billing Gateway</a:t>
                </a:r>
                <a:endParaRPr sz="75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800"/>
                  </a:spcAft>
                  <a:buNone/>
                </a:pPr>
                <a:r>
                  <a:rPr lang="en" sz="75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CRM System</a:t>
                </a:r>
                <a:endParaRPr sz="75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240" name="Google Shape;240;p18"/>
            <p:cNvGrpSpPr/>
            <p:nvPr/>
          </p:nvGrpSpPr>
          <p:grpSpPr>
            <a:xfrm>
              <a:off x="1028700" y="323850"/>
              <a:ext cx="952500" cy="3210000"/>
              <a:chOff x="0" y="0"/>
              <a:chExt cx="952500" cy="3210000"/>
            </a:xfrm>
          </p:grpSpPr>
          <p:sp>
            <p:nvSpPr>
              <p:cNvPr id="241" name="Google Shape;241;p18"/>
              <p:cNvSpPr/>
              <p:nvPr/>
            </p:nvSpPr>
            <p:spPr>
              <a:xfrm>
                <a:off x="0" y="0"/>
                <a:ext cx="952500" cy="266700"/>
              </a:xfrm>
              <a:prstGeom prst="roundRect">
                <a:avLst>
                  <a:gd name="adj" fmla="val 14285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8"/>
              <p:cNvSpPr txBox="1"/>
              <p:nvPr/>
            </p:nvSpPr>
            <p:spPr>
              <a:xfrm>
                <a:off x="0" y="0"/>
                <a:ext cx="952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INPUTS</a:t>
                </a:r>
                <a:endParaRPr sz="9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sp>
            <p:nvSpPr>
              <p:cNvPr id="243" name="Google Shape;243;p18"/>
              <p:cNvSpPr/>
              <p:nvPr/>
            </p:nvSpPr>
            <p:spPr>
              <a:xfrm>
                <a:off x="0" y="304800"/>
                <a:ext cx="952500" cy="2905200"/>
              </a:xfrm>
              <a:prstGeom prst="roundRect">
                <a:avLst>
                  <a:gd name="adj" fmla="val 4000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8"/>
              <p:cNvSpPr txBox="1"/>
              <p:nvPr/>
            </p:nvSpPr>
            <p:spPr>
              <a:xfrm>
                <a:off x="76200" y="400050"/>
                <a:ext cx="800100" cy="271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0E1C5D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• Member Profile</a:t>
                </a:r>
                <a:endParaRPr sz="750" b="0">
                  <a:solidFill>
                    <a:srgbClr val="0E1C5D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lang="en" sz="75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Expiration Alert</a:t>
                </a:r>
                <a:endParaRPr sz="75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lang="en" sz="75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Engagement Data</a:t>
                </a:r>
                <a:endParaRPr sz="75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lang="en" sz="75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Renewal Offers</a:t>
                </a:r>
                <a:endParaRPr sz="75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800"/>
                  </a:spcAft>
                  <a:buNone/>
                </a:pPr>
                <a:r>
                  <a:rPr lang="en" sz="75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Feedback Surveys</a:t>
                </a:r>
                <a:endParaRPr sz="75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245" name="Google Shape;245;p18"/>
            <p:cNvGrpSpPr/>
            <p:nvPr/>
          </p:nvGrpSpPr>
          <p:grpSpPr>
            <a:xfrm>
              <a:off x="2057400" y="323850"/>
              <a:ext cx="952500" cy="3210000"/>
              <a:chOff x="0" y="0"/>
              <a:chExt cx="952500" cy="3210000"/>
            </a:xfrm>
          </p:grpSpPr>
          <p:sp>
            <p:nvSpPr>
              <p:cNvPr id="246" name="Google Shape;246;p18"/>
              <p:cNvSpPr/>
              <p:nvPr/>
            </p:nvSpPr>
            <p:spPr>
              <a:xfrm>
                <a:off x="0" y="0"/>
                <a:ext cx="952500" cy="266700"/>
              </a:xfrm>
              <a:prstGeom prst="roundRect">
                <a:avLst>
                  <a:gd name="adj" fmla="val 14285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8"/>
              <p:cNvSpPr txBox="1"/>
              <p:nvPr/>
            </p:nvSpPr>
            <p:spPr>
              <a:xfrm>
                <a:off x="0" y="0"/>
                <a:ext cx="952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PROCESS</a:t>
                </a:r>
                <a:endParaRPr sz="9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sp>
            <p:nvSpPr>
              <p:cNvPr id="248" name="Google Shape;248;p18"/>
              <p:cNvSpPr/>
              <p:nvPr/>
            </p:nvSpPr>
            <p:spPr>
              <a:xfrm>
                <a:off x="0" y="304800"/>
                <a:ext cx="952500" cy="2905200"/>
              </a:xfrm>
              <a:prstGeom prst="roundRect">
                <a:avLst>
                  <a:gd name="adj" fmla="val 4000"/>
                </a:avLst>
              </a:prstGeom>
              <a:solidFill>
                <a:srgbClr val="FFF1F2"/>
              </a:solidFill>
              <a:ln w="14300" cap="flat" cmpd="sng">
                <a:solidFill>
                  <a:srgbClr val="FECD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8"/>
              <p:cNvSpPr txBox="1"/>
              <p:nvPr/>
            </p:nvSpPr>
            <p:spPr>
              <a:xfrm>
                <a:off x="76200" y="381000"/>
                <a:ext cx="800100" cy="275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1. Track Usage</a:t>
                </a:r>
                <a:br>
                  <a:rPr lang="en" sz="700">
                    <a:latin typeface="Work Sans"/>
                    <a:ea typeface="Work Sans"/>
                    <a:cs typeface="Work Sans"/>
                    <a:sym typeface="Work Sans"/>
                  </a:rPr>
                </a:br>
                <a:r>
                  <a:rPr lang="en" sz="700">
                    <a:solidFill>
                      <a:srgbClr val="475569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Monitor active gym member frequency.</a:t>
                </a:r>
                <a:endParaRPr sz="700"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2. Prompt Notice</a:t>
                </a:r>
                <a:br>
                  <a:rPr lang="en" sz="700">
                    <a:latin typeface="Work Sans"/>
                    <a:ea typeface="Work Sans"/>
                    <a:cs typeface="Work Sans"/>
                    <a:sym typeface="Work Sans"/>
                  </a:rPr>
                </a:br>
                <a:r>
                  <a:rPr lang="en" sz="700">
                    <a:solidFill>
                      <a:srgbClr val="475569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Trigger automated renewal notice.</a:t>
                </a:r>
                <a:endParaRPr sz="700"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3. Staff Outreach</a:t>
                </a:r>
                <a:br>
                  <a:rPr lang="en" sz="700">
                    <a:latin typeface="Work Sans"/>
                    <a:ea typeface="Work Sans"/>
                    <a:cs typeface="Work Sans"/>
                    <a:sym typeface="Work Sans"/>
                  </a:rPr>
                </a:br>
                <a:r>
                  <a:rPr lang="en" sz="700">
                    <a:solidFill>
                      <a:srgbClr val="475569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Conduct engagement touchpoints.</a:t>
                </a:r>
                <a:endParaRPr sz="700"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4. Renewal</a:t>
                </a:r>
                <a:br>
                  <a:rPr lang="en" sz="700">
                    <a:latin typeface="Work Sans"/>
                    <a:ea typeface="Work Sans"/>
                    <a:cs typeface="Work Sans"/>
                    <a:sym typeface="Work Sans"/>
                  </a:rPr>
                </a:br>
                <a:r>
                  <a:rPr lang="en" sz="700">
                    <a:solidFill>
                      <a:srgbClr val="475569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Execute payment or log exit.</a:t>
                </a:r>
                <a:endParaRPr sz="700"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250" name="Google Shape;250;p18"/>
            <p:cNvGrpSpPr/>
            <p:nvPr/>
          </p:nvGrpSpPr>
          <p:grpSpPr>
            <a:xfrm>
              <a:off x="3086100" y="323850"/>
              <a:ext cx="952500" cy="3210000"/>
              <a:chOff x="0" y="0"/>
              <a:chExt cx="952500" cy="3210000"/>
            </a:xfrm>
          </p:grpSpPr>
          <p:sp>
            <p:nvSpPr>
              <p:cNvPr id="251" name="Google Shape;251;p18"/>
              <p:cNvSpPr/>
              <p:nvPr/>
            </p:nvSpPr>
            <p:spPr>
              <a:xfrm>
                <a:off x="0" y="0"/>
                <a:ext cx="952500" cy="266700"/>
              </a:xfrm>
              <a:prstGeom prst="roundRect">
                <a:avLst>
                  <a:gd name="adj" fmla="val 14285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8"/>
              <p:cNvSpPr txBox="1"/>
              <p:nvPr/>
            </p:nvSpPr>
            <p:spPr>
              <a:xfrm>
                <a:off x="0" y="0"/>
                <a:ext cx="952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OUTPUTS</a:t>
                </a:r>
                <a:endParaRPr sz="9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sp>
            <p:nvSpPr>
              <p:cNvPr id="253" name="Google Shape;253;p18"/>
              <p:cNvSpPr/>
              <p:nvPr/>
            </p:nvSpPr>
            <p:spPr>
              <a:xfrm>
                <a:off x="0" y="304800"/>
                <a:ext cx="952500" cy="2905200"/>
              </a:xfrm>
              <a:prstGeom prst="roundRect">
                <a:avLst>
                  <a:gd name="adj" fmla="val 4000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8"/>
              <p:cNvSpPr txBox="1"/>
              <p:nvPr/>
            </p:nvSpPr>
            <p:spPr>
              <a:xfrm>
                <a:off x="76200" y="400050"/>
                <a:ext cx="800100" cy="271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 dirty="0">
                    <a:solidFill>
                      <a:srgbClr val="0E1C5D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• Renewed Contract</a:t>
                </a:r>
                <a:endParaRPr sz="750" b="0" dirty="0">
                  <a:solidFill>
                    <a:srgbClr val="0E1C5D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lang="en" sz="750" dirty="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Active Status</a:t>
                </a:r>
                <a:endParaRPr sz="750" dirty="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lang="en" sz="750" dirty="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Payment Receipt</a:t>
                </a:r>
                <a:endParaRPr sz="750" dirty="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lang="en" sz="750" dirty="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Non-Renewal Log</a:t>
                </a:r>
                <a:endParaRPr sz="750" dirty="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800"/>
                  </a:spcAft>
                  <a:buNone/>
                </a:pPr>
                <a:r>
                  <a:rPr lang="en" sz="750" dirty="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Member Feedback</a:t>
                </a:r>
                <a:endParaRPr sz="750" dirty="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255" name="Google Shape;255;p18"/>
            <p:cNvGrpSpPr/>
            <p:nvPr/>
          </p:nvGrpSpPr>
          <p:grpSpPr>
            <a:xfrm>
              <a:off x="4114800" y="323850"/>
              <a:ext cx="952500" cy="3210000"/>
              <a:chOff x="0" y="0"/>
              <a:chExt cx="952500" cy="3210000"/>
            </a:xfrm>
          </p:grpSpPr>
          <p:sp>
            <p:nvSpPr>
              <p:cNvPr id="256" name="Google Shape;256;p18"/>
              <p:cNvSpPr/>
              <p:nvPr/>
            </p:nvSpPr>
            <p:spPr>
              <a:xfrm>
                <a:off x="0" y="0"/>
                <a:ext cx="952500" cy="266700"/>
              </a:xfrm>
              <a:prstGeom prst="roundRect">
                <a:avLst>
                  <a:gd name="adj" fmla="val 14285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8"/>
              <p:cNvSpPr txBox="1"/>
              <p:nvPr/>
            </p:nvSpPr>
            <p:spPr>
              <a:xfrm>
                <a:off x="0" y="0"/>
                <a:ext cx="952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dirty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CUSTOMERS</a:t>
                </a:r>
                <a:endParaRPr sz="900" dirty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sp>
            <p:nvSpPr>
              <p:cNvPr id="258" name="Google Shape;258;p18"/>
              <p:cNvSpPr/>
              <p:nvPr/>
            </p:nvSpPr>
            <p:spPr>
              <a:xfrm>
                <a:off x="0" y="304800"/>
                <a:ext cx="952500" cy="2905200"/>
              </a:xfrm>
              <a:prstGeom prst="roundRect">
                <a:avLst>
                  <a:gd name="adj" fmla="val 4000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18"/>
              <p:cNvSpPr txBox="1"/>
              <p:nvPr/>
            </p:nvSpPr>
            <p:spPr>
              <a:xfrm>
                <a:off x="76200" y="400050"/>
                <a:ext cx="800100" cy="271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0E1C5D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• Gym Members</a:t>
                </a:r>
                <a:endParaRPr sz="750" b="0">
                  <a:solidFill>
                    <a:srgbClr val="0E1C5D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lang="en" sz="75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Operations Team</a:t>
                </a:r>
                <a:endParaRPr sz="75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lang="en" sz="75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Finance Dept</a:t>
                </a:r>
                <a:endParaRPr sz="75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800"/>
                  </a:spcBef>
                  <a:spcAft>
                    <a:spcPts val="800"/>
                  </a:spcAft>
                  <a:buNone/>
                </a:pPr>
                <a:r>
                  <a:rPr lang="en" sz="75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Management</a:t>
                </a:r>
                <a:endParaRPr sz="75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260" name="Google Shape;260;p18"/>
          <p:cNvGrpSpPr/>
          <p:nvPr/>
        </p:nvGrpSpPr>
        <p:grpSpPr>
          <a:xfrm>
            <a:off x="5734050" y="971550"/>
            <a:ext cx="2895600" cy="3476700"/>
            <a:chOff x="0" y="0"/>
            <a:chExt cx="2895600" cy="3476700"/>
          </a:xfrm>
        </p:grpSpPr>
        <p:sp>
          <p:nvSpPr>
            <p:cNvPr id="261" name="Google Shape;261;p18"/>
            <p:cNvSpPr/>
            <p:nvPr/>
          </p:nvSpPr>
          <p:spPr>
            <a:xfrm>
              <a:off x="0" y="0"/>
              <a:ext cx="2895600" cy="3476700"/>
            </a:xfrm>
            <a:prstGeom prst="roundRect">
              <a:avLst>
                <a:gd name="adj" fmla="val 2631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0" y="0"/>
              <a:ext cx="2895600" cy="57300"/>
            </a:xfrm>
            <a:prstGeom prst="roundRect">
              <a:avLst>
                <a:gd name="adj" fmla="val 50000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8"/>
            <p:cNvSpPr txBox="1"/>
            <p:nvPr/>
          </p:nvSpPr>
          <p:spPr>
            <a:xfrm>
              <a:off x="152400" y="152400"/>
              <a:ext cx="25908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CRITICAL-TO-QUALITY (CTQ) METRICS</a:t>
              </a:r>
              <a:endParaRPr sz="11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  <a:p>
              <a:pPr marL="0" lvl="0" indent="0" algn="l" rtl="0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Monthly Churn Rate</a:t>
              </a:r>
              <a:endParaRPr sz="8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rgbClr val="FFCCD5"/>
                  </a:solidFill>
                  <a:latin typeface="Work Sans"/>
                  <a:ea typeface="Work Sans"/>
                  <a:cs typeface="Work Sans"/>
                  <a:sym typeface="Work Sans"/>
                </a:rPr>
                <a:t>= (Members Lost / Members Active) × 100%</a:t>
              </a:r>
              <a:endParaRPr sz="750">
                <a:solidFill>
                  <a:srgbClr val="FFCCD5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Member Renewal Rate</a:t>
              </a:r>
              <a:endParaRPr sz="8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rgbClr val="FFCCD5"/>
                  </a:solidFill>
                  <a:latin typeface="Work Sans"/>
                  <a:ea typeface="Work Sans"/>
                  <a:cs typeface="Work Sans"/>
                  <a:sym typeface="Work Sans"/>
                </a:rPr>
                <a:t>= (Members Renewed / Members Eligible) × 100%</a:t>
              </a:r>
              <a:endParaRPr sz="750">
                <a:solidFill>
                  <a:srgbClr val="FFCCD5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Operational Defect:</a:t>
              </a:r>
              <a:r>
                <a:rPr lang="en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</a:t>
              </a:r>
              <a:r>
                <a:rPr lang="en" sz="800" b="1">
                  <a:solidFill>
                    <a:srgbClr val="FFCCD5"/>
                  </a:solidFill>
                  <a:latin typeface="Work Sans"/>
                  <a:ea typeface="Work Sans"/>
                  <a:cs typeface="Work Sans"/>
                  <a:sym typeface="Work Sans"/>
                </a:rPr>
                <a:t>1 non-renewing member</a:t>
              </a:r>
              <a:endParaRPr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pic>
          <p:nvPicPr>
            <p:cNvPr id="264" name="Google Shape;264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2400" y="1728788"/>
              <a:ext cx="25527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18"/>
            <p:cNvSpPr txBox="1"/>
            <p:nvPr/>
          </p:nvSpPr>
          <p:spPr>
            <a:xfrm>
              <a:off x="152400" y="1847850"/>
              <a:ext cx="2590800" cy="150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DATA SOURCES ANALYZED</a:t>
              </a:r>
              <a:endParaRPr sz="11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  <a:p>
              <a:pPr marL="0" lvl="0" indent="0" algn="l" rtl="0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CCD5"/>
                  </a:solidFill>
                  <a:latin typeface="Anton"/>
                  <a:ea typeface="Anton"/>
                  <a:cs typeface="Anton"/>
                  <a:sym typeface="Anton"/>
                </a:rPr>
                <a:t>&gt;475</a:t>
              </a:r>
              <a:r>
                <a:rPr lang="en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</a:t>
              </a:r>
              <a:r>
                <a:rPr lang="en" sz="750">
                  <a:solidFill>
                    <a:srgbClr val="E2E8F0"/>
                  </a:solidFill>
                  <a:latin typeface="Work Sans"/>
                  <a:ea typeface="Work Sans"/>
                  <a:cs typeface="Work Sans"/>
                  <a:sym typeface="Work Sans"/>
                </a:rPr>
                <a:t>historical membership transaction records</a:t>
              </a:r>
              <a:endParaRPr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CCD5"/>
                  </a:solidFill>
                  <a:latin typeface="Anton"/>
                  <a:ea typeface="Anton"/>
                  <a:cs typeface="Anton"/>
                  <a:sym typeface="Anton"/>
                </a:rPr>
                <a:t>50</a:t>
              </a:r>
              <a:r>
                <a:rPr lang="en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</a:t>
              </a:r>
              <a:r>
                <a:rPr lang="en" sz="750">
                  <a:solidFill>
                    <a:srgbClr val="E2E8F0"/>
                  </a:solidFill>
                  <a:latin typeface="Work Sans"/>
                  <a:ea typeface="Work Sans"/>
                  <a:cs typeface="Work Sans"/>
                  <a:sym typeface="Work Sans"/>
                </a:rPr>
                <a:t>structured survey responses</a:t>
              </a:r>
              <a:endParaRPr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CCD5"/>
                  </a:solidFill>
                  <a:latin typeface="Anton"/>
                  <a:ea typeface="Anton"/>
                  <a:cs typeface="Anton"/>
                  <a:sym typeface="Anton"/>
                </a:rPr>
                <a:t>&gt;60</a:t>
              </a:r>
              <a:r>
                <a:rPr lang="en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</a:t>
              </a:r>
              <a:r>
                <a:rPr lang="en" sz="750">
                  <a:solidFill>
                    <a:srgbClr val="E2E8F0"/>
                  </a:solidFill>
                  <a:latin typeface="Work Sans"/>
                  <a:ea typeface="Work Sans"/>
                  <a:cs typeface="Work Sans"/>
                  <a:sym typeface="Work Sans"/>
                </a:rPr>
                <a:t>customer reviews &amp; payment records</a:t>
              </a:r>
              <a:endParaRPr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"/>
          <p:cNvSpPr txBox="1"/>
          <p:nvPr/>
        </p:nvSpPr>
        <p:spPr>
          <a:xfrm>
            <a:off x="514350" y="523875"/>
            <a:ext cx="81153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8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rPr>
              <a:t>Baseline Metrics Dashboard</a:t>
            </a:r>
            <a:endParaRPr sz="2480" b="0">
              <a:solidFill>
                <a:srgbClr val="0E1C5D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71" name="Google Shape;271;p19"/>
          <p:cNvSpPr txBox="1"/>
          <p:nvPr/>
        </p:nvSpPr>
        <p:spPr>
          <a:xfrm>
            <a:off x="514350" y="933450"/>
            <a:ext cx="81153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rPr>
              <a:t>Measure Phase: Baseline Measurements &amp; Process Capability Analysis</a:t>
            </a:r>
            <a:endParaRPr sz="1300" b="1">
              <a:solidFill>
                <a:srgbClr val="A6004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72" name="Google Shape;272;p19"/>
          <p:cNvGrpSpPr/>
          <p:nvPr/>
        </p:nvGrpSpPr>
        <p:grpSpPr>
          <a:xfrm>
            <a:off x="514350" y="1285875"/>
            <a:ext cx="2571900" cy="1714500"/>
            <a:chOff x="0" y="0"/>
            <a:chExt cx="2571900" cy="1714500"/>
          </a:xfrm>
        </p:grpSpPr>
        <p:sp>
          <p:nvSpPr>
            <p:cNvPr id="273" name="Google Shape;273;p19"/>
            <p:cNvSpPr/>
            <p:nvPr/>
          </p:nvSpPr>
          <p:spPr>
            <a:xfrm>
              <a:off x="0" y="0"/>
              <a:ext cx="2571900" cy="1714500"/>
            </a:xfrm>
            <a:prstGeom prst="roundRect">
              <a:avLst>
                <a:gd name="adj" fmla="val 2222"/>
              </a:avLst>
            </a:prstGeom>
            <a:solidFill>
              <a:srgbClr val="F8F9FA"/>
            </a:solidFill>
            <a:ln w="14300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9"/>
            <p:cNvSpPr/>
            <p:nvPr/>
          </p:nvSpPr>
          <p:spPr>
            <a:xfrm>
              <a:off x="0" y="0"/>
              <a:ext cx="2571900" cy="57300"/>
            </a:xfrm>
            <a:prstGeom prst="roundRect">
              <a:avLst>
                <a:gd name="adj" fmla="val 33333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9"/>
            <p:cNvSpPr txBox="1"/>
            <p:nvPr/>
          </p:nvSpPr>
          <p:spPr>
            <a:xfrm>
              <a:off x="142875" y="171450"/>
              <a:ext cx="2286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Overall Baseline Churn</a:t>
              </a:r>
              <a:endParaRPr sz="120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76" name="Google Shape;276;p19"/>
            <p:cNvSpPr txBox="1"/>
            <p:nvPr/>
          </p:nvSpPr>
          <p:spPr>
            <a:xfrm>
              <a:off x="142875" y="400050"/>
              <a:ext cx="228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5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26.9%</a:t>
              </a:r>
              <a:endParaRPr sz="2405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77" name="Google Shape;277;p19"/>
            <p:cNvSpPr txBox="1"/>
            <p:nvPr/>
          </p:nvSpPr>
          <p:spPr>
            <a:xfrm>
              <a:off x="142875" y="809625"/>
              <a:ext cx="2286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</a:t>
              </a:r>
              <a:r>
                <a:rPr lang="en" sz="8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Monthly Churn:</a:t>
              </a: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 77%</a:t>
              </a:r>
              <a:endParaRPr sz="8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</a:t>
              </a:r>
              <a:r>
                <a:rPr lang="en" sz="8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Quarterly Churn:</a:t>
              </a: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 21%</a:t>
              </a:r>
              <a:endParaRPr sz="8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</a:t>
              </a:r>
              <a:r>
                <a:rPr lang="en" sz="8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Annual Churn:</a:t>
              </a: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 8%</a:t>
              </a:r>
              <a:endParaRPr sz="8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278" name="Google Shape;278;p19"/>
          <p:cNvGrpSpPr/>
          <p:nvPr/>
        </p:nvGrpSpPr>
        <p:grpSpPr>
          <a:xfrm>
            <a:off x="3286125" y="1285875"/>
            <a:ext cx="2571900" cy="1714500"/>
            <a:chOff x="0" y="0"/>
            <a:chExt cx="2571900" cy="1714500"/>
          </a:xfrm>
        </p:grpSpPr>
        <p:sp>
          <p:nvSpPr>
            <p:cNvPr id="279" name="Google Shape;279;p19"/>
            <p:cNvSpPr/>
            <p:nvPr/>
          </p:nvSpPr>
          <p:spPr>
            <a:xfrm>
              <a:off x="0" y="0"/>
              <a:ext cx="2571900" cy="1714500"/>
            </a:xfrm>
            <a:prstGeom prst="roundRect">
              <a:avLst>
                <a:gd name="adj" fmla="val 2222"/>
              </a:avLst>
            </a:prstGeom>
            <a:solidFill>
              <a:srgbClr val="F8F9FA"/>
            </a:solidFill>
            <a:ln w="14300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0" y="0"/>
              <a:ext cx="2571900" cy="57300"/>
            </a:xfrm>
            <a:prstGeom prst="roundRect">
              <a:avLst>
                <a:gd name="adj" fmla="val 33333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9"/>
            <p:cNvSpPr txBox="1"/>
            <p:nvPr/>
          </p:nvSpPr>
          <p:spPr>
            <a:xfrm>
              <a:off x="142875" y="171450"/>
              <a:ext cx="2286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Key Member Averages</a:t>
              </a:r>
              <a:endParaRPr sz="120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82" name="Google Shape;282;p19"/>
            <p:cNvSpPr txBox="1"/>
            <p:nvPr/>
          </p:nvSpPr>
          <p:spPr>
            <a:xfrm>
              <a:off x="142875" y="428625"/>
              <a:ext cx="2286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7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Mean Membership Duration</a:t>
              </a:r>
              <a:endParaRPr sz="77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8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~4.2 months</a:t>
              </a:r>
              <a:endParaRPr sz="98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cxnSp>
          <p:nvCxnSpPr>
            <p:cNvPr id="283" name="Google Shape;283;p19"/>
            <p:cNvCxnSpPr/>
            <p:nvPr/>
          </p:nvCxnSpPr>
          <p:spPr>
            <a:xfrm>
              <a:off x="142875" y="1028700"/>
              <a:ext cx="2286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4" name="Google Shape;284;p19"/>
            <p:cNvSpPr txBox="1"/>
            <p:nvPr/>
          </p:nvSpPr>
          <p:spPr>
            <a:xfrm>
              <a:off x="142875" y="1123950"/>
              <a:ext cx="10953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5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Mean Payment Gap</a:t>
              </a:r>
              <a:endParaRPr sz="935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105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2.1 days</a:t>
              </a:r>
              <a:endParaRPr sz="1105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85" name="Google Shape;285;p19"/>
            <p:cNvSpPr txBox="1"/>
            <p:nvPr/>
          </p:nvSpPr>
          <p:spPr>
            <a:xfrm>
              <a:off x="1285875" y="1123950"/>
              <a:ext cx="1143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35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Mean Plan Amount</a:t>
              </a:r>
              <a:endParaRPr sz="935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105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₹1,847</a:t>
              </a:r>
              <a:endParaRPr sz="1105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286" name="Google Shape;286;p19"/>
          <p:cNvGrpSpPr/>
          <p:nvPr/>
        </p:nvGrpSpPr>
        <p:grpSpPr>
          <a:xfrm>
            <a:off x="6057900" y="1285875"/>
            <a:ext cx="2571900" cy="3524400"/>
            <a:chOff x="0" y="0"/>
            <a:chExt cx="2571900" cy="3524400"/>
          </a:xfrm>
        </p:grpSpPr>
        <p:sp>
          <p:nvSpPr>
            <p:cNvPr id="287" name="Google Shape;287;p19"/>
            <p:cNvSpPr/>
            <p:nvPr/>
          </p:nvSpPr>
          <p:spPr>
            <a:xfrm>
              <a:off x="0" y="0"/>
              <a:ext cx="2571900" cy="3524400"/>
            </a:xfrm>
            <a:prstGeom prst="roundRect">
              <a:avLst>
                <a:gd name="adj" fmla="val 1481"/>
              </a:avLst>
            </a:prstGeom>
            <a:solidFill>
              <a:srgbClr val="0E1C5D"/>
            </a:solidFill>
            <a:ln w="14300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9"/>
            <p:cNvSpPr/>
            <p:nvPr/>
          </p:nvSpPr>
          <p:spPr>
            <a:xfrm>
              <a:off x="0" y="0"/>
              <a:ext cx="2571900" cy="76200"/>
            </a:xfrm>
            <a:prstGeom prst="roundRect">
              <a:avLst>
                <a:gd name="adj" fmla="val 25000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9"/>
            <p:cNvSpPr txBox="1"/>
            <p:nvPr/>
          </p:nvSpPr>
          <p:spPr>
            <a:xfrm>
              <a:off x="190500" y="209550"/>
              <a:ext cx="2190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Process Capability</a:t>
              </a:r>
              <a:endParaRPr sz="13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90" name="Google Shape;290;p19"/>
            <p:cNvSpPr txBox="1"/>
            <p:nvPr/>
          </p:nvSpPr>
          <p:spPr>
            <a:xfrm>
              <a:off x="190500" y="552450"/>
              <a:ext cx="2190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 b="1" dirty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2.1 S igm a</a:t>
              </a:r>
              <a:endParaRPr sz="2600" b="1" dirty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91" name="Google Shape;291;p19"/>
            <p:cNvSpPr txBox="1"/>
            <p:nvPr/>
          </p:nvSpPr>
          <p:spPr>
            <a:xfrm>
              <a:off x="190500" y="1000125"/>
              <a:ext cx="2190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Process Level: Low</a:t>
              </a:r>
              <a:endParaRPr sz="11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cxnSp>
          <p:nvCxnSpPr>
            <p:cNvPr id="292" name="Google Shape;292;p19"/>
            <p:cNvCxnSpPr/>
            <p:nvPr/>
          </p:nvCxnSpPr>
          <p:spPr>
            <a:xfrm>
              <a:off x="190500" y="1314450"/>
              <a:ext cx="2190900" cy="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93" name="Google Shape;293;p19"/>
            <p:cNvSpPr txBox="1"/>
            <p:nvPr/>
          </p:nvSpPr>
          <p:spPr>
            <a:xfrm>
              <a:off x="190500" y="1447800"/>
              <a:ext cx="2190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DPMO Analysis</a:t>
              </a:r>
              <a:endParaRPr sz="10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94" name="Google Shape;294;p19"/>
            <p:cNvSpPr txBox="1"/>
            <p:nvPr/>
          </p:nvSpPr>
          <p:spPr>
            <a:xfrm>
              <a:off x="190500" y="1695450"/>
              <a:ext cx="2190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~272,000</a:t>
              </a:r>
              <a:endParaRPr sz="20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95" name="Google Shape;295;p19"/>
            <p:cNvSpPr txBox="1"/>
            <p:nvPr/>
          </p:nvSpPr>
          <p:spPr>
            <a:xfrm>
              <a:off x="190500" y="2114550"/>
              <a:ext cx="2190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Defects Per Million Opportunities</a:t>
              </a:r>
              <a:endParaRPr sz="750" b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96" name="Google Shape;296;p19"/>
            <p:cNvSpPr/>
            <p:nvPr/>
          </p:nvSpPr>
          <p:spPr>
            <a:xfrm>
              <a:off x="142875" y="2428875"/>
              <a:ext cx="2286000" cy="904800"/>
            </a:xfrm>
            <a:prstGeom prst="roundRect">
              <a:avLst>
                <a:gd name="adj" fmla="val 3157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9"/>
            <p:cNvSpPr txBox="1"/>
            <p:nvPr/>
          </p:nvSpPr>
          <p:spPr>
            <a:xfrm>
              <a:off x="238125" y="2457450"/>
              <a:ext cx="2095500" cy="876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 dirty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Critical Benchmark Gap</a:t>
              </a:r>
              <a:endParaRPr sz="900" b="1" dirty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800" b="0" dirty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Performance falls significantly below the </a:t>
              </a:r>
              <a:r>
                <a:rPr lang="en" sz="800" b="1" dirty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3 S </a:t>
              </a:r>
              <a:r>
                <a:rPr lang="en-IN" sz="800" b="1" dirty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I</a:t>
              </a:r>
              <a:r>
                <a:rPr lang="en" sz="800" b="1" dirty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g m a </a:t>
              </a:r>
              <a:r>
                <a:rPr lang="en-IN" sz="800" b="1" dirty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I</a:t>
              </a:r>
              <a:r>
                <a:rPr lang="en" sz="800" b="1" dirty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n d u s t ry benchmark</a:t>
              </a:r>
              <a:r>
                <a:rPr lang="en" sz="800" b="0" dirty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, highlighting an urgent imperative for process optimization.</a:t>
              </a:r>
              <a:endParaRPr sz="800" b="0" dirty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298" name="Google Shape;298;p19"/>
          <p:cNvGrpSpPr/>
          <p:nvPr/>
        </p:nvGrpSpPr>
        <p:grpSpPr>
          <a:xfrm>
            <a:off x="514350" y="3143250"/>
            <a:ext cx="5343600" cy="1666800"/>
            <a:chOff x="0" y="0"/>
            <a:chExt cx="5343600" cy="1666800"/>
          </a:xfrm>
        </p:grpSpPr>
        <p:sp>
          <p:nvSpPr>
            <p:cNvPr id="299" name="Google Shape;299;p19"/>
            <p:cNvSpPr/>
            <p:nvPr/>
          </p:nvSpPr>
          <p:spPr>
            <a:xfrm>
              <a:off x="0" y="0"/>
              <a:ext cx="5343600" cy="1666800"/>
            </a:xfrm>
            <a:prstGeom prst="roundRect">
              <a:avLst>
                <a:gd name="adj" fmla="val 2285"/>
              </a:avLst>
            </a:prstGeom>
            <a:solidFill>
              <a:srgbClr val="FFFFFF"/>
            </a:solidFill>
            <a:ln w="14300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0" y="0"/>
              <a:ext cx="76200" cy="1666800"/>
            </a:xfrm>
            <a:prstGeom prst="rect">
              <a:avLst/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9"/>
            <p:cNvSpPr txBox="1"/>
            <p:nvPr/>
          </p:nvSpPr>
          <p:spPr>
            <a:xfrm>
              <a:off x="238125" y="171450"/>
              <a:ext cx="49053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Measure Phase Baseline Findings Summary</a:t>
              </a:r>
              <a:endParaRPr sz="120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02" name="Google Shape;302;p19"/>
            <p:cNvSpPr txBox="1"/>
            <p:nvPr/>
          </p:nvSpPr>
          <p:spPr>
            <a:xfrm>
              <a:off x="238125" y="457200"/>
              <a:ext cx="4905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Baseline measurements establish the current operating baseline with a severe </a:t>
              </a:r>
              <a:r>
                <a:rPr lang="en" sz="8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2.1 process sigma level</a:t>
              </a: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 and a critical </a:t>
              </a:r>
              <a:r>
                <a:rPr lang="en" sz="8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27% overall monthly churn rate</a:t>
              </a: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.</a:t>
              </a:r>
              <a:endParaRPr sz="8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Churn is exceptionally acute among monthly subscribers (</a:t>
              </a:r>
              <a:r>
                <a:rPr lang="en" sz="8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77%</a:t>
              </a: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), whereas quarterly (</a:t>
              </a:r>
              <a:r>
                <a:rPr lang="en" sz="8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21%</a:t>
              </a: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) and annual (</a:t>
              </a:r>
              <a:r>
                <a:rPr lang="en" sz="8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8%</a:t>
              </a: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) contracts demonstrate vastly superior retention characteristics.</a:t>
              </a:r>
              <a:endParaRPr sz="8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• The average membership tenure stands at only </a:t>
              </a:r>
              <a:r>
                <a:rPr lang="en" sz="8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4.2 months</a:t>
              </a: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 with a </a:t>
              </a:r>
              <a:r>
                <a:rPr lang="en" sz="8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2.1-day payment gap</a:t>
              </a:r>
              <a:r>
                <a:rPr lang="en" sz="8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, indicating immediate intervention is required in billing and onboarding workflows.</a:t>
              </a:r>
              <a:endParaRPr sz="8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0"/>
          <p:cNvSpPr/>
          <p:nvPr/>
        </p:nvSpPr>
        <p:spPr>
          <a:xfrm>
            <a:off x="0" y="194675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8" name="Google Shape;308;p20"/>
          <p:cNvGrpSpPr/>
          <p:nvPr/>
        </p:nvGrpSpPr>
        <p:grpSpPr>
          <a:xfrm>
            <a:off x="514350" y="523875"/>
            <a:ext cx="8115300" cy="619200"/>
            <a:chOff x="0" y="0"/>
            <a:chExt cx="8115300" cy="619200"/>
          </a:xfrm>
        </p:grpSpPr>
        <p:sp>
          <p:nvSpPr>
            <p:cNvPr id="309" name="Google Shape;309;p20"/>
            <p:cNvSpPr txBox="1"/>
            <p:nvPr/>
          </p:nvSpPr>
          <p:spPr>
            <a:xfrm>
              <a:off x="0" y="0"/>
              <a:ext cx="811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PARETO ANALYSIS: FACILITY CHURN DRIVERS</a:t>
              </a:r>
              <a:endParaRPr sz="220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310" name="Google Shape;310;p20"/>
            <p:cNvSpPr txBox="1"/>
            <p:nvPr/>
          </p:nvSpPr>
          <p:spPr>
            <a:xfrm>
              <a:off x="0" y="381000"/>
              <a:ext cx="81153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Applying the 80/20 principle through Pareto Charts revealed the vital few factors driving the majority of member attrition: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311" name="Google Shape;311;p20"/>
          <p:cNvGrpSpPr/>
          <p:nvPr/>
        </p:nvGrpSpPr>
        <p:grpSpPr>
          <a:xfrm>
            <a:off x="514350" y="1190625"/>
            <a:ext cx="4057711" cy="2654125"/>
            <a:chOff x="0" y="0"/>
            <a:chExt cx="3905400" cy="2554500"/>
          </a:xfrm>
        </p:grpSpPr>
        <p:sp>
          <p:nvSpPr>
            <p:cNvPr id="312" name="Google Shape;312;p20"/>
            <p:cNvSpPr/>
            <p:nvPr/>
          </p:nvSpPr>
          <p:spPr>
            <a:xfrm>
              <a:off x="0" y="0"/>
              <a:ext cx="3905400" cy="2554500"/>
            </a:xfrm>
            <a:prstGeom prst="roundRect">
              <a:avLst>
                <a:gd name="adj" fmla="val 1666"/>
              </a:avLst>
            </a:prstGeom>
            <a:solidFill>
              <a:srgbClr val="F8F9FA"/>
            </a:solidFill>
            <a:ln w="9900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0"/>
            <p:cNvSpPr txBox="1"/>
            <p:nvPr/>
          </p:nvSpPr>
          <p:spPr>
            <a:xfrm>
              <a:off x="142875" y="114300"/>
              <a:ext cx="3619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79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CHURN BY PLAN TYPE</a:t>
              </a:r>
              <a:endParaRPr sz="779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56"/>
                </a:spcBef>
                <a:spcAft>
                  <a:spcPts val="0"/>
                </a:spcAft>
                <a:buNone/>
              </a:pPr>
              <a:r>
                <a:rPr lang="en" sz="675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Monthly plan members experience a disproportionately high 77% churn rate, making them the primary target for retention efforts.</a:t>
              </a:r>
              <a:endParaRPr sz="675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314" name="Google Shape;314;p20"/>
            <p:cNvGrpSpPr/>
            <p:nvPr/>
          </p:nvGrpSpPr>
          <p:grpSpPr>
            <a:xfrm>
              <a:off x="95250" y="523875"/>
              <a:ext cx="3286275" cy="1476450"/>
              <a:chOff x="-333375" y="-47625"/>
              <a:chExt cx="3286275" cy="1476450"/>
            </a:xfrm>
          </p:grpSpPr>
          <p:cxnSp>
            <p:nvCxnSpPr>
              <p:cNvPr id="315" name="Google Shape;315;p20"/>
              <p:cNvCxnSpPr/>
              <p:nvPr/>
            </p:nvCxnSpPr>
            <p:spPr>
              <a:xfrm>
                <a:off x="0" y="0"/>
                <a:ext cx="2952900" cy="0"/>
              </a:xfrm>
              <a:prstGeom prst="straightConnector1">
                <a:avLst/>
              </a:prstGeom>
              <a:solidFill>
                <a:srgbClr val="FFFFFF"/>
              </a:solidFill>
              <a:ln w="9900" cap="flat" cmpd="sng">
                <a:solidFill>
                  <a:srgbClr val="EAEAE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6" name="Google Shape;316;p20"/>
              <p:cNvCxnSpPr/>
              <p:nvPr/>
            </p:nvCxnSpPr>
            <p:spPr>
              <a:xfrm>
                <a:off x="0" y="285750"/>
                <a:ext cx="2952900" cy="0"/>
              </a:xfrm>
              <a:prstGeom prst="straightConnector1">
                <a:avLst/>
              </a:prstGeom>
              <a:solidFill>
                <a:srgbClr val="FFFFFF"/>
              </a:solidFill>
              <a:ln w="9900" cap="flat" cmpd="sng">
                <a:solidFill>
                  <a:srgbClr val="EAEAE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7" name="Google Shape;317;p20"/>
              <p:cNvCxnSpPr/>
              <p:nvPr/>
            </p:nvCxnSpPr>
            <p:spPr>
              <a:xfrm>
                <a:off x="0" y="571500"/>
                <a:ext cx="2952900" cy="0"/>
              </a:xfrm>
              <a:prstGeom prst="straightConnector1">
                <a:avLst/>
              </a:prstGeom>
              <a:solidFill>
                <a:srgbClr val="FFFFFF"/>
              </a:solidFill>
              <a:ln w="9900" cap="flat" cmpd="sng">
                <a:solidFill>
                  <a:srgbClr val="EAEAE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8" name="Google Shape;318;p20"/>
              <p:cNvCxnSpPr/>
              <p:nvPr/>
            </p:nvCxnSpPr>
            <p:spPr>
              <a:xfrm>
                <a:off x="0" y="857250"/>
                <a:ext cx="2952900" cy="0"/>
              </a:xfrm>
              <a:prstGeom prst="straightConnector1">
                <a:avLst/>
              </a:prstGeom>
              <a:solidFill>
                <a:srgbClr val="FFFFFF"/>
              </a:solidFill>
              <a:ln w="9900" cap="flat" cmpd="sng">
                <a:solidFill>
                  <a:srgbClr val="EAEAE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9" name="Google Shape;319;p20"/>
              <p:cNvCxnSpPr/>
              <p:nvPr/>
            </p:nvCxnSpPr>
            <p:spPr>
              <a:xfrm>
                <a:off x="0" y="1143000"/>
                <a:ext cx="2952900" cy="0"/>
              </a:xfrm>
              <a:prstGeom prst="straightConnector1">
                <a:avLst/>
              </a:prstGeom>
              <a:solidFill>
                <a:srgbClr val="FFFFFF"/>
              </a:solidFill>
              <a:ln w="9900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20" name="Google Shape;320;p20"/>
              <p:cNvSpPr txBox="1"/>
              <p:nvPr/>
            </p:nvSpPr>
            <p:spPr>
              <a:xfrm>
                <a:off x="-333375" y="-47625"/>
                <a:ext cx="285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19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100%</a:t>
                </a:r>
                <a:endParaRPr sz="519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21" name="Google Shape;321;p20"/>
              <p:cNvSpPr txBox="1"/>
              <p:nvPr/>
            </p:nvSpPr>
            <p:spPr>
              <a:xfrm>
                <a:off x="-333375" y="238125"/>
                <a:ext cx="285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19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75%</a:t>
                </a:r>
                <a:endParaRPr sz="519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22" name="Google Shape;322;p20"/>
              <p:cNvSpPr txBox="1"/>
              <p:nvPr/>
            </p:nvSpPr>
            <p:spPr>
              <a:xfrm>
                <a:off x="-333375" y="523875"/>
                <a:ext cx="285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19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50%</a:t>
                </a:r>
                <a:endParaRPr sz="519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23" name="Google Shape;323;p20"/>
              <p:cNvSpPr txBox="1"/>
              <p:nvPr/>
            </p:nvSpPr>
            <p:spPr>
              <a:xfrm>
                <a:off x="-333375" y="809625"/>
                <a:ext cx="285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19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25%</a:t>
                </a:r>
                <a:endParaRPr sz="519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24" name="Google Shape;324;p20"/>
              <p:cNvSpPr txBox="1"/>
              <p:nvPr/>
            </p:nvSpPr>
            <p:spPr>
              <a:xfrm>
                <a:off x="-333375" y="1095375"/>
                <a:ext cx="285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19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0%</a:t>
                </a:r>
                <a:endParaRPr sz="519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25" name="Google Shape;325;p20"/>
              <p:cNvSpPr/>
              <p:nvPr/>
            </p:nvSpPr>
            <p:spPr>
              <a:xfrm>
                <a:off x="238125" y="262890"/>
                <a:ext cx="571500" cy="880200"/>
              </a:xfrm>
              <a:prstGeom prst="rect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20"/>
              <p:cNvSpPr txBox="1"/>
              <p:nvPr/>
            </p:nvSpPr>
            <p:spPr>
              <a:xfrm>
                <a:off x="238125" y="114300"/>
                <a:ext cx="5715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27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77%</a:t>
                </a:r>
                <a:endParaRPr sz="727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27" name="Google Shape;327;p20"/>
              <p:cNvSpPr txBox="1"/>
              <p:nvPr/>
            </p:nvSpPr>
            <p:spPr>
              <a:xfrm>
                <a:off x="142875" y="1190625"/>
                <a:ext cx="762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71" b="1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Monthly</a:t>
                </a:r>
                <a:endParaRPr sz="571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pic>
            <p:nvPicPr>
              <p:cNvPr id="328" name="Google Shape;328;p20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190625" y="971550"/>
                <a:ext cx="571500" cy="171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9" name="Google Shape;329;p20"/>
              <p:cNvSpPr txBox="1"/>
              <p:nvPr/>
            </p:nvSpPr>
            <p:spPr>
              <a:xfrm>
                <a:off x="1190625" y="838200"/>
                <a:ext cx="5715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23" b="0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50%</a:t>
                </a:r>
                <a:endParaRPr sz="623" b="0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30" name="Google Shape;330;p20"/>
              <p:cNvSpPr txBox="1"/>
              <p:nvPr/>
            </p:nvSpPr>
            <p:spPr>
              <a:xfrm>
                <a:off x="1095375" y="1190625"/>
                <a:ext cx="762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71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Quarterly</a:t>
                </a:r>
                <a:endParaRPr sz="571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pic>
            <p:nvPicPr>
              <p:cNvPr id="331" name="Google Shape;331;p20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143125" y="1047750"/>
                <a:ext cx="571500" cy="95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2" name="Google Shape;332;p20"/>
              <p:cNvSpPr txBox="1"/>
              <p:nvPr/>
            </p:nvSpPr>
            <p:spPr>
              <a:xfrm>
                <a:off x="2143125" y="914400"/>
                <a:ext cx="5715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23" b="0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16%</a:t>
                </a:r>
                <a:endParaRPr sz="623" b="0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33" name="Google Shape;333;p20"/>
              <p:cNvSpPr txBox="1"/>
              <p:nvPr/>
            </p:nvSpPr>
            <p:spPr>
              <a:xfrm>
                <a:off x="2047875" y="1190625"/>
                <a:ext cx="762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71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Annual</a:t>
                </a:r>
                <a:endParaRPr sz="571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pic>
            <p:nvPicPr>
              <p:cNvPr id="334" name="Google Shape;334;p20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19113" y="-9525"/>
                <a:ext cx="1900200" cy="285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5" name="Google Shape;335;p20"/>
              <p:cNvSpPr/>
              <p:nvPr/>
            </p:nvSpPr>
            <p:spPr>
              <a:xfrm>
                <a:off x="490538" y="229553"/>
                <a:ext cx="66600" cy="666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20"/>
              <p:cNvSpPr/>
              <p:nvPr/>
            </p:nvSpPr>
            <p:spPr>
              <a:xfrm>
                <a:off x="1447800" y="62865"/>
                <a:ext cx="57300" cy="573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20"/>
              <p:cNvSpPr/>
              <p:nvPr/>
            </p:nvSpPr>
            <p:spPr>
              <a:xfrm>
                <a:off x="2400300" y="-28575"/>
                <a:ext cx="57300" cy="573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338" name="Google Shape;338;p20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0" y="223838"/>
                <a:ext cx="2952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39" name="Google Shape;339;p20"/>
          <p:cNvGrpSpPr/>
          <p:nvPr/>
        </p:nvGrpSpPr>
        <p:grpSpPr>
          <a:xfrm>
            <a:off x="4724400" y="1190625"/>
            <a:ext cx="3905400" cy="2654138"/>
            <a:chOff x="0" y="0"/>
            <a:chExt cx="3905400" cy="2466900"/>
          </a:xfrm>
        </p:grpSpPr>
        <p:sp>
          <p:nvSpPr>
            <p:cNvPr id="340" name="Google Shape;340;p20"/>
            <p:cNvSpPr/>
            <p:nvPr/>
          </p:nvSpPr>
          <p:spPr>
            <a:xfrm>
              <a:off x="0" y="0"/>
              <a:ext cx="3905400" cy="2466900"/>
            </a:xfrm>
            <a:prstGeom prst="roundRect">
              <a:avLst>
                <a:gd name="adj" fmla="val 1666"/>
              </a:avLst>
            </a:prstGeom>
            <a:solidFill>
              <a:srgbClr val="F8F9FA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0"/>
            <p:cNvSpPr txBox="1"/>
            <p:nvPr/>
          </p:nvSpPr>
          <p:spPr>
            <a:xfrm>
              <a:off x="142875" y="114300"/>
              <a:ext cx="3619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CHURN BY MEMBERSHIP DURATION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Short-tenure members, specifically those active for less than 3 months, represent the vast majority of churned individuals.</a:t>
              </a:r>
              <a:endParaRPr sz="6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342" name="Google Shape;342;p20"/>
            <p:cNvGrpSpPr/>
            <p:nvPr/>
          </p:nvGrpSpPr>
          <p:grpSpPr>
            <a:xfrm>
              <a:off x="95250" y="523875"/>
              <a:ext cx="3286275" cy="1476450"/>
              <a:chOff x="-333375" y="-47625"/>
              <a:chExt cx="3286275" cy="1476450"/>
            </a:xfrm>
          </p:grpSpPr>
          <p:cxnSp>
            <p:nvCxnSpPr>
              <p:cNvPr id="343" name="Google Shape;343;p20"/>
              <p:cNvCxnSpPr/>
              <p:nvPr/>
            </p:nvCxnSpPr>
            <p:spPr>
              <a:xfrm>
                <a:off x="0" y="0"/>
                <a:ext cx="29529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AEAE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4" name="Google Shape;344;p20"/>
              <p:cNvCxnSpPr/>
              <p:nvPr/>
            </p:nvCxnSpPr>
            <p:spPr>
              <a:xfrm>
                <a:off x="0" y="285750"/>
                <a:ext cx="29529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AEAE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5" name="Google Shape;345;p20"/>
              <p:cNvCxnSpPr/>
              <p:nvPr/>
            </p:nvCxnSpPr>
            <p:spPr>
              <a:xfrm>
                <a:off x="0" y="571500"/>
                <a:ext cx="29529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AEAE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6" name="Google Shape;346;p20"/>
              <p:cNvCxnSpPr/>
              <p:nvPr/>
            </p:nvCxnSpPr>
            <p:spPr>
              <a:xfrm>
                <a:off x="0" y="857250"/>
                <a:ext cx="29529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AEAEA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7" name="Google Shape;347;p20"/>
              <p:cNvCxnSpPr/>
              <p:nvPr/>
            </p:nvCxnSpPr>
            <p:spPr>
              <a:xfrm>
                <a:off x="0" y="1143000"/>
                <a:ext cx="29529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48" name="Google Shape;348;p20"/>
              <p:cNvSpPr txBox="1"/>
              <p:nvPr/>
            </p:nvSpPr>
            <p:spPr>
              <a:xfrm>
                <a:off x="-333375" y="-47625"/>
                <a:ext cx="285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100%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49" name="Google Shape;349;p20"/>
              <p:cNvSpPr txBox="1"/>
              <p:nvPr/>
            </p:nvSpPr>
            <p:spPr>
              <a:xfrm>
                <a:off x="-333375" y="238125"/>
                <a:ext cx="285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75%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50" name="Google Shape;350;p20"/>
              <p:cNvSpPr txBox="1"/>
              <p:nvPr/>
            </p:nvSpPr>
            <p:spPr>
              <a:xfrm>
                <a:off x="-333375" y="523875"/>
                <a:ext cx="285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50%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51" name="Google Shape;351;p20"/>
              <p:cNvSpPr txBox="1"/>
              <p:nvPr/>
            </p:nvSpPr>
            <p:spPr>
              <a:xfrm>
                <a:off x="-333375" y="809625"/>
                <a:ext cx="285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25%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52" name="Google Shape;352;p20"/>
              <p:cNvSpPr txBox="1"/>
              <p:nvPr/>
            </p:nvSpPr>
            <p:spPr>
              <a:xfrm>
                <a:off x="-333375" y="1095375"/>
                <a:ext cx="285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0%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53" name="Google Shape;353;p20"/>
              <p:cNvSpPr/>
              <p:nvPr/>
            </p:nvSpPr>
            <p:spPr>
              <a:xfrm>
                <a:off x="238125" y="331470"/>
                <a:ext cx="571500" cy="811500"/>
              </a:xfrm>
              <a:prstGeom prst="rect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20"/>
              <p:cNvSpPr txBox="1"/>
              <p:nvPr/>
            </p:nvSpPr>
            <p:spPr>
              <a:xfrm>
                <a:off x="238125" y="180975"/>
                <a:ext cx="5715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71%</a:t>
                </a:r>
                <a:endParaRPr sz="7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55" name="Google Shape;355;p20"/>
              <p:cNvSpPr txBox="1"/>
              <p:nvPr/>
            </p:nvSpPr>
            <p:spPr>
              <a:xfrm>
                <a:off x="142875" y="1190625"/>
                <a:ext cx="762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50" b="1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&lt; 3 Months</a:t>
                </a:r>
                <a:endParaRPr sz="5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pic>
            <p:nvPicPr>
              <p:cNvPr id="356" name="Google Shape;356;p20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1190625" y="933450"/>
                <a:ext cx="571500" cy="209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7" name="Google Shape;357;p20"/>
              <p:cNvSpPr txBox="1"/>
              <p:nvPr/>
            </p:nvSpPr>
            <p:spPr>
              <a:xfrm>
                <a:off x="1190625" y="800100"/>
                <a:ext cx="5715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0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18%</a:t>
                </a:r>
                <a:endParaRPr sz="600" b="0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58" name="Google Shape;358;p20"/>
              <p:cNvSpPr txBox="1"/>
              <p:nvPr/>
            </p:nvSpPr>
            <p:spPr>
              <a:xfrm>
                <a:off x="1095375" y="1190625"/>
                <a:ext cx="762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50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3-6 Months</a:t>
                </a:r>
                <a:endParaRPr sz="5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pic>
            <p:nvPicPr>
              <p:cNvPr id="359" name="Google Shape;359;p20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519113" y="-9525"/>
                <a:ext cx="1890600" cy="352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0" name="Google Shape;360;p20"/>
              <p:cNvSpPr/>
              <p:nvPr/>
            </p:nvSpPr>
            <p:spPr>
              <a:xfrm>
                <a:off x="490538" y="298133"/>
                <a:ext cx="66600" cy="666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20"/>
              <p:cNvSpPr/>
              <p:nvPr/>
            </p:nvSpPr>
            <p:spPr>
              <a:xfrm>
                <a:off x="1447800" y="97155"/>
                <a:ext cx="57300" cy="573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20"/>
              <p:cNvSpPr/>
              <p:nvPr/>
            </p:nvSpPr>
            <p:spPr>
              <a:xfrm>
                <a:off x="2400300" y="-28575"/>
                <a:ext cx="57300" cy="573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363" name="Google Shape;363;p20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0" y="223838"/>
                <a:ext cx="29529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64" name="Google Shape;364;p20"/>
          <p:cNvGrpSpPr/>
          <p:nvPr/>
        </p:nvGrpSpPr>
        <p:grpSpPr>
          <a:xfrm>
            <a:off x="278125" y="4221950"/>
            <a:ext cx="8400147" cy="714371"/>
            <a:chOff x="0" y="0"/>
            <a:chExt cx="8115300" cy="495300"/>
          </a:xfrm>
        </p:grpSpPr>
        <p:sp>
          <p:nvSpPr>
            <p:cNvPr id="365" name="Google Shape;365;p20"/>
            <p:cNvSpPr/>
            <p:nvPr/>
          </p:nvSpPr>
          <p:spPr>
            <a:xfrm>
              <a:off x="0" y="0"/>
              <a:ext cx="8115300" cy="495300"/>
            </a:xfrm>
            <a:prstGeom prst="roundRect">
              <a:avLst>
                <a:gd name="adj" fmla="val 7692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0"/>
            <p:cNvSpPr/>
            <p:nvPr/>
          </p:nvSpPr>
          <p:spPr>
            <a:xfrm>
              <a:off x="0" y="0"/>
              <a:ext cx="57300" cy="495300"/>
            </a:xfrm>
            <a:prstGeom prst="rect">
              <a:avLst/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0"/>
            <p:cNvSpPr txBox="1"/>
            <p:nvPr/>
          </p:nvSpPr>
          <p:spPr>
            <a:xfrm>
              <a:off x="190500" y="76200"/>
              <a:ext cx="1238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56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80/20 RULE</a:t>
              </a:r>
              <a:endParaRPr sz="1656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pic>
          <p:nvPicPr>
            <p:cNvPr id="368" name="Google Shape;368;p20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423988" y="95250"/>
              <a:ext cx="96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20"/>
            <p:cNvSpPr txBox="1"/>
            <p:nvPr/>
          </p:nvSpPr>
          <p:spPr>
            <a:xfrm>
              <a:off x="1571625" y="57150"/>
              <a:ext cx="638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73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Pareto analysis isolates </a:t>
              </a:r>
              <a:r>
                <a:rPr lang="en" sz="673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monthly plan holders</a:t>
              </a:r>
              <a:r>
                <a:rPr lang="en" sz="673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and </a:t>
              </a:r>
              <a:r>
                <a:rPr lang="en" sz="673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early-tenure members (&lt;3 months)</a:t>
              </a:r>
              <a:r>
                <a:rPr lang="en" sz="673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as the primary drivers of facility churn. Together, these two key segments generate over </a:t>
              </a:r>
              <a:r>
                <a:rPr lang="en" sz="828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80% of total member attrition</a:t>
              </a:r>
              <a:r>
                <a:rPr lang="en" sz="673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.</a:t>
              </a:r>
              <a:endParaRPr sz="673" b="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Google Shape;374;p21"/>
          <p:cNvGrpSpPr/>
          <p:nvPr/>
        </p:nvGrpSpPr>
        <p:grpSpPr>
          <a:xfrm>
            <a:off x="514350" y="571500"/>
            <a:ext cx="8115300" cy="638250"/>
            <a:chOff x="0" y="0"/>
            <a:chExt cx="8115300" cy="638250"/>
          </a:xfrm>
        </p:grpSpPr>
        <p:sp>
          <p:nvSpPr>
            <p:cNvPr id="375" name="Google Shape;375;p21"/>
            <p:cNvSpPr txBox="1"/>
            <p:nvPr/>
          </p:nvSpPr>
          <p:spPr>
            <a:xfrm>
              <a:off x="0" y="0"/>
              <a:ext cx="8115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5" b="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Distribution Analysis &amp; Member Behavior</a:t>
              </a:r>
              <a:endParaRPr sz="2405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376" name="Google Shape;376;p21"/>
            <p:cNvSpPr txBox="1"/>
            <p:nvPr/>
          </p:nvSpPr>
          <p:spPr>
            <a:xfrm>
              <a:off x="0" y="400050"/>
              <a:ext cx="81153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Distribution analysis highlights early member dropout and distinct seasonal enrollment peaks in January and June.</a:t>
              </a:r>
              <a:endParaRPr sz="80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377" name="Google Shape;377;p21"/>
          <p:cNvGrpSpPr/>
          <p:nvPr/>
        </p:nvGrpSpPr>
        <p:grpSpPr>
          <a:xfrm>
            <a:off x="514349" y="1238250"/>
            <a:ext cx="3724275" cy="3429000"/>
            <a:chOff x="0" y="0"/>
            <a:chExt cx="2552700" cy="3429000"/>
          </a:xfrm>
        </p:grpSpPr>
        <p:sp>
          <p:nvSpPr>
            <p:cNvPr id="378" name="Google Shape;378;p21"/>
            <p:cNvSpPr/>
            <p:nvPr/>
          </p:nvSpPr>
          <p:spPr>
            <a:xfrm>
              <a:off x="0" y="0"/>
              <a:ext cx="2552700" cy="3429000"/>
            </a:xfrm>
            <a:prstGeom prst="roundRect">
              <a:avLst>
                <a:gd name="adj" fmla="val 1492"/>
              </a:avLst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1"/>
            <p:cNvSpPr/>
            <p:nvPr/>
          </p:nvSpPr>
          <p:spPr>
            <a:xfrm>
              <a:off x="0" y="0"/>
              <a:ext cx="2552700" cy="38100"/>
            </a:xfrm>
            <a:prstGeom prst="roundRect">
              <a:avLst>
                <a:gd name="adj" fmla="val 50000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1"/>
            <p:cNvSpPr txBox="1"/>
            <p:nvPr/>
          </p:nvSpPr>
          <p:spPr>
            <a:xfrm>
              <a:off x="142875" y="142875"/>
              <a:ext cx="2267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Membership Duration</a:t>
              </a:r>
              <a:endParaRPr sz="80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1" name="Google Shape;381;p21"/>
            <p:cNvSpPr txBox="1"/>
            <p:nvPr/>
          </p:nvSpPr>
          <p:spPr>
            <a:xfrm>
              <a:off x="142875" y="304800"/>
              <a:ext cx="22671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" sz="6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• Right-Skewed:</a:t>
              </a:r>
              <a:r>
                <a:rPr lang="en" sz="60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 The distribution is heavily right-skewed, confirming a severe early dropout pattern where the majority of members churn within 1 to 3 months.</a:t>
              </a:r>
              <a:endParaRPr sz="60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382" name="Google Shape;382;p21"/>
            <p:cNvGrpSpPr/>
            <p:nvPr/>
          </p:nvGrpSpPr>
          <p:grpSpPr>
            <a:xfrm>
              <a:off x="190500" y="952500"/>
              <a:ext cx="2285925" cy="1828800"/>
              <a:chOff x="0" y="47625"/>
              <a:chExt cx="2285925" cy="1828800"/>
            </a:xfrm>
          </p:grpSpPr>
          <p:cxnSp>
            <p:nvCxnSpPr>
              <p:cNvPr id="383" name="Google Shape;383;p21"/>
              <p:cNvCxnSpPr/>
              <p:nvPr/>
            </p:nvCxnSpPr>
            <p:spPr>
              <a:xfrm>
                <a:off x="238125" y="1714500"/>
                <a:ext cx="20478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4" name="Google Shape;384;p21"/>
              <p:cNvCxnSpPr/>
              <p:nvPr/>
            </p:nvCxnSpPr>
            <p:spPr>
              <a:xfrm>
                <a:off x="238125" y="190500"/>
                <a:ext cx="0" cy="15240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pic>
            <p:nvPicPr>
              <p:cNvPr id="385" name="Google Shape;385;p21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38125" y="566738"/>
                <a:ext cx="20385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6" name="Google Shape;386;p21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38125" y="1138238"/>
                <a:ext cx="20385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7" name="Google Shape;387;p21"/>
              <p:cNvSpPr txBox="1"/>
              <p:nvPr/>
            </p:nvSpPr>
            <p:spPr>
              <a:xfrm>
                <a:off x="0" y="514350"/>
                <a:ext cx="1905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100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88" name="Google Shape;388;p21"/>
              <p:cNvSpPr txBox="1"/>
              <p:nvPr/>
            </p:nvSpPr>
            <p:spPr>
              <a:xfrm>
                <a:off x="0" y="1085850"/>
                <a:ext cx="1905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50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89" name="Google Shape;389;p21"/>
              <p:cNvSpPr txBox="1"/>
              <p:nvPr/>
            </p:nvSpPr>
            <p:spPr>
              <a:xfrm>
                <a:off x="0" y="1657350"/>
                <a:ext cx="1905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0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90" name="Google Shape;390;p21"/>
              <p:cNvSpPr/>
              <p:nvPr/>
            </p:nvSpPr>
            <p:spPr>
              <a:xfrm>
                <a:off x="304800" y="285750"/>
                <a:ext cx="266700" cy="1428900"/>
              </a:xfrm>
              <a:prstGeom prst="rect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21"/>
              <p:cNvSpPr/>
              <p:nvPr/>
            </p:nvSpPr>
            <p:spPr>
              <a:xfrm>
                <a:off x="600075" y="762000"/>
                <a:ext cx="266700" cy="9525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21"/>
              <p:cNvSpPr/>
              <p:nvPr/>
            </p:nvSpPr>
            <p:spPr>
              <a:xfrm>
                <a:off x="895350" y="1190625"/>
                <a:ext cx="266700" cy="5238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21"/>
              <p:cNvSpPr/>
              <p:nvPr/>
            </p:nvSpPr>
            <p:spPr>
              <a:xfrm>
                <a:off x="1190625" y="1428750"/>
                <a:ext cx="266700" cy="2859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21"/>
              <p:cNvSpPr/>
              <p:nvPr/>
            </p:nvSpPr>
            <p:spPr>
              <a:xfrm>
                <a:off x="1485900" y="1571625"/>
                <a:ext cx="266700" cy="1428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21"/>
              <p:cNvSpPr/>
              <p:nvPr/>
            </p:nvSpPr>
            <p:spPr>
              <a:xfrm>
                <a:off x="1781175" y="1638300"/>
                <a:ext cx="266700" cy="762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21"/>
              <p:cNvSpPr txBox="1"/>
              <p:nvPr/>
            </p:nvSpPr>
            <p:spPr>
              <a:xfrm>
                <a:off x="266700" y="1762125"/>
                <a:ext cx="342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1-3m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97" name="Google Shape;397;p21"/>
              <p:cNvSpPr txBox="1"/>
              <p:nvPr/>
            </p:nvSpPr>
            <p:spPr>
              <a:xfrm>
                <a:off x="561975" y="1762125"/>
                <a:ext cx="342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4-6m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98" name="Google Shape;398;p21"/>
              <p:cNvSpPr txBox="1"/>
              <p:nvPr/>
            </p:nvSpPr>
            <p:spPr>
              <a:xfrm>
                <a:off x="857250" y="1762125"/>
                <a:ext cx="342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7-9m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399" name="Google Shape;399;p21"/>
              <p:cNvSpPr txBox="1"/>
              <p:nvPr/>
            </p:nvSpPr>
            <p:spPr>
              <a:xfrm>
                <a:off x="1152525" y="1762125"/>
                <a:ext cx="342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10-12m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00" name="Google Shape;400;p21"/>
              <p:cNvSpPr txBox="1"/>
              <p:nvPr/>
            </p:nvSpPr>
            <p:spPr>
              <a:xfrm>
                <a:off x="1447800" y="1762125"/>
                <a:ext cx="342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13-15m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01" name="Google Shape;401;p21"/>
              <p:cNvSpPr txBox="1"/>
              <p:nvPr/>
            </p:nvSpPr>
            <p:spPr>
              <a:xfrm>
                <a:off x="1743075" y="1762125"/>
                <a:ext cx="3429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16m+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02" name="Google Shape;402;p21"/>
              <p:cNvSpPr/>
              <p:nvPr/>
            </p:nvSpPr>
            <p:spPr>
              <a:xfrm>
                <a:off x="285750" y="47625"/>
                <a:ext cx="762000" cy="190500"/>
              </a:xfrm>
              <a:prstGeom prst="roundRect">
                <a:avLst>
                  <a:gd name="adj" fmla="val 1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21"/>
              <p:cNvSpPr txBox="1"/>
              <p:nvPr/>
            </p:nvSpPr>
            <p:spPr>
              <a:xfrm>
                <a:off x="285750" y="47625"/>
                <a:ext cx="762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EARLY DROPOUT</a:t>
                </a:r>
                <a:endParaRPr sz="5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433" name="Google Shape;433;p21"/>
          <p:cNvGrpSpPr/>
          <p:nvPr/>
        </p:nvGrpSpPr>
        <p:grpSpPr>
          <a:xfrm>
            <a:off x="4252520" y="1238250"/>
            <a:ext cx="4377130" cy="3429000"/>
            <a:chOff x="0" y="0"/>
            <a:chExt cx="2552700" cy="3429000"/>
          </a:xfrm>
        </p:grpSpPr>
        <p:sp>
          <p:nvSpPr>
            <p:cNvPr id="434" name="Google Shape;434;p21"/>
            <p:cNvSpPr/>
            <p:nvPr/>
          </p:nvSpPr>
          <p:spPr>
            <a:xfrm>
              <a:off x="0" y="0"/>
              <a:ext cx="2552700" cy="3429000"/>
            </a:xfrm>
            <a:prstGeom prst="roundRect">
              <a:avLst>
                <a:gd name="adj" fmla="val 1492"/>
              </a:avLst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1"/>
            <p:cNvSpPr/>
            <p:nvPr/>
          </p:nvSpPr>
          <p:spPr>
            <a:xfrm>
              <a:off x="0" y="0"/>
              <a:ext cx="2552700" cy="38100"/>
            </a:xfrm>
            <a:prstGeom prst="roundRect">
              <a:avLst>
                <a:gd name="adj" fmla="val 50000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1"/>
            <p:cNvSpPr txBox="1"/>
            <p:nvPr/>
          </p:nvSpPr>
          <p:spPr>
            <a:xfrm>
              <a:off x="142875" y="142875"/>
              <a:ext cx="2267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Monthly Enrollment Trend</a:t>
              </a:r>
              <a:endParaRPr sz="80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37" name="Google Shape;437;p21"/>
            <p:cNvSpPr txBox="1"/>
            <p:nvPr/>
          </p:nvSpPr>
          <p:spPr>
            <a:xfrm>
              <a:off x="142875" y="304800"/>
              <a:ext cx="22671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" sz="600" b="1" dirty="0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• Seasonal Peaks:</a:t>
              </a:r>
              <a:r>
                <a:rPr lang="en" sz="600" b="0" dirty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 Facility sign-ups exhibit strong seasonal peaks, primarily concentrated in January and June.</a:t>
              </a:r>
              <a:endParaRPr sz="600" b="0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438" name="Google Shape;438;p21"/>
            <p:cNvGrpSpPr/>
            <p:nvPr/>
          </p:nvGrpSpPr>
          <p:grpSpPr>
            <a:xfrm>
              <a:off x="142875" y="1095375"/>
              <a:ext cx="2333700" cy="1685925"/>
              <a:chOff x="0" y="190500"/>
              <a:chExt cx="2333700" cy="1685925"/>
            </a:xfrm>
          </p:grpSpPr>
          <p:cxnSp>
            <p:nvCxnSpPr>
              <p:cNvPr id="439" name="Google Shape;439;p21"/>
              <p:cNvCxnSpPr/>
              <p:nvPr/>
            </p:nvCxnSpPr>
            <p:spPr>
              <a:xfrm>
                <a:off x="190500" y="1714500"/>
                <a:ext cx="21432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40" name="Google Shape;440;p21"/>
              <p:cNvCxnSpPr/>
              <p:nvPr/>
            </p:nvCxnSpPr>
            <p:spPr>
              <a:xfrm>
                <a:off x="190500" y="190500"/>
                <a:ext cx="0" cy="152400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pic>
            <p:nvPicPr>
              <p:cNvPr id="441" name="Google Shape;441;p21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90500" y="471488"/>
                <a:ext cx="21432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2" name="Google Shape;442;p21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90500" y="1090613"/>
                <a:ext cx="21432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3" name="Google Shape;443;p21"/>
              <p:cNvSpPr txBox="1"/>
              <p:nvPr/>
            </p:nvSpPr>
            <p:spPr>
              <a:xfrm>
                <a:off x="0" y="419100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Max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44" name="Google Shape;444;p21"/>
              <p:cNvSpPr txBox="1"/>
              <p:nvPr/>
            </p:nvSpPr>
            <p:spPr>
              <a:xfrm>
                <a:off x="0" y="10382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Mid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45" name="Google Shape;445;p21"/>
              <p:cNvSpPr/>
              <p:nvPr/>
            </p:nvSpPr>
            <p:spPr>
              <a:xfrm>
                <a:off x="238125" y="381000"/>
                <a:ext cx="19908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0909" y="60000"/>
                    </a:lnTo>
                    <a:lnTo>
                      <a:pt x="21818" y="77143"/>
                    </a:lnTo>
                    <a:lnTo>
                      <a:pt x="32727" y="85714"/>
                    </a:lnTo>
                    <a:lnTo>
                      <a:pt x="43636" y="68571"/>
                    </a:lnTo>
                    <a:lnTo>
                      <a:pt x="54545" y="8571"/>
                    </a:lnTo>
                    <a:lnTo>
                      <a:pt x="65455" y="55714"/>
                    </a:lnTo>
                    <a:lnTo>
                      <a:pt x="76364" y="64286"/>
                    </a:lnTo>
                    <a:lnTo>
                      <a:pt x="87273" y="72857"/>
                    </a:lnTo>
                    <a:lnTo>
                      <a:pt x="98182" y="81429"/>
                    </a:lnTo>
                    <a:lnTo>
                      <a:pt x="109091" y="60000"/>
                    </a:lnTo>
                    <a:lnTo>
                      <a:pt x="120000" y="77143"/>
                    </a:ln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A60042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21"/>
              <p:cNvSpPr/>
              <p:nvPr/>
            </p:nvSpPr>
            <p:spPr>
              <a:xfrm>
                <a:off x="238125" y="381000"/>
                <a:ext cx="19908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0909" y="84000"/>
                    </a:lnTo>
                    <a:lnTo>
                      <a:pt x="21818" y="108000"/>
                    </a:lnTo>
                    <a:lnTo>
                      <a:pt x="32727" y="120000"/>
                    </a:lnTo>
                    <a:lnTo>
                      <a:pt x="43636" y="96000"/>
                    </a:lnTo>
                    <a:lnTo>
                      <a:pt x="54545" y="12000"/>
                    </a:lnTo>
                    <a:lnTo>
                      <a:pt x="65455" y="78000"/>
                    </a:lnTo>
                    <a:lnTo>
                      <a:pt x="76364" y="90000"/>
                    </a:lnTo>
                    <a:lnTo>
                      <a:pt x="87273" y="102000"/>
                    </a:lnTo>
                    <a:lnTo>
                      <a:pt x="98182" y="114000"/>
                    </a:lnTo>
                    <a:lnTo>
                      <a:pt x="109091" y="84000"/>
                    </a:lnTo>
                    <a:lnTo>
                      <a:pt x="120000" y="108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200025" y="342900"/>
                <a:ext cx="76200" cy="762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448" name="Google Shape;448;p21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233363" y="381000"/>
                <a:ext cx="9600" cy="1314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9" name="Google Shape;449;p21"/>
              <p:cNvSpPr txBox="1"/>
              <p:nvPr/>
            </p:nvSpPr>
            <p:spPr>
              <a:xfrm>
                <a:off x="47625" y="209550"/>
                <a:ext cx="3810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Jan Peak</a:t>
                </a:r>
                <a:endParaRPr sz="5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50" name="Google Shape;450;p21"/>
              <p:cNvSpPr/>
              <p:nvPr/>
            </p:nvSpPr>
            <p:spPr>
              <a:xfrm>
                <a:off x="1104900" y="438150"/>
                <a:ext cx="76200" cy="762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451" name="Google Shape;451;p21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1138238" y="476250"/>
                <a:ext cx="9600" cy="1238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2" name="Google Shape;452;p21"/>
              <p:cNvSpPr txBox="1"/>
              <p:nvPr/>
            </p:nvSpPr>
            <p:spPr>
              <a:xfrm>
                <a:off x="952500" y="304800"/>
                <a:ext cx="3810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Jun Peak</a:t>
                </a:r>
                <a:endParaRPr sz="5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53" name="Google Shape;453;p21"/>
              <p:cNvSpPr txBox="1"/>
              <p:nvPr/>
            </p:nvSpPr>
            <p:spPr>
              <a:xfrm>
                <a:off x="161925" y="17621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J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54" name="Google Shape;454;p21"/>
              <p:cNvSpPr txBox="1"/>
              <p:nvPr/>
            </p:nvSpPr>
            <p:spPr>
              <a:xfrm>
                <a:off x="342900" y="17621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F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55" name="Google Shape;455;p21"/>
              <p:cNvSpPr txBox="1"/>
              <p:nvPr/>
            </p:nvSpPr>
            <p:spPr>
              <a:xfrm>
                <a:off x="523875" y="17621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56" name="Google Shape;456;p21"/>
              <p:cNvSpPr txBox="1"/>
              <p:nvPr/>
            </p:nvSpPr>
            <p:spPr>
              <a:xfrm>
                <a:off x="704850" y="17621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A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57" name="Google Shape;457;p21"/>
              <p:cNvSpPr txBox="1"/>
              <p:nvPr/>
            </p:nvSpPr>
            <p:spPr>
              <a:xfrm>
                <a:off x="885825" y="17621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58" name="Google Shape;458;p21"/>
              <p:cNvSpPr txBox="1"/>
              <p:nvPr/>
            </p:nvSpPr>
            <p:spPr>
              <a:xfrm>
                <a:off x="1066800" y="17621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J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59" name="Google Shape;459;p21"/>
              <p:cNvSpPr txBox="1"/>
              <p:nvPr/>
            </p:nvSpPr>
            <p:spPr>
              <a:xfrm>
                <a:off x="1247775" y="17621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J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60" name="Google Shape;460;p21"/>
              <p:cNvSpPr txBox="1"/>
              <p:nvPr/>
            </p:nvSpPr>
            <p:spPr>
              <a:xfrm>
                <a:off x="1428750" y="17621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A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61" name="Google Shape;461;p21"/>
              <p:cNvSpPr txBox="1"/>
              <p:nvPr/>
            </p:nvSpPr>
            <p:spPr>
              <a:xfrm>
                <a:off x="1609725" y="17621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62" name="Google Shape;462;p21"/>
              <p:cNvSpPr txBox="1"/>
              <p:nvPr/>
            </p:nvSpPr>
            <p:spPr>
              <a:xfrm>
                <a:off x="1790700" y="17621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O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63" name="Google Shape;463;p21"/>
              <p:cNvSpPr txBox="1"/>
              <p:nvPr/>
            </p:nvSpPr>
            <p:spPr>
              <a:xfrm>
                <a:off x="1971675" y="17621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N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464" name="Google Shape;464;p21"/>
              <p:cNvSpPr txBox="1"/>
              <p:nvPr/>
            </p:nvSpPr>
            <p:spPr>
              <a:xfrm>
                <a:off x="2152650" y="1762125"/>
                <a:ext cx="1524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D</a:t>
                </a:r>
                <a:endParaRPr sz="5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2"/>
          <p:cNvSpPr txBox="1"/>
          <p:nvPr/>
        </p:nvSpPr>
        <p:spPr>
          <a:xfrm>
            <a:off x="381000" y="285750"/>
            <a:ext cx="8382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2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rPr>
              <a:t>Welch's Independent T-Tests: </a:t>
            </a:r>
            <a:r>
              <a:rPr lang="en" sz="2220" b="0">
                <a:solidFill>
                  <a:srgbClr val="A60042"/>
                </a:solidFill>
                <a:latin typeface="Anton"/>
                <a:ea typeface="Anton"/>
                <a:cs typeface="Anton"/>
                <a:sym typeface="Anton"/>
              </a:rPr>
              <a:t>Active vs. Churned Members</a:t>
            </a:r>
            <a:endParaRPr sz="2220" b="0">
              <a:solidFill>
                <a:srgbClr val="0E1C5D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471" name="Google Shape;471;p22"/>
          <p:cNvSpPr txBox="1"/>
          <p:nvPr/>
        </p:nvSpPr>
        <p:spPr>
          <a:xfrm>
            <a:off x="381000" y="647700"/>
            <a:ext cx="8382000" cy="2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>
                <a:solidFill>
                  <a:srgbClr val="555555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Independent T-Tests confirm significant differences in tenure (p&lt;0.001) and plan amount (p&lt;0.001) between active and churned members. Payment gap difference is NOT statistically significant (p=0.282).</a:t>
            </a:r>
            <a:endParaRPr sz="950" b="0">
              <a:solidFill>
                <a:srgbClr val="555555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grpSp>
        <p:nvGrpSpPr>
          <p:cNvPr id="472" name="Google Shape;472;p22"/>
          <p:cNvGrpSpPr/>
          <p:nvPr/>
        </p:nvGrpSpPr>
        <p:grpSpPr>
          <a:xfrm>
            <a:off x="381000" y="971550"/>
            <a:ext cx="4048200" cy="3829200"/>
            <a:chOff x="0" y="0"/>
            <a:chExt cx="4048200" cy="3829200"/>
          </a:xfrm>
        </p:grpSpPr>
        <p:sp>
          <p:nvSpPr>
            <p:cNvPr id="473" name="Google Shape;473;p22"/>
            <p:cNvSpPr/>
            <p:nvPr/>
          </p:nvSpPr>
          <p:spPr>
            <a:xfrm>
              <a:off x="0" y="0"/>
              <a:ext cx="4048200" cy="3829200"/>
            </a:xfrm>
            <a:prstGeom prst="roundRect">
              <a:avLst>
                <a:gd name="adj" fmla="val 1990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2"/>
            <p:cNvSpPr txBox="1"/>
            <p:nvPr/>
          </p:nvSpPr>
          <p:spPr>
            <a:xfrm>
              <a:off x="152400" y="133350"/>
              <a:ext cx="2286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Distribution Profiles (Active vs Churned)</a:t>
              </a:r>
              <a:endParaRPr sz="90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475" name="Google Shape;475;p22"/>
            <p:cNvSpPr/>
            <p:nvPr/>
          </p:nvSpPr>
          <p:spPr>
            <a:xfrm>
              <a:off x="2571750" y="180975"/>
              <a:ext cx="95400" cy="95400"/>
            </a:xfrm>
            <a:prstGeom prst="roundRect">
              <a:avLst>
                <a:gd name="adj" fmla="val 20000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2"/>
            <p:cNvSpPr txBox="1"/>
            <p:nvPr/>
          </p:nvSpPr>
          <p:spPr>
            <a:xfrm>
              <a:off x="2705100" y="133350"/>
              <a:ext cx="428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333333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rPr>
                <a:t>Active</a:t>
              </a:r>
              <a:endParaRPr sz="800" b="0">
                <a:solidFill>
                  <a:srgbClr val="333333"/>
                </a:solidFill>
                <a:latin typeface="Work Sans SemiBold"/>
                <a:ea typeface="Work Sans SemiBold"/>
                <a:cs typeface="Work Sans SemiBold"/>
                <a:sym typeface="Work Sans SemiBold"/>
              </a:endParaRPr>
            </a:p>
          </p:txBody>
        </p:sp>
        <p:sp>
          <p:nvSpPr>
            <p:cNvPr id="477" name="Google Shape;477;p22"/>
            <p:cNvSpPr/>
            <p:nvPr/>
          </p:nvSpPr>
          <p:spPr>
            <a:xfrm>
              <a:off x="3190875" y="180975"/>
              <a:ext cx="95400" cy="95400"/>
            </a:xfrm>
            <a:prstGeom prst="roundRect">
              <a:avLst>
                <a:gd name="adj" fmla="val 20000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2"/>
            <p:cNvSpPr txBox="1"/>
            <p:nvPr/>
          </p:nvSpPr>
          <p:spPr>
            <a:xfrm>
              <a:off x="3324225" y="133350"/>
              <a:ext cx="523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333333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rPr>
                <a:t>Churned</a:t>
              </a:r>
              <a:endParaRPr sz="800" b="0">
                <a:solidFill>
                  <a:srgbClr val="333333"/>
                </a:solidFill>
                <a:latin typeface="Work Sans SemiBold"/>
                <a:ea typeface="Work Sans SemiBold"/>
                <a:cs typeface="Work Sans SemiBold"/>
                <a:sym typeface="Work Sans SemiBold"/>
              </a:endParaRPr>
            </a:p>
          </p:txBody>
        </p:sp>
        <p:grpSp>
          <p:nvGrpSpPr>
            <p:cNvPr id="479" name="Google Shape;479;p22"/>
            <p:cNvGrpSpPr/>
            <p:nvPr/>
          </p:nvGrpSpPr>
          <p:grpSpPr>
            <a:xfrm>
              <a:off x="152400" y="438150"/>
              <a:ext cx="3743400" cy="419100"/>
              <a:chOff x="0" y="0"/>
              <a:chExt cx="3743400" cy="419100"/>
            </a:xfrm>
          </p:grpSpPr>
          <p:sp>
            <p:nvSpPr>
              <p:cNvPr id="480" name="Google Shape;480;p22"/>
              <p:cNvSpPr txBox="1"/>
              <p:nvPr/>
            </p:nvSpPr>
            <p:spPr>
              <a:xfrm>
                <a:off x="0" y="0"/>
                <a:ext cx="3743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Membership Duration (Months) </a:t>
                </a:r>
                <a:r>
                  <a:rPr lang="en" sz="750" b="0">
                    <a:solidFill>
                      <a:srgbClr val="A60042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— Strongest Discriminator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481" name="Google Shape;481;p22"/>
              <p:cNvCxnSpPr/>
              <p:nvPr/>
            </p:nvCxnSpPr>
            <p:spPr>
              <a:xfrm>
                <a:off x="95250" y="342900"/>
                <a:ext cx="28575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2" name="Google Shape;482;p22"/>
              <p:cNvCxnSpPr/>
              <p:nvPr/>
            </p:nvCxnSpPr>
            <p:spPr>
              <a:xfrm>
                <a:off x="952500" y="228600"/>
                <a:ext cx="15240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83" name="Google Shape;483;p22"/>
              <p:cNvSpPr/>
              <p:nvPr/>
            </p:nvSpPr>
            <p:spPr>
              <a:xfrm>
                <a:off x="1714500" y="171450"/>
                <a:ext cx="666900" cy="1143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84" name="Google Shape;484;p22"/>
              <p:cNvCxnSpPr/>
              <p:nvPr/>
            </p:nvCxnSpPr>
            <p:spPr>
              <a:xfrm>
                <a:off x="2047875" y="1714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5" name="Google Shape;485;p22"/>
              <p:cNvCxnSpPr/>
              <p:nvPr/>
            </p:nvCxnSpPr>
            <p:spPr>
              <a:xfrm>
                <a:off x="285750" y="323850"/>
                <a:ext cx="9525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86" name="Google Shape;486;p22"/>
              <p:cNvSpPr/>
              <p:nvPr/>
            </p:nvSpPr>
            <p:spPr>
              <a:xfrm>
                <a:off x="476250" y="285750"/>
                <a:ext cx="381000" cy="76200"/>
              </a:xfrm>
              <a:prstGeom prst="roundRect">
                <a:avLst>
                  <a:gd name="adj" fmla="val 25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87" name="Google Shape;487;p22"/>
              <p:cNvCxnSpPr/>
              <p:nvPr/>
            </p:nvCxnSpPr>
            <p:spPr>
              <a:xfrm>
                <a:off x="666750" y="28575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88" name="Google Shape;488;p22"/>
              <p:cNvSpPr txBox="1"/>
              <p:nvPr/>
            </p:nvSpPr>
            <p:spPr>
              <a:xfrm>
                <a:off x="3095625" y="152400"/>
                <a:ext cx="6192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177 days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65 days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489" name="Google Shape;489;p22"/>
            <p:cNvGrpSpPr/>
            <p:nvPr/>
          </p:nvGrpSpPr>
          <p:grpSpPr>
            <a:xfrm>
              <a:off x="152400" y="1104900"/>
              <a:ext cx="3743400" cy="419100"/>
              <a:chOff x="0" y="0"/>
              <a:chExt cx="3743400" cy="419100"/>
            </a:xfrm>
          </p:grpSpPr>
          <p:sp>
            <p:nvSpPr>
              <p:cNvPr id="490" name="Google Shape;490;p22"/>
              <p:cNvSpPr txBox="1"/>
              <p:nvPr/>
            </p:nvSpPr>
            <p:spPr>
              <a:xfrm>
                <a:off x="0" y="0"/>
                <a:ext cx="3743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Plan Duration — Not Directly Tested</a:t>
                </a:r>
                <a:r>
                  <a:rPr lang="en" sz="750" b="0">
                    <a:solidFill>
                      <a:srgbClr val="A60042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/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491" name="Google Shape;491;p22"/>
              <p:cNvCxnSpPr/>
              <p:nvPr/>
            </p:nvCxnSpPr>
            <p:spPr>
              <a:xfrm>
                <a:off x="95250" y="342900"/>
                <a:ext cx="28575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2" name="Google Shape;492;p22"/>
              <p:cNvCxnSpPr/>
              <p:nvPr/>
            </p:nvCxnSpPr>
            <p:spPr>
              <a:xfrm>
                <a:off x="1238250" y="228600"/>
                <a:ext cx="14289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93" name="Google Shape;493;p22"/>
              <p:cNvSpPr/>
              <p:nvPr/>
            </p:nvSpPr>
            <p:spPr>
              <a:xfrm>
                <a:off x="1857375" y="171450"/>
                <a:ext cx="714300" cy="1143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94" name="Google Shape;494;p22"/>
              <p:cNvCxnSpPr/>
              <p:nvPr/>
            </p:nvCxnSpPr>
            <p:spPr>
              <a:xfrm>
                <a:off x="2238375" y="1714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5" name="Google Shape;495;p22"/>
              <p:cNvCxnSpPr/>
              <p:nvPr/>
            </p:nvCxnSpPr>
            <p:spPr>
              <a:xfrm>
                <a:off x="238125" y="323850"/>
                <a:ext cx="8097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96" name="Google Shape;496;p22"/>
              <p:cNvSpPr/>
              <p:nvPr/>
            </p:nvSpPr>
            <p:spPr>
              <a:xfrm>
                <a:off x="428625" y="285750"/>
                <a:ext cx="362100" cy="76200"/>
              </a:xfrm>
              <a:prstGeom prst="roundRect">
                <a:avLst>
                  <a:gd name="adj" fmla="val 25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97" name="Google Shape;497;p22"/>
              <p:cNvCxnSpPr/>
              <p:nvPr/>
            </p:nvCxnSpPr>
            <p:spPr>
              <a:xfrm>
                <a:off x="609600" y="28575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98" name="Google Shape;498;p22"/>
              <p:cNvSpPr txBox="1"/>
              <p:nvPr/>
            </p:nvSpPr>
            <p:spPr>
              <a:xfrm>
                <a:off x="3095625" y="152400"/>
                <a:ext cx="6192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Not Tested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Not Tested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499" name="Google Shape;499;p22"/>
            <p:cNvGrpSpPr/>
            <p:nvPr/>
          </p:nvGrpSpPr>
          <p:grpSpPr>
            <a:xfrm>
              <a:off x="152400" y="1771650"/>
              <a:ext cx="3743400" cy="419100"/>
              <a:chOff x="0" y="0"/>
              <a:chExt cx="3743400" cy="419100"/>
            </a:xfrm>
          </p:grpSpPr>
          <p:sp>
            <p:nvSpPr>
              <p:cNvPr id="500" name="Google Shape;500;p22"/>
              <p:cNvSpPr txBox="1"/>
              <p:nvPr/>
            </p:nvSpPr>
            <p:spPr>
              <a:xfrm>
                <a:off x="0" y="0"/>
                <a:ext cx="3743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Plan Amount (₹)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501" name="Google Shape;501;p22"/>
              <p:cNvCxnSpPr/>
              <p:nvPr/>
            </p:nvCxnSpPr>
            <p:spPr>
              <a:xfrm>
                <a:off x="95250" y="342900"/>
                <a:ext cx="28575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02" name="Google Shape;502;p22"/>
              <p:cNvCxnSpPr/>
              <p:nvPr/>
            </p:nvCxnSpPr>
            <p:spPr>
              <a:xfrm>
                <a:off x="1047750" y="228600"/>
                <a:ext cx="15240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03" name="Google Shape;503;p22"/>
              <p:cNvSpPr/>
              <p:nvPr/>
            </p:nvSpPr>
            <p:spPr>
              <a:xfrm>
                <a:off x="1571625" y="171450"/>
                <a:ext cx="762000" cy="1143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04" name="Google Shape;504;p22"/>
              <p:cNvCxnSpPr/>
              <p:nvPr/>
            </p:nvCxnSpPr>
            <p:spPr>
              <a:xfrm>
                <a:off x="1952625" y="1714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05" name="Google Shape;505;p22"/>
              <p:cNvCxnSpPr/>
              <p:nvPr/>
            </p:nvCxnSpPr>
            <p:spPr>
              <a:xfrm>
                <a:off x="381000" y="323850"/>
                <a:ext cx="13335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06" name="Google Shape;506;p22"/>
              <p:cNvSpPr/>
              <p:nvPr/>
            </p:nvSpPr>
            <p:spPr>
              <a:xfrm>
                <a:off x="762000" y="285750"/>
                <a:ext cx="571500" cy="76200"/>
              </a:xfrm>
              <a:prstGeom prst="roundRect">
                <a:avLst>
                  <a:gd name="adj" fmla="val 25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07" name="Google Shape;507;p22"/>
              <p:cNvCxnSpPr/>
              <p:nvPr/>
            </p:nvCxnSpPr>
            <p:spPr>
              <a:xfrm>
                <a:off x="1047750" y="28575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08" name="Google Shape;508;p22"/>
              <p:cNvSpPr txBox="1"/>
              <p:nvPr/>
            </p:nvSpPr>
            <p:spPr>
              <a:xfrm>
                <a:off x="3095625" y="152400"/>
                <a:ext cx="6192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₹4,697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₹2,755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509" name="Google Shape;509;p22"/>
            <p:cNvGrpSpPr/>
            <p:nvPr/>
          </p:nvGrpSpPr>
          <p:grpSpPr>
            <a:xfrm>
              <a:off x="152400" y="2438400"/>
              <a:ext cx="3743400" cy="419100"/>
              <a:chOff x="0" y="0"/>
              <a:chExt cx="3743400" cy="419100"/>
            </a:xfrm>
          </p:grpSpPr>
          <p:sp>
            <p:nvSpPr>
              <p:cNvPr id="510" name="Google Shape;510;p22"/>
              <p:cNvSpPr txBox="1"/>
              <p:nvPr/>
            </p:nvSpPr>
            <p:spPr>
              <a:xfrm>
                <a:off x="0" y="0"/>
                <a:ext cx="3743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Payment Gap (₹) — Not Significant</a:t>
                </a:r>
                <a:r>
                  <a:rPr lang="en" sz="750" b="0">
                    <a:solidFill>
                      <a:srgbClr val="A60042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/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511" name="Google Shape;511;p22"/>
              <p:cNvCxnSpPr/>
              <p:nvPr/>
            </p:nvCxnSpPr>
            <p:spPr>
              <a:xfrm>
                <a:off x="95250" y="342900"/>
                <a:ext cx="28575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12" name="Google Shape;512;p22"/>
              <p:cNvCxnSpPr/>
              <p:nvPr/>
            </p:nvCxnSpPr>
            <p:spPr>
              <a:xfrm>
                <a:off x="190500" y="228600"/>
                <a:ext cx="6192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13" name="Google Shape;513;p22"/>
              <p:cNvSpPr/>
              <p:nvPr/>
            </p:nvSpPr>
            <p:spPr>
              <a:xfrm>
                <a:off x="285750" y="171450"/>
                <a:ext cx="285900" cy="1143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14" name="Google Shape;514;p22"/>
              <p:cNvCxnSpPr/>
              <p:nvPr/>
            </p:nvCxnSpPr>
            <p:spPr>
              <a:xfrm>
                <a:off x="428625" y="1714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15" name="Google Shape;515;p22"/>
              <p:cNvCxnSpPr/>
              <p:nvPr/>
            </p:nvCxnSpPr>
            <p:spPr>
              <a:xfrm>
                <a:off x="714375" y="323850"/>
                <a:ext cx="17622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16" name="Google Shape;516;p22"/>
              <p:cNvSpPr/>
              <p:nvPr/>
            </p:nvSpPr>
            <p:spPr>
              <a:xfrm>
                <a:off x="1285875" y="285750"/>
                <a:ext cx="809700" cy="76200"/>
              </a:xfrm>
              <a:prstGeom prst="roundRect">
                <a:avLst>
                  <a:gd name="adj" fmla="val 25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17" name="Google Shape;517;p22"/>
              <p:cNvCxnSpPr/>
              <p:nvPr/>
            </p:nvCxnSpPr>
            <p:spPr>
              <a:xfrm>
                <a:off x="1666875" y="28575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18" name="Google Shape;518;p22"/>
              <p:cNvSpPr txBox="1"/>
              <p:nvPr/>
            </p:nvSpPr>
            <p:spPr>
              <a:xfrm>
                <a:off x="3095625" y="152400"/>
                <a:ext cx="6192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₹201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₹336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519" name="Google Shape;519;p22"/>
            <p:cNvGrpSpPr/>
            <p:nvPr/>
          </p:nvGrpSpPr>
          <p:grpSpPr>
            <a:xfrm>
              <a:off x="152400" y="3105150"/>
              <a:ext cx="3743400" cy="419100"/>
              <a:chOff x="0" y="0"/>
              <a:chExt cx="3743400" cy="419100"/>
            </a:xfrm>
          </p:grpSpPr>
          <p:sp>
            <p:nvSpPr>
              <p:cNvPr id="520" name="Google Shape;520;p22"/>
              <p:cNvSpPr txBox="1"/>
              <p:nvPr/>
            </p:nvSpPr>
            <p:spPr>
              <a:xfrm>
                <a:off x="0" y="0"/>
                <a:ext cx="3743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Member Age (Years)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521" name="Google Shape;521;p22"/>
              <p:cNvCxnSpPr/>
              <p:nvPr/>
            </p:nvCxnSpPr>
            <p:spPr>
              <a:xfrm>
                <a:off x="95250" y="342900"/>
                <a:ext cx="28575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22" name="Google Shape;522;p22"/>
              <p:cNvCxnSpPr/>
              <p:nvPr/>
            </p:nvCxnSpPr>
            <p:spPr>
              <a:xfrm>
                <a:off x="1143000" y="228600"/>
                <a:ext cx="14289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23" name="Google Shape;523;p22"/>
              <p:cNvSpPr/>
              <p:nvPr/>
            </p:nvSpPr>
            <p:spPr>
              <a:xfrm>
                <a:off x="1666875" y="171450"/>
                <a:ext cx="619200" cy="1143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24" name="Google Shape;524;p22"/>
              <p:cNvCxnSpPr/>
              <p:nvPr/>
            </p:nvCxnSpPr>
            <p:spPr>
              <a:xfrm>
                <a:off x="1952625" y="171450"/>
                <a:ext cx="0" cy="11430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25" name="Google Shape;525;p22"/>
              <p:cNvCxnSpPr/>
              <p:nvPr/>
            </p:nvCxnSpPr>
            <p:spPr>
              <a:xfrm>
                <a:off x="762000" y="323850"/>
                <a:ext cx="14289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26" name="Google Shape;526;p22"/>
              <p:cNvSpPr/>
              <p:nvPr/>
            </p:nvSpPr>
            <p:spPr>
              <a:xfrm>
                <a:off x="1190625" y="285750"/>
                <a:ext cx="571500" cy="76200"/>
              </a:xfrm>
              <a:prstGeom prst="roundRect">
                <a:avLst>
                  <a:gd name="adj" fmla="val 25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27" name="Google Shape;527;p22"/>
              <p:cNvCxnSpPr/>
              <p:nvPr/>
            </p:nvCxnSpPr>
            <p:spPr>
              <a:xfrm>
                <a:off x="1476375" y="285750"/>
                <a:ext cx="0" cy="7620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28" name="Google Shape;528;p22"/>
              <p:cNvSpPr txBox="1"/>
              <p:nvPr/>
            </p:nvSpPr>
            <p:spPr>
              <a:xfrm>
                <a:off x="3095625" y="152400"/>
                <a:ext cx="6192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N/A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N/A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529" name="Google Shape;529;p22"/>
          <p:cNvGrpSpPr/>
          <p:nvPr/>
        </p:nvGrpSpPr>
        <p:grpSpPr>
          <a:xfrm>
            <a:off x="4714875" y="971550"/>
            <a:ext cx="4048200" cy="3809850"/>
            <a:chOff x="0" y="0"/>
            <a:chExt cx="4048200" cy="3809850"/>
          </a:xfrm>
        </p:grpSpPr>
        <p:sp>
          <p:nvSpPr>
            <p:cNvPr id="530" name="Google Shape;530;p22"/>
            <p:cNvSpPr txBox="1"/>
            <p:nvPr/>
          </p:nvSpPr>
          <p:spPr>
            <a:xfrm>
              <a:off x="0" y="0"/>
              <a:ext cx="40482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Statistical Test Results (Welch's Two-Sample T-Test)</a:t>
              </a:r>
              <a:endParaRPr sz="9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531" name="Google Shape;531;p22"/>
            <p:cNvSpPr txBox="1"/>
            <p:nvPr/>
          </p:nvSpPr>
          <p:spPr>
            <a:xfrm>
              <a:off x="0" y="190500"/>
              <a:ext cx="4048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94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rPr>
                <a:t>Welch's T-Tests: Key significant results:
Membership Duration: Active=177d vs Churned=65d (t=-9.44, p&lt;0.001)
Plan Amount: Active=₹4,697 vs Churned=₹2,755 (t=-4.64, p&lt;0.001)
Payment Gap: NOT significant (p=0.282)</a:t>
              </a:r>
              <a:endParaRPr sz="694" b="0">
                <a:solidFill>
                  <a:srgbClr val="5555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532" name="Google Shape;532;p22"/>
            <p:cNvGrpSpPr/>
            <p:nvPr/>
          </p:nvGrpSpPr>
          <p:grpSpPr>
            <a:xfrm>
              <a:off x="0" y="400050"/>
              <a:ext cx="4048200" cy="1476450"/>
              <a:chOff x="0" y="0"/>
              <a:chExt cx="4048200" cy="1476450"/>
            </a:xfrm>
          </p:grpSpPr>
          <p:sp>
            <p:nvSpPr>
              <p:cNvPr id="533" name="Google Shape;533;p22"/>
              <p:cNvSpPr/>
              <p:nvPr/>
            </p:nvSpPr>
            <p:spPr>
              <a:xfrm>
                <a:off x="0" y="0"/>
                <a:ext cx="40482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2"/>
              <p:cNvSpPr txBox="1"/>
              <p:nvPr/>
            </p:nvSpPr>
            <p:spPr>
              <a:xfrm>
                <a:off x="114300" y="38100"/>
                <a:ext cx="1314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Metric / Variable</a:t>
                </a:r>
                <a:endParaRPr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35" name="Google Shape;535;p22"/>
              <p:cNvSpPr txBox="1"/>
              <p:nvPr/>
            </p:nvSpPr>
            <p:spPr>
              <a:xfrm>
                <a:off x="1428750" y="38100"/>
                <a:ext cx="8097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Active Mean</a:t>
                </a:r>
                <a:endParaRPr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36" name="Google Shape;536;p22"/>
              <p:cNvSpPr txBox="1"/>
              <p:nvPr/>
            </p:nvSpPr>
            <p:spPr>
              <a:xfrm>
                <a:off x="2286000" y="38100"/>
                <a:ext cx="857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Churned Mean</a:t>
                </a:r>
                <a:endParaRPr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37" name="Google Shape;537;p22"/>
              <p:cNvSpPr txBox="1"/>
              <p:nvPr/>
            </p:nvSpPr>
            <p:spPr>
              <a:xfrm>
                <a:off x="3190875" y="38100"/>
                <a:ext cx="7620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p-value</a:t>
                </a:r>
                <a:endParaRPr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38" name="Google Shape;538;p22"/>
              <p:cNvSpPr/>
              <p:nvPr/>
            </p:nvSpPr>
            <p:spPr>
              <a:xfrm>
                <a:off x="0" y="247650"/>
                <a:ext cx="4048200" cy="238200"/>
              </a:xfrm>
              <a:prstGeom prst="rect">
                <a:avLst/>
              </a:prstGeom>
              <a:solidFill>
                <a:srgbClr val="F0F4F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22"/>
              <p:cNvSpPr txBox="1"/>
              <p:nvPr/>
            </p:nvSpPr>
            <p:spPr>
              <a:xfrm>
                <a:off x="114300" y="285750"/>
                <a:ext cx="1314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Membership Duration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40" name="Google Shape;540;p22"/>
              <p:cNvSpPr txBox="1"/>
              <p:nvPr/>
            </p:nvSpPr>
            <p:spPr>
              <a:xfrm>
                <a:off x="1428750" y="285750"/>
                <a:ext cx="8097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177 days (5.9 mo)</a:t>
                </a:r>
                <a:endParaRPr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41" name="Google Shape;541;p22"/>
              <p:cNvSpPr txBox="1"/>
              <p:nvPr/>
            </p:nvSpPr>
            <p:spPr>
              <a:xfrm>
                <a:off x="2286000" y="285750"/>
                <a:ext cx="857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65 days (2.2 mo)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42" name="Google Shape;542;p22"/>
              <p:cNvSpPr txBox="1"/>
              <p:nvPr/>
            </p:nvSpPr>
            <p:spPr>
              <a:xfrm>
                <a:off x="3190875" y="285750"/>
                <a:ext cx="7620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 &lt; 0.001 *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43" name="Google Shape;543;p22"/>
              <p:cNvSpPr/>
              <p:nvPr/>
            </p:nvSpPr>
            <p:spPr>
              <a:xfrm>
                <a:off x="0" y="495300"/>
                <a:ext cx="4048200" cy="238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22"/>
              <p:cNvSpPr txBox="1"/>
              <p:nvPr/>
            </p:nvSpPr>
            <p:spPr>
              <a:xfrm>
                <a:off x="114300" y="533400"/>
                <a:ext cx="1314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Plan Duration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45" name="Google Shape;545;p22"/>
              <p:cNvSpPr txBox="1"/>
              <p:nvPr/>
            </p:nvSpPr>
            <p:spPr>
              <a:xfrm>
                <a:off x="1428750" y="533400"/>
                <a:ext cx="8097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N/A</a:t>
                </a:r>
                <a:endParaRPr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46" name="Google Shape;546;p22"/>
              <p:cNvSpPr txBox="1"/>
              <p:nvPr/>
            </p:nvSpPr>
            <p:spPr>
              <a:xfrm>
                <a:off x="2286000" y="533400"/>
                <a:ext cx="857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N/A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47" name="Google Shape;547;p22"/>
              <p:cNvSpPr txBox="1"/>
              <p:nvPr/>
            </p:nvSpPr>
            <p:spPr>
              <a:xfrm>
                <a:off x="3190875" y="533400"/>
                <a:ext cx="7620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 &lt; 0.001 *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48" name="Google Shape;548;p22"/>
              <p:cNvSpPr/>
              <p:nvPr/>
            </p:nvSpPr>
            <p:spPr>
              <a:xfrm>
                <a:off x="0" y="742950"/>
                <a:ext cx="4048200" cy="238200"/>
              </a:xfrm>
              <a:prstGeom prst="rect">
                <a:avLst/>
              </a:prstGeom>
              <a:solidFill>
                <a:srgbClr val="F0F4F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22"/>
              <p:cNvSpPr txBox="1"/>
              <p:nvPr/>
            </p:nvSpPr>
            <p:spPr>
              <a:xfrm>
                <a:off x="114300" y="781050"/>
                <a:ext cx="1314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Plan Amount</a:t>
                </a:r>
                <a:endParaRPr sz="750" b="0">
                  <a:solidFill>
                    <a:srgbClr val="333333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550" name="Google Shape;550;p22"/>
              <p:cNvSpPr txBox="1"/>
              <p:nvPr/>
            </p:nvSpPr>
            <p:spPr>
              <a:xfrm>
                <a:off x="1428750" y="781050"/>
                <a:ext cx="8097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 dirty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₹4,697</a:t>
                </a:r>
                <a:endParaRPr sz="750" b="0" dirty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51" name="Google Shape;551;p22"/>
              <p:cNvSpPr txBox="1"/>
              <p:nvPr/>
            </p:nvSpPr>
            <p:spPr>
              <a:xfrm>
                <a:off x="2286000" y="781050"/>
                <a:ext cx="857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₹2,755</a:t>
                </a:r>
                <a:endParaRPr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52" name="Google Shape;552;p22"/>
              <p:cNvSpPr txBox="1"/>
              <p:nvPr/>
            </p:nvSpPr>
            <p:spPr>
              <a:xfrm>
                <a:off x="3190875" y="781050"/>
                <a:ext cx="7620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 &lt; 0.001</a:t>
                </a:r>
                <a:endParaRPr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53" name="Google Shape;553;p22"/>
              <p:cNvSpPr/>
              <p:nvPr/>
            </p:nvSpPr>
            <p:spPr>
              <a:xfrm>
                <a:off x="0" y="990600"/>
                <a:ext cx="4048200" cy="238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22"/>
              <p:cNvSpPr txBox="1"/>
              <p:nvPr/>
            </p:nvSpPr>
            <p:spPr>
              <a:xfrm>
                <a:off x="114300" y="1028700"/>
                <a:ext cx="1314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Payment Gap</a:t>
                </a:r>
                <a:endParaRPr sz="750" b="0">
                  <a:solidFill>
                    <a:srgbClr val="333333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555" name="Google Shape;555;p22"/>
              <p:cNvSpPr txBox="1"/>
              <p:nvPr/>
            </p:nvSpPr>
            <p:spPr>
              <a:xfrm>
                <a:off x="1428750" y="1028700"/>
                <a:ext cx="8097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₹201</a:t>
                </a:r>
                <a:endParaRPr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56" name="Google Shape;556;p22"/>
              <p:cNvSpPr txBox="1"/>
              <p:nvPr/>
            </p:nvSpPr>
            <p:spPr>
              <a:xfrm>
                <a:off x="2286000" y="1028700"/>
                <a:ext cx="857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₹336</a:t>
                </a:r>
                <a:endParaRPr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57" name="Google Shape;557;p22"/>
              <p:cNvSpPr txBox="1"/>
              <p:nvPr/>
            </p:nvSpPr>
            <p:spPr>
              <a:xfrm>
                <a:off x="3190875" y="1028700"/>
                <a:ext cx="7620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 &lt; 0.001</a:t>
                </a:r>
                <a:endParaRPr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58" name="Google Shape;558;p22"/>
              <p:cNvSpPr/>
              <p:nvPr/>
            </p:nvSpPr>
            <p:spPr>
              <a:xfrm>
                <a:off x="0" y="1238250"/>
                <a:ext cx="4048200" cy="238200"/>
              </a:xfrm>
              <a:prstGeom prst="rect">
                <a:avLst/>
              </a:prstGeom>
              <a:solidFill>
                <a:srgbClr val="F0F4F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22"/>
              <p:cNvSpPr txBox="1"/>
              <p:nvPr/>
            </p:nvSpPr>
            <p:spPr>
              <a:xfrm>
                <a:off x="114300" y="1276350"/>
                <a:ext cx="1314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Member Age</a:t>
                </a:r>
                <a:endParaRPr sz="750" b="0">
                  <a:solidFill>
                    <a:srgbClr val="333333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560" name="Google Shape;560;p22"/>
              <p:cNvSpPr txBox="1"/>
              <p:nvPr/>
            </p:nvSpPr>
            <p:spPr>
              <a:xfrm>
                <a:off x="1428750" y="1276350"/>
                <a:ext cx="8097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N/A</a:t>
                </a:r>
                <a:endParaRPr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61" name="Google Shape;561;p22"/>
              <p:cNvSpPr txBox="1"/>
              <p:nvPr/>
            </p:nvSpPr>
            <p:spPr>
              <a:xfrm>
                <a:off x="2286000" y="1276350"/>
                <a:ext cx="8574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N/A</a:t>
                </a:r>
                <a:endParaRPr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562" name="Google Shape;562;p22"/>
              <p:cNvSpPr txBox="1"/>
              <p:nvPr/>
            </p:nvSpPr>
            <p:spPr>
              <a:xfrm>
                <a:off x="3190875" y="1276350"/>
                <a:ext cx="7620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N/A</a:t>
                </a:r>
                <a:endParaRPr sz="7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563" name="Google Shape;563;p22"/>
            <p:cNvGrpSpPr/>
            <p:nvPr/>
          </p:nvGrpSpPr>
          <p:grpSpPr>
            <a:xfrm>
              <a:off x="0" y="2000250"/>
              <a:ext cx="4048200" cy="1809600"/>
              <a:chOff x="0" y="0"/>
              <a:chExt cx="4048200" cy="1809600"/>
            </a:xfrm>
          </p:grpSpPr>
          <p:sp>
            <p:nvSpPr>
              <p:cNvPr id="564" name="Google Shape;564;p22"/>
              <p:cNvSpPr/>
              <p:nvPr/>
            </p:nvSpPr>
            <p:spPr>
              <a:xfrm>
                <a:off x="0" y="0"/>
                <a:ext cx="4048200" cy="1809600"/>
              </a:xfrm>
              <a:prstGeom prst="roundRect">
                <a:avLst>
                  <a:gd name="adj" fmla="val 421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22"/>
              <p:cNvSpPr/>
              <p:nvPr/>
            </p:nvSpPr>
            <p:spPr>
              <a:xfrm>
                <a:off x="0" y="0"/>
                <a:ext cx="57300" cy="1809600"/>
              </a:xfrm>
              <a:prstGeom prst="roundRect">
                <a:avLst>
                  <a:gd name="adj" fmla="val 33333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22"/>
              <p:cNvSpPr txBox="1"/>
              <p:nvPr/>
            </p:nvSpPr>
            <p:spPr>
              <a:xfrm>
                <a:off x="209550" y="171450"/>
                <a:ext cx="36195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KEY STATISTICAL TAKEAWAY</a:t>
                </a:r>
                <a:endParaRPr sz="10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sp>
            <p:nvSpPr>
              <p:cNvPr id="567" name="Google Shape;567;p22"/>
              <p:cNvSpPr txBox="1"/>
              <p:nvPr/>
            </p:nvSpPr>
            <p:spPr>
              <a:xfrm>
                <a:off x="209550" y="457200"/>
                <a:ext cx="36195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FF80A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Membership Duration (t=-9.44, p&lt;0.001) and Plan Amount (t=-4.64, p&lt;0.001) are the strongest discriminators. Active members average ₹4,697 vs ₹2,755 for churned (70% higher spend).</a:t>
                </a:r>
                <a:r>
                  <a:rPr lang="en" sz="1100" b="0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/>
                </a:r>
                <a:endParaRPr sz="1100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3" name="Google Shape;573;p23"/>
          <p:cNvGrpSpPr/>
          <p:nvPr/>
        </p:nvGrpSpPr>
        <p:grpSpPr>
          <a:xfrm>
            <a:off x="476250" y="333375"/>
            <a:ext cx="8191500" cy="647700"/>
            <a:chOff x="0" y="0"/>
            <a:chExt cx="8191500" cy="647700"/>
          </a:xfrm>
        </p:grpSpPr>
        <p:sp>
          <p:nvSpPr>
            <p:cNvPr id="574" name="Google Shape;574;p23"/>
            <p:cNvSpPr txBox="1"/>
            <p:nvPr/>
          </p:nvSpPr>
          <p:spPr>
            <a:xfrm>
              <a:off x="0" y="0"/>
              <a:ext cx="819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Statistical Associations &amp; </a:t>
              </a:r>
              <a:r>
                <a:rPr lang="en" sz="2600">
                  <a:solidFill>
                    <a:srgbClr val="A60042"/>
                  </a:solidFill>
                  <a:latin typeface="Anton"/>
                  <a:ea typeface="Anton"/>
                  <a:cs typeface="Anton"/>
                  <a:sym typeface="Anton"/>
                </a:rPr>
                <a:t>Variance Homogeneity</a:t>
              </a:r>
              <a:endParaRPr sz="260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575" name="Google Shape;575;p23"/>
            <p:cNvSpPr txBox="1"/>
            <p:nvPr/>
          </p:nvSpPr>
          <p:spPr>
            <a:xfrm>
              <a:off x="0" y="419100"/>
              <a:ext cx="819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555555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rPr>
                <a:t>Chi-Square tests prove plan type and duration are strong categorical predictors of churn, while variances remain equal.</a:t>
              </a:r>
              <a:endParaRPr sz="950" b="0">
                <a:solidFill>
                  <a:srgbClr val="555555"/>
                </a:solidFill>
                <a:latin typeface="Work Sans SemiBold"/>
                <a:ea typeface="Work Sans SemiBold"/>
                <a:cs typeface="Work Sans SemiBold"/>
                <a:sym typeface="Work Sans SemiBold"/>
              </a:endParaRPr>
            </a:p>
          </p:txBody>
        </p:sp>
      </p:grpSp>
      <p:grpSp>
        <p:nvGrpSpPr>
          <p:cNvPr id="576" name="Google Shape;576;p23"/>
          <p:cNvGrpSpPr/>
          <p:nvPr/>
        </p:nvGrpSpPr>
        <p:grpSpPr>
          <a:xfrm>
            <a:off x="476250" y="1095375"/>
            <a:ext cx="3981600" cy="3667200"/>
            <a:chOff x="0" y="0"/>
            <a:chExt cx="3981600" cy="3667200"/>
          </a:xfrm>
        </p:grpSpPr>
        <p:sp>
          <p:nvSpPr>
            <p:cNvPr id="577" name="Google Shape;577;p23"/>
            <p:cNvSpPr/>
            <p:nvPr/>
          </p:nvSpPr>
          <p:spPr>
            <a:xfrm>
              <a:off x="0" y="0"/>
              <a:ext cx="3981600" cy="3667200"/>
            </a:xfrm>
            <a:prstGeom prst="roundRect">
              <a:avLst>
                <a:gd name="adj" fmla="val 2077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3"/>
            <p:cNvSpPr/>
            <p:nvPr/>
          </p:nvSpPr>
          <p:spPr>
            <a:xfrm>
              <a:off x="0" y="0"/>
              <a:ext cx="3981600" cy="362100"/>
            </a:xfrm>
            <a:prstGeom prst="roundRect">
              <a:avLst>
                <a:gd name="adj" fmla="val 21052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3"/>
            <p:cNvSpPr/>
            <p:nvPr/>
          </p:nvSpPr>
          <p:spPr>
            <a:xfrm>
              <a:off x="0" y="266700"/>
              <a:ext cx="3981600" cy="954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3"/>
            <p:cNvSpPr txBox="1"/>
            <p:nvPr/>
          </p:nvSpPr>
          <p:spPr>
            <a:xfrm>
              <a:off x="152400" y="76200"/>
              <a:ext cx="36768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CHI-SQUARE TESTS OF INDEPENDENCE</a:t>
              </a:r>
              <a:endParaRPr sz="1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581" name="Google Shape;581;p23"/>
            <p:cNvSpPr txBox="1"/>
            <p:nvPr/>
          </p:nvSpPr>
          <p:spPr>
            <a:xfrm>
              <a:off x="152400" y="438150"/>
              <a:ext cx="36768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38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rPr>
                <a:t>Statistical associations between categorical variables and churn status were evaluated:</a:t>
              </a:r>
              <a:endParaRPr sz="638">
                <a:solidFill>
                  <a:srgbClr val="5555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582" name="Google Shape;582;p23"/>
            <p:cNvGrpSpPr/>
            <p:nvPr/>
          </p:nvGrpSpPr>
          <p:grpSpPr>
            <a:xfrm>
              <a:off x="152400" y="685800"/>
              <a:ext cx="3676800" cy="495300"/>
              <a:chOff x="0" y="0"/>
              <a:chExt cx="3676800" cy="495300"/>
            </a:xfrm>
          </p:grpSpPr>
          <p:sp>
            <p:nvSpPr>
              <p:cNvPr id="583" name="Google Shape;583;p23"/>
              <p:cNvSpPr/>
              <p:nvPr/>
            </p:nvSpPr>
            <p:spPr>
              <a:xfrm>
                <a:off x="0" y="0"/>
                <a:ext cx="367680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0" y="0"/>
                <a:ext cx="47700" cy="495300"/>
              </a:xfrm>
              <a:prstGeom prst="roundRect">
                <a:avLst>
                  <a:gd name="adj" fmla="val 4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23"/>
              <p:cNvSpPr txBox="1"/>
              <p:nvPr/>
            </p:nvSpPr>
            <p:spPr>
              <a:xfrm>
                <a:off x="152400" y="76200"/>
                <a:ext cx="2095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Plan Duration vs Churn</a:t>
                </a:r>
                <a:endParaRPr sz="10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A60042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Strong predictor</a:t>
                </a:r>
                <a:endParaRPr sz="800" b="0">
                  <a:solidFill>
                    <a:srgbClr val="A60042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586" name="Google Shape;586;p23"/>
              <p:cNvSpPr txBox="1"/>
              <p:nvPr/>
            </p:nvSpPr>
            <p:spPr>
              <a:xfrm>
                <a:off x="2286000" y="76200"/>
                <a:ext cx="12384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χ² = 60.16</a:t>
                </a:r>
                <a:endParaRPr sz="12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700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 &lt; 0.001</a:t>
                </a:r>
                <a:endParaRPr sz="700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587" name="Google Shape;587;p23"/>
            <p:cNvGrpSpPr/>
            <p:nvPr/>
          </p:nvGrpSpPr>
          <p:grpSpPr>
            <a:xfrm>
              <a:off x="152400" y="1257300"/>
              <a:ext cx="3676800" cy="495300"/>
              <a:chOff x="0" y="0"/>
              <a:chExt cx="3676800" cy="495300"/>
            </a:xfrm>
          </p:grpSpPr>
          <p:sp>
            <p:nvSpPr>
              <p:cNvPr id="588" name="Google Shape;588;p23"/>
              <p:cNvSpPr/>
              <p:nvPr/>
            </p:nvSpPr>
            <p:spPr>
              <a:xfrm>
                <a:off x="0" y="0"/>
                <a:ext cx="367680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23"/>
              <p:cNvSpPr/>
              <p:nvPr/>
            </p:nvSpPr>
            <p:spPr>
              <a:xfrm>
                <a:off x="0" y="0"/>
                <a:ext cx="47700" cy="495300"/>
              </a:xfrm>
              <a:prstGeom prst="roundRect">
                <a:avLst>
                  <a:gd name="adj" fmla="val 4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23"/>
              <p:cNvSpPr txBox="1"/>
              <p:nvPr/>
            </p:nvSpPr>
            <p:spPr>
              <a:xfrm>
                <a:off x="152400" y="76200"/>
                <a:ext cx="2095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Plan Duration</a:t>
                </a:r>
                <a:endParaRPr sz="10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A60042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Confirmed (χ²=60.16, p&lt;0.001)</a:t>
                </a:r>
                <a:endParaRPr sz="800" b="0">
                  <a:solidFill>
                    <a:srgbClr val="A60042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591" name="Google Shape;591;p23"/>
              <p:cNvSpPr txBox="1"/>
              <p:nvPr/>
            </p:nvSpPr>
            <p:spPr>
              <a:xfrm>
                <a:off x="2286000" y="76200"/>
                <a:ext cx="12384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χ² = 60.16</a:t>
                </a:r>
                <a:endParaRPr sz="12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700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 &lt; 0.001</a:t>
                </a:r>
                <a:endParaRPr sz="700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592" name="Google Shape;592;p23"/>
            <p:cNvGrpSpPr/>
            <p:nvPr/>
          </p:nvGrpSpPr>
          <p:grpSpPr>
            <a:xfrm>
              <a:off x="152400" y="1828800"/>
              <a:ext cx="3676800" cy="495300"/>
              <a:chOff x="0" y="0"/>
              <a:chExt cx="3676800" cy="495300"/>
            </a:xfrm>
          </p:grpSpPr>
          <p:sp>
            <p:nvSpPr>
              <p:cNvPr id="593" name="Google Shape;593;p23"/>
              <p:cNvSpPr/>
              <p:nvPr/>
            </p:nvSpPr>
            <p:spPr>
              <a:xfrm>
                <a:off x="0" y="0"/>
                <a:ext cx="367680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23"/>
              <p:cNvSpPr/>
              <p:nvPr/>
            </p:nvSpPr>
            <p:spPr>
              <a:xfrm>
                <a:off x="0" y="0"/>
                <a:ext cx="47700" cy="495300"/>
              </a:xfrm>
              <a:prstGeom prst="roundRect">
                <a:avLst>
                  <a:gd name="adj" fmla="val 40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23"/>
              <p:cNvSpPr txBox="1"/>
              <p:nvPr/>
            </p:nvSpPr>
            <p:spPr>
              <a:xfrm>
                <a:off x="152400" y="76200"/>
                <a:ext cx="2095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Gender vs Churn</a:t>
                </a:r>
                <a:endParaRPr sz="10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0E1C5D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Not Significant</a:t>
                </a:r>
                <a:endParaRPr sz="800" b="0">
                  <a:solidFill>
                    <a:srgbClr val="0E1C5D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596" name="Google Shape;596;p23"/>
              <p:cNvSpPr txBox="1"/>
              <p:nvPr/>
            </p:nvSpPr>
            <p:spPr>
              <a:xfrm>
                <a:off x="2286000" y="76200"/>
                <a:ext cx="12384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χ² = 0.15</a:t>
                </a:r>
                <a:endParaRPr sz="12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r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700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 = 0.696</a:t>
                </a:r>
                <a:endParaRPr sz="700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597" name="Google Shape;597;p23"/>
            <p:cNvGrpSpPr/>
            <p:nvPr/>
          </p:nvGrpSpPr>
          <p:grpSpPr>
            <a:xfrm>
              <a:off x="152400" y="2438400"/>
              <a:ext cx="3676800" cy="1076400"/>
              <a:chOff x="0" y="0"/>
              <a:chExt cx="3676800" cy="1076400"/>
            </a:xfrm>
          </p:grpSpPr>
          <p:sp>
            <p:nvSpPr>
              <p:cNvPr id="598" name="Google Shape;598;p23"/>
              <p:cNvSpPr/>
              <p:nvPr/>
            </p:nvSpPr>
            <p:spPr>
              <a:xfrm>
                <a:off x="0" y="0"/>
                <a:ext cx="3676800" cy="1076400"/>
              </a:xfrm>
              <a:prstGeom prst="roundRect">
                <a:avLst>
                  <a:gd name="adj" fmla="val 5309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3"/>
              <p:cNvSpPr/>
              <p:nvPr/>
            </p:nvSpPr>
            <p:spPr>
              <a:xfrm>
                <a:off x="152400" y="133350"/>
                <a:ext cx="3372000" cy="19200"/>
              </a:xfrm>
              <a:prstGeom prst="rect">
                <a:avLst/>
              </a:prstGeom>
              <a:solidFill>
                <a:srgbClr val="CBD5E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23"/>
              <p:cNvSpPr txBox="1"/>
              <p:nvPr/>
            </p:nvSpPr>
            <p:spPr>
              <a:xfrm>
                <a:off x="152400" y="228600"/>
                <a:ext cx="33720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Independent Variables (Non-Significant):</a:t>
                </a:r>
                <a:endParaRPr sz="8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Gender (p = 0.696) and Payment Gap (p = 0.282) showed no significant association with churn status.</a:t>
                </a:r>
                <a:endParaRPr sz="80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601" name="Google Shape;601;p23"/>
          <p:cNvGrpSpPr/>
          <p:nvPr/>
        </p:nvGrpSpPr>
        <p:grpSpPr>
          <a:xfrm>
            <a:off x="4686300" y="1095375"/>
            <a:ext cx="3981600" cy="3667200"/>
            <a:chOff x="0" y="0"/>
            <a:chExt cx="3981600" cy="3667200"/>
          </a:xfrm>
        </p:grpSpPr>
        <p:sp>
          <p:nvSpPr>
            <p:cNvPr id="602" name="Google Shape;602;p23"/>
            <p:cNvSpPr/>
            <p:nvPr/>
          </p:nvSpPr>
          <p:spPr>
            <a:xfrm>
              <a:off x="0" y="0"/>
              <a:ext cx="3981600" cy="3667200"/>
            </a:xfrm>
            <a:prstGeom prst="roundRect">
              <a:avLst>
                <a:gd name="adj" fmla="val 2077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0" y="0"/>
              <a:ext cx="3981600" cy="362100"/>
            </a:xfrm>
            <a:prstGeom prst="roundRect">
              <a:avLst>
                <a:gd name="adj" fmla="val 21052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0" y="266700"/>
              <a:ext cx="3981600" cy="95400"/>
            </a:xfrm>
            <a:prstGeom prst="rect">
              <a:avLst/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3"/>
            <p:cNvSpPr txBox="1"/>
            <p:nvPr/>
          </p:nvSpPr>
          <p:spPr>
            <a:xfrm>
              <a:off x="152400" y="76200"/>
              <a:ext cx="36768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HOMOGENEITY OF VARIANCE (LEVENE'S TEST)</a:t>
              </a:r>
              <a:endParaRPr sz="1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grpSp>
          <p:nvGrpSpPr>
            <p:cNvPr id="606" name="Google Shape;606;p23"/>
            <p:cNvGrpSpPr/>
            <p:nvPr/>
          </p:nvGrpSpPr>
          <p:grpSpPr>
            <a:xfrm>
              <a:off x="152400" y="495300"/>
              <a:ext cx="3676800" cy="1762200"/>
              <a:chOff x="0" y="0"/>
              <a:chExt cx="3676800" cy="1762200"/>
            </a:xfrm>
          </p:grpSpPr>
          <p:sp>
            <p:nvSpPr>
              <p:cNvPr id="607" name="Google Shape;607;p23"/>
              <p:cNvSpPr/>
              <p:nvPr/>
            </p:nvSpPr>
            <p:spPr>
              <a:xfrm>
                <a:off x="0" y="0"/>
                <a:ext cx="3676800" cy="1762200"/>
              </a:xfrm>
              <a:prstGeom prst="roundRect">
                <a:avLst>
                  <a:gd name="adj" fmla="val 3243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23"/>
              <p:cNvSpPr/>
              <p:nvPr/>
            </p:nvSpPr>
            <p:spPr>
              <a:xfrm>
                <a:off x="0" y="0"/>
                <a:ext cx="57300" cy="1762200"/>
              </a:xfrm>
              <a:prstGeom prst="roundRect">
                <a:avLst>
                  <a:gd name="adj" fmla="val 33333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 txBox="1"/>
              <p:nvPr/>
            </p:nvSpPr>
            <p:spPr>
              <a:xfrm>
                <a:off x="190500" y="190500"/>
                <a:ext cx="3295800" cy="13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Parametric Assumptions Validated</a:t>
                </a:r>
                <a:endParaRPr sz="12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" sz="850" b="0">
                    <a:solidFill>
                      <a:srgbClr val="E2E8F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Levene's Test verified the homogeneity of variance for all satisfaction variables (</a:t>
                </a:r>
                <a:r>
                  <a:rPr lang="en" sz="8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all p &gt; 0.05</a:t>
                </a:r>
                <a:r>
                  <a:rPr lang="en" sz="850" b="0">
                    <a:solidFill>
                      <a:srgbClr val="E2E8F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).</a:t>
                </a:r>
                <a:endParaRPr sz="850" b="0">
                  <a:solidFill>
                    <a:srgbClr val="E2E8F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94A3B8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This confirms equal variance across groups, validating the robust application of subsequent parametric statistical analyses.</a:t>
                </a:r>
                <a:endParaRPr sz="800" b="0">
                  <a:solidFill>
                    <a:srgbClr val="94A3B8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610" name="Google Shape;610;p23"/>
            <p:cNvGrpSpPr/>
            <p:nvPr/>
          </p:nvGrpSpPr>
          <p:grpSpPr>
            <a:xfrm>
              <a:off x="152400" y="2390775"/>
              <a:ext cx="3676800" cy="1124100"/>
              <a:chOff x="0" y="0"/>
              <a:chExt cx="3676800" cy="1124100"/>
            </a:xfrm>
          </p:grpSpPr>
          <p:sp>
            <p:nvSpPr>
              <p:cNvPr id="611" name="Google Shape;611;p23"/>
              <p:cNvSpPr/>
              <p:nvPr/>
            </p:nvSpPr>
            <p:spPr>
              <a:xfrm>
                <a:off x="0" y="0"/>
                <a:ext cx="3676800" cy="1124100"/>
              </a:xfrm>
              <a:prstGeom prst="roundRect">
                <a:avLst>
                  <a:gd name="adj" fmla="val 5084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23"/>
              <p:cNvSpPr/>
              <p:nvPr/>
            </p:nvSpPr>
            <p:spPr>
              <a:xfrm>
                <a:off x="171450" y="228600"/>
                <a:ext cx="342900" cy="3429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23"/>
              <p:cNvSpPr/>
              <p:nvPr/>
            </p:nvSpPr>
            <p:spPr>
              <a:xfrm>
                <a:off x="266700" y="333375"/>
                <a:ext cx="1524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70000"/>
                    </a:moveTo>
                    <a:lnTo>
                      <a:pt x="375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2382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 txBox="1"/>
              <p:nvPr/>
            </p:nvSpPr>
            <p:spPr>
              <a:xfrm>
                <a:off x="628650" y="190500"/>
                <a:ext cx="28956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Equal Variance Confirmed</a:t>
                </a:r>
                <a:endParaRPr sz="11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" sz="780" b="0">
                    <a:solidFill>
                      <a:srgbClr val="475569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Satisfaction metric variances meet key statistical requirements (p &gt; 0.05 threshold), permitting standard ANOVA and t-test evaluations.</a:t>
                </a:r>
                <a:endParaRPr sz="780" b="0">
                  <a:solidFill>
                    <a:srgbClr val="475569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0" name="Google Shape;620;p24"/>
          <p:cNvGrpSpPr/>
          <p:nvPr/>
        </p:nvGrpSpPr>
        <p:grpSpPr>
          <a:xfrm>
            <a:off x="381000" y="285750"/>
            <a:ext cx="8382000" cy="571650"/>
            <a:chOff x="0" y="0"/>
            <a:chExt cx="8382000" cy="571650"/>
          </a:xfrm>
        </p:grpSpPr>
        <p:sp>
          <p:nvSpPr>
            <p:cNvPr id="621" name="Google Shape;621;p24"/>
            <p:cNvSpPr txBox="1"/>
            <p:nvPr/>
          </p:nvSpPr>
          <p:spPr>
            <a:xfrm>
              <a:off x="0" y="0"/>
              <a:ext cx="8382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20" b="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ANOVA RESULTS &amp; </a:t>
              </a:r>
              <a:r>
                <a:rPr lang="en" sz="2220" b="0">
                  <a:solidFill>
                    <a:srgbClr val="A60042"/>
                  </a:solidFill>
                  <a:latin typeface="Anton"/>
                  <a:ea typeface="Anton"/>
                  <a:cs typeface="Anton"/>
                  <a:sym typeface="Anton"/>
                </a:rPr>
                <a:t>SATISFACTION ANALYSIS</a:t>
              </a:r>
              <a:endParaRPr sz="222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622" name="Google Shape;622;p24"/>
            <p:cNvSpPr txBox="1"/>
            <p:nvPr/>
          </p:nvSpPr>
          <p:spPr>
            <a:xfrm>
              <a:off x="0" y="361950"/>
              <a:ext cx="8382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555555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Evaluating satisfaction variance across Monthly, Quarterly, and Annual membership plans</a:t>
              </a:r>
              <a:endParaRPr sz="950" b="0">
                <a:solidFill>
                  <a:srgbClr val="555555"/>
                </a:solidFill>
                <a:latin typeface="Work Sans Medium"/>
                <a:ea typeface="Work Sans Medium"/>
                <a:cs typeface="Work Sans Medium"/>
                <a:sym typeface="Work Sans Medium"/>
              </a:endParaRPr>
            </a:p>
          </p:txBody>
        </p:sp>
      </p:grpSp>
      <p:grpSp>
        <p:nvGrpSpPr>
          <p:cNvPr id="623" name="Google Shape;623;p24"/>
          <p:cNvGrpSpPr/>
          <p:nvPr/>
        </p:nvGrpSpPr>
        <p:grpSpPr>
          <a:xfrm>
            <a:off x="381000" y="952500"/>
            <a:ext cx="4048200" cy="3638700"/>
            <a:chOff x="0" y="0"/>
            <a:chExt cx="4048200" cy="3638700"/>
          </a:xfrm>
        </p:grpSpPr>
        <p:sp>
          <p:nvSpPr>
            <p:cNvPr id="624" name="Google Shape;624;p24"/>
            <p:cNvSpPr/>
            <p:nvPr/>
          </p:nvSpPr>
          <p:spPr>
            <a:xfrm>
              <a:off x="0" y="0"/>
              <a:ext cx="4048200" cy="1028700"/>
            </a:xfrm>
            <a:prstGeom prst="roundRect">
              <a:avLst>
                <a:gd name="adj" fmla="val 7407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4"/>
            <p:cNvSpPr/>
            <p:nvPr/>
          </p:nvSpPr>
          <p:spPr>
            <a:xfrm>
              <a:off x="0" y="0"/>
              <a:ext cx="57300" cy="1028700"/>
            </a:xfrm>
            <a:prstGeom prst="roundRect">
              <a:avLst>
                <a:gd name="adj" fmla="val 33333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4"/>
            <p:cNvSpPr txBox="1"/>
            <p:nvPr/>
          </p:nvSpPr>
          <p:spPr>
            <a:xfrm>
              <a:off x="190500" y="114300"/>
              <a:ext cx="36672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FF80A0"/>
                  </a:solidFill>
                  <a:latin typeface="Anton"/>
                  <a:ea typeface="Anton"/>
                  <a:cs typeface="Anton"/>
                  <a:sym typeface="Anton"/>
                </a:rPr>
                <a:t>KEY STATISTICAL FINDING</a:t>
              </a:r>
              <a:endParaRPr sz="1200" b="0">
                <a:solidFill>
                  <a:srgbClr val="FF80A0"/>
                </a:solidFill>
                <a:latin typeface="Anton"/>
                <a:ea typeface="Anton"/>
                <a:cs typeface="Anton"/>
                <a:sym typeface="Anton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E2E8F0"/>
                  </a:solidFill>
                  <a:latin typeface="Work Sans"/>
                  <a:ea typeface="Work Sans"/>
                  <a:cs typeface="Work Sans"/>
                  <a:sym typeface="Work Sans"/>
                </a:rPr>
                <a:t>ANOVA results demonstrate that </a:t>
              </a:r>
              <a:r>
                <a:rPr lang="en" sz="8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annual plan members</a:t>
              </a:r>
              <a:r>
                <a:rPr lang="en" sz="850" b="0">
                  <a:solidFill>
                    <a:srgbClr val="E2E8F0"/>
                  </a:solidFill>
                  <a:latin typeface="Work Sans"/>
                  <a:ea typeface="Work Sans"/>
                  <a:cs typeface="Work Sans"/>
                  <a:sym typeface="Work Sans"/>
                </a:rPr>
                <a:t> report significantly higher equipment and overall satisfaction, supporting strategies to migrate monthly members to longer commitments.</a:t>
              </a:r>
              <a:endParaRPr sz="850" b="0">
                <a:solidFill>
                  <a:srgbClr val="E2E8F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627" name="Google Shape;627;p24"/>
            <p:cNvGrpSpPr/>
            <p:nvPr/>
          </p:nvGrpSpPr>
          <p:grpSpPr>
            <a:xfrm>
              <a:off x="0" y="1143000"/>
              <a:ext cx="4048200" cy="2495700"/>
              <a:chOff x="0" y="0"/>
              <a:chExt cx="4048200" cy="2495700"/>
            </a:xfrm>
          </p:grpSpPr>
          <p:sp>
            <p:nvSpPr>
              <p:cNvPr id="628" name="Google Shape;628;p24"/>
              <p:cNvSpPr/>
              <p:nvPr/>
            </p:nvSpPr>
            <p:spPr>
              <a:xfrm>
                <a:off x="0" y="0"/>
                <a:ext cx="4048200" cy="2495700"/>
              </a:xfrm>
              <a:prstGeom prst="roundRect">
                <a:avLst>
                  <a:gd name="adj" fmla="val 3053"/>
                </a:avLst>
              </a:prstGeom>
              <a:solidFill>
                <a:srgbClr val="F8F9FA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24"/>
              <p:cNvSpPr txBox="1"/>
              <p:nvPr/>
            </p:nvSpPr>
            <p:spPr>
              <a:xfrm>
                <a:off x="152400" y="133350"/>
                <a:ext cx="3743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25" b="0">
                    <a:solidFill>
                      <a:srgbClr val="0E1C5D"/>
                    </a:solidFill>
                    <a:latin typeface="Anton"/>
                    <a:ea typeface="Anton"/>
                    <a:cs typeface="Anton"/>
                    <a:sym typeface="Anton"/>
                  </a:rPr>
                  <a:t>ONE-WAY ANOVA BREAKDOWN</a:t>
                </a:r>
                <a:endParaRPr sz="925" b="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endParaRPr>
              </a:p>
              <a:p>
                <a:pPr marL="0" lvl="0" indent="0" algn="l" rtl="0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lang="en" sz="694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Tested whether satisfaction scores differed across plan tiers:</a:t>
                </a:r>
                <a:endParaRPr sz="694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grpSp>
            <p:nvGrpSpPr>
              <p:cNvPr id="630" name="Google Shape;630;p24"/>
              <p:cNvGrpSpPr/>
              <p:nvPr/>
            </p:nvGrpSpPr>
            <p:grpSpPr>
              <a:xfrm>
                <a:off x="152400" y="495300"/>
                <a:ext cx="3743400" cy="419100"/>
                <a:chOff x="0" y="0"/>
                <a:chExt cx="3743400" cy="419100"/>
              </a:xfrm>
            </p:grpSpPr>
            <p:sp>
              <p:nvSpPr>
                <p:cNvPr id="631" name="Google Shape;631;p24"/>
                <p:cNvSpPr/>
                <p:nvPr/>
              </p:nvSpPr>
              <p:spPr>
                <a:xfrm>
                  <a:off x="0" y="0"/>
                  <a:ext cx="3743400" cy="419100"/>
                </a:xfrm>
                <a:prstGeom prst="roundRect">
                  <a:avLst>
                    <a:gd name="adj" fmla="val 13636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" name="Google Shape;632;p24"/>
                <p:cNvSpPr/>
                <p:nvPr/>
              </p:nvSpPr>
              <p:spPr>
                <a:xfrm>
                  <a:off x="0" y="0"/>
                  <a:ext cx="38100" cy="4191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A60042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" name="Google Shape;633;p24"/>
                <p:cNvSpPr txBox="1"/>
                <p:nvPr/>
              </p:nvSpPr>
              <p:spPr>
                <a:xfrm>
                  <a:off x="114300" y="57150"/>
                  <a:ext cx="24765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5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Equipment Satisfaction</a:t>
                  </a:r>
                  <a:endParaRPr sz="8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50" b="0">
                      <a:solidFill>
                        <a:srgbClr val="555555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F = 4.344, p = 0.0186</a:t>
                  </a:r>
                  <a:endParaRPr sz="75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634" name="Google Shape;634;p24"/>
                <p:cNvSpPr/>
                <p:nvPr/>
              </p:nvSpPr>
              <p:spPr>
                <a:xfrm>
                  <a:off x="2762250" y="114300"/>
                  <a:ext cx="857400" cy="1905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A60042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24"/>
                <p:cNvSpPr txBox="1"/>
                <p:nvPr/>
              </p:nvSpPr>
              <p:spPr>
                <a:xfrm>
                  <a:off x="2762250" y="114300"/>
                  <a:ext cx="8574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00" b="1">
                      <a:solidFill>
                        <a:srgbClr val="A60042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p &lt; 0.05 *</a:t>
                  </a:r>
                  <a:endParaRPr sz="7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636" name="Google Shape;636;p24"/>
              <p:cNvGrpSpPr/>
              <p:nvPr/>
            </p:nvGrpSpPr>
            <p:grpSpPr>
              <a:xfrm>
                <a:off x="152400" y="971550"/>
                <a:ext cx="3743400" cy="419100"/>
                <a:chOff x="0" y="0"/>
                <a:chExt cx="3743400" cy="419100"/>
              </a:xfrm>
            </p:grpSpPr>
            <p:sp>
              <p:nvSpPr>
                <p:cNvPr id="637" name="Google Shape;637;p24"/>
                <p:cNvSpPr/>
                <p:nvPr/>
              </p:nvSpPr>
              <p:spPr>
                <a:xfrm>
                  <a:off x="0" y="0"/>
                  <a:ext cx="3743400" cy="419100"/>
                </a:xfrm>
                <a:prstGeom prst="roundRect">
                  <a:avLst>
                    <a:gd name="adj" fmla="val 13636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8" name="Google Shape;638;p24"/>
                <p:cNvSpPr/>
                <p:nvPr/>
              </p:nvSpPr>
              <p:spPr>
                <a:xfrm>
                  <a:off x="0" y="0"/>
                  <a:ext cx="38100" cy="4191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A60042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" name="Google Shape;639;p24"/>
                <p:cNvSpPr txBox="1"/>
                <p:nvPr/>
              </p:nvSpPr>
              <p:spPr>
                <a:xfrm>
                  <a:off x="114300" y="57150"/>
                  <a:ext cx="24765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5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Overall Satisfaction</a:t>
                  </a:r>
                  <a:endParaRPr sz="8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50" b="0">
                      <a:solidFill>
                        <a:srgbClr val="555555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F = 4.887, p = 0.0118</a:t>
                  </a:r>
                  <a:endParaRPr sz="75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640" name="Google Shape;640;p24"/>
                <p:cNvSpPr/>
                <p:nvPr/>
              </p:nvSpPr>
              <p:spPr>
                <a:xfrm>
                  <a:off x="2762250" y="114300"/>
                  <a:ext cx="857400" cy="1905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A60042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1" name="Google Shape;641;p24"/>
                <p:cNvSpPr txBox="1"/>
                <p:nvPr/>
              </p:nvSpPr>
              <p:spPr>
                <a:xfrm>
                  <a:off x="2762250" y="114300"/>
                  <a:ext cx="8574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00" b="1">
                      <a:solidFill>
                        <a:srgbClr val="A60042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p &lt; 0.05 *</a:t>
                  </a:r>
                  <a:endParaRPr sz="7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642" name="Google Shape;642;p24"/>
              <p:cNvGrpSpPr/>
              <p:nvPr/>
            </p:nvGrpSpPr>
            <p:grpSpPr>
              <a:xfrm>
                <a:off x="152400" y="1447800"/>
                <a:ext cx="3743400" cy="419100"/>
                <a:chOff x="0" y="0"/>
                <a:chExt cx="3743400" cy="419100"/>
              </a:xfrm>
            </p:grpSpPr>
            <p:sp>
              <p:nvSpPr>
                <p:cNvPr id="643" name="Google Shape;643;p24"/>
                <p:cNvSpPr/>
                <p:nvPr/>
              </p:nvSpPr>
              <p:spPr>
                <a:xfrm>
                  <a:off x="0" y="0"/>
                  <a:ext cx="3743400" cy="419100"/>
                </a:xfrm>
                <a:prstGeom prst="roundRect">
                  <a:avLst>
                    <a:gd name="adj" fmla="val 13636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4" name="Google Shape;644;p24"/>
                <p:cNvSpPr/>
                <p:nvPr/>
              </p:nvSpPr>
              <p:spPr>
                <a:xfrm>
                  <a:off x="0" y="0"/>
                  <a:ext cx="38100" cy="4191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E1C5D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24"/>
                <p:cNvSpPr txBox="1"/>
                <p:nvPr/>
              </p:nvSpPr>
              <p:spPr>
                <a:xfrm>
                  <a:off x="114300" y="57150"/>
                  <a:ext cx="24765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5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Value for Money</a:t>
                  </a:r>
                  <a:endParaRPr sz="8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50" b="0">
                      <a:solidFill>
                        <a:srgbClr val="555555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Marginal significance (p = 0.0552)</a:t>
                  </a:r>
                  <a:endParaRPr sz="75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646" name="Google Shape;646;p24"/>
                <p:cNvSpPr/>
                <p:nvPr/>
              </p:nvSpPr>
              <p:spPr>
                <a:xfrm>
                  <a:off x="2762250" y="114300"/>
                  <a:ext cx="857400" cy="1905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E1C5D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24"/>
                <p:cNvSpPr txBox="1"/>
                <p:nvPr/>
              </p:nvSpPr>
              <p:spPr>
                <a:xfrm>
                  <a:off x="2762250" y="114300"/>
                  <a:ext cx="8574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0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Marginal</a:t>
                  </a:r>
                  <a:endParaRPr sz="7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648" name="Google Shape;648;p24"/>
              <p:cNvGrpSpPr/>
              <p:nvPr/>
            </p:nvGrpSpPr>
            <p:grpSpPr>
              <a:xfrm>
                <a:off x="152400" y="1924050"/>
                <a:ext cx="3743400" cy="419100"/>
                <a:chOff x="0" y="0"/>
                <a:chExt cx="3743400" cy="419100"/>
              </a:xfrm>
            </p:grpSpPr>
            <p:sp>
              <p:nvSpPr>
                <p:cNvPr id="649" name="Google Shape;649;p24"/>
                <p:cNvSpPr/>
                <p:nvPr/>
              </p:nvSpPr>
              <p:spPr>
                <a:xfrm>
                  <a:off x="0" y="0"/>
                  <a:ext cx="3743400" cy="419100"/>
                </a:xfrm>
                <a:prstGeom prst="roundRect">
                  <a:avLst>
                    <a:gd name="adj" fmla="val 13636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24"/>
                <p:cNvSpPr/>
                <p:nvPr/>
              </p:nvSpPr>
              <p:spPr>
                <a:xfrm>
                  <a:off x="0" y="0"/>
                  <a:ext cx="38100" cy="4191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94A3B8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1" name="Google Shape;651;p24"/>
                <p:cNvSpPr txBox="1"/>
                <p:nvPr/>
              </p:nvSpPr>
              <p:spPr>
                <a:xfrm>
                  <a:off x="114300" y="57150"/>
                  <a:ext cx="24765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5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Trainer Rating &amp; Renewal Intent</a:t>
                  </a:r>
                  <a:endParaRPr sz="8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50" b="0">
                      <a:solidFill>
                        <a:srgbClr val="555555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No significant difference (p = 0.4738 &amp; p = 0.4760)</a:t>
                  </a:r>
                  <a:endParaRPr sz="75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  <p:sp>
              <p:nvSpPr>
                <p:cNvPr id="652" name="Google Shape;652;p24"/>
                <p:cNvSpPr/>
                <p:nvPr/>
              </p:nvSpPr>
              <p:spPr>
                <a:xfrm>
                  <a:off x="2762250" y="114300"/>
                  <a:ext cx="857400" cy="1905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64748B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24"/>
                <p:cNvSpPr txBox="1"/>
                <p:nvPr/>
              </p:nvSpPr>
              <p:spPr>
                <a:xfrm>
                  <a:off x="2762250" y="114300"/>
                  <a:ext cx="8574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00" b="1">
                      <a:solidFill>
                        <a:srgbClr val="64748B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Not Sig.</a:t>
                  </a:r>
                  <a:endParaRPr sz="700" b="1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</p:grpSp>
      </p:grpSp>
      <p:grpSp>
        <p:nvGrpSpPr>
          <p:cNvPr id="654" name="Google Shape;654;p24"/>
          <p:cNvGrpSpPr/>
          <p:nvPr/>
        </p:nvGrpSpPr>
        <p:grpSpPr>
          <a:xfrm>
            <a:off x="4714875" y="952500"/>
            <a:ext cx="4048200" cy="3638550"/>
            <a:chOff x="0" y="0"/>
            <a:chExt cx="4048200" cy="3638550"/>
          </a:xfrm>
        </p:grpSpPr>
        <p:grpSp>
          <p:nvGrpSpPr>
            <p:cNvPr id="655" name="Google Shape;655;p24"/>
            <p:cNvGrpSpPr/>
            <p:nvPr/>
          </p:nvGrpSpPr>
          <p:grpSpPr>
            <a:xfrm>
              <a:off x="0" y="0"/>
              <a:ext cx="4048200" cy="2019300"/>
              <a:chOff x="0" y="0"/>
              <a:chExt cx="4048200" cy="2019300"/>
            </a:xfrm>
          </p:grpSpPr>
          <p:sp>
            <p:nvSpPr>
              <p:cNvPr id="656" name="Google Shape;656;p24"/>
              <p:cNvSpPr/>
              <p:nvPr/>
            </p:nvSpPr>
            <p:spPr>
              <a:xfrm>
                <a:off x="0" y="0"/>
                <a:ext cx="4048200" cy="2019300"/>
              </a:xfrm>
              <a:prstGeom prst="roundRect">
                <a:avLst>
                  <a:gd name="adj" fmla="val 3773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24"/>
              <p:cNvSpPr/>
              <p:nvPr/>
            </p:nvSpPr>
            <p:spPr>
              <a:xfrm>
                <a:off x="0" y="0"/>
                <a:ext cx="404820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24"/>
              <p:cNvSpPr/>
              <p:nvPr/>
            </p:nvSpPr>
            <p:spPr>
              <a:xfrm>
                <a:off x="0" y="152400"/>
                <a:ext cx="4048200" cy="1143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24"/>
              <p:cNvSpPr txBox="1"/>
              <p:nvPr/>
            </p:nvSpPr>
            <p:spPr>
              <a:xfrm>
                <a:off x="114300" y="38100"/>
                <a:ext cx="1524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SATISFACTION METRIC</a:t>
                </a:r>
                <a:endParaRPr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60" name="Google Shape;660;p24"/>
              <p:cNvSpPr txBox="1"/>
              <p:nvPr/>
            </p:nvSpPr>
            <p:spPr>
              <a:xfrm>
                <a:off x="1714500" y="38100"/>
                <a:ext cx="6192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F-RATIO</a:t>
                </a:r>
                <a:endParaRPr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61" name="Google Shape;661;p24"/>
              <p:cNvSpPr txBox="1"/>
              <p:nvPr/>
            </p:nvSpPr>
            <p:spPr>
              <a:xfrm>
                <a:off x="2381250" y="38100"/>
                <a:ext cx="666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P-VALUE</a:t>
                </a:r>
                <a:endParaRPr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62" name="Google Shape;662;p24"/>
              <p:cNvSpPr txBox="1"/>
              <p:nvPr/>
            </p:nvSpPr>
            <p:spPr>
              <a:xfrm>
                <a:off x="3095625" y="38100"/>
                <a:ext cx="8382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SIGNIFICANCE</a:t>
                </a:r>
                <a:endParaRPr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63" name="Google Shape;663;p24"/>
              <p:cNvSpPr/>
              <p:nvPr/>
            </p:nvSpPr>
            <p:spPr>
              <a:xfrm>
                <a:off x="0" y="266700"/>
                <a:ext cx="4048200" cy="324000"/>
              </a:xfrm>
              <a:prstGeom prst="rect">
                <a:avLst/>
              </a:prstGeom>
              <a:solidFill>
                <a:srgbClr val="F0F4F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24"/>
              <p:cNvSpPr txBox="1"/>
              <p:nvPr/>
            </p:nvSpPr>
            <p:spPr>
              <a:xfrm>
                <a:off x="114300" y="314325"/>
                <a:ext cx="1524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Overall Satisfaction</a:t>
                </a:r>
                <a:endParaRPr sz="8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65" name="Google Shape;665;p24"/>
              <p:cNvSpPr txBox="1"/>
              <p:nvPr/>
            </p:nvSpPr>
            <p:spPr>
              <a:xfrm>
                <a:off x="1714500" y="314325"/>
                <a:ext cx="619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333333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4.887</a:t>
                </a:r>
                <a:endParaRPr sz="800" b="0">
                  <a:solidFill>
                    <a:srgbClr val="333333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666" name="Google Shape;666;p24"/>
              <p:cNvSpPr txBox="1"/>
              <p:nvPr/>
            </p:nvSpPr>
            <p:spPr>
              <a:xfrm>
                <a:off x="2381250" y="314325"/>
                <a:ext cx="666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0.0118</a:t>
                </a:r>
                <a:endParaRPr sz="8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67" name="Google Shape;667;p24"/>
              <p:cNvSpPr txBox="1"/>
              <p:nvPr/>
            </p:nvSpPr>
            <p:spPr>
              <a:xfrm>
                <a:off x="3095625" y="314325"/>
                <a:ext cx="838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 &lt; 0.05 *</a:t>
                </a:r>
                <a:endParaRPr sz="8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68" name="Google Shape;668;p24"/>
              <p:cNvSpPr/>
              <p:nvPr/>
            </p:nvSpPr>
            <p:spPr>
              <a:xfrm>
                <a:off x="0" y="590550"/>
                <a:ext cx="4048200" cy="324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24"/>
              <p:cNvSpPr txBox="1"/>
              <p:nvPr/>
            </p:nvSpPr>
            <p:spPr>
              <a:xfrm>
                <a:off x="114300" y="638175"/>
                <a:ext cx="1524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Equipment Satisfaction</a:t>
                </a:r>
                <a:endParaRPr sz="8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70" name="Google Shape;670;p24"/>
              <p:cNvSpPr txBox="1"/>
              <p:nvPr/>
            </p:nvSpPr>
            <p:spPr>
              <a:xfrm>
                <a:off x="1714500" y="638175"/>
                <a:ext cx="619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333333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4.344</a:t>
                </a:r>
                <a:endParaRPr sz="800" b="0">
                  <a:solidFill>
                    <a:srgbClr val="333333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671" name="Google Shape;671;p24"/>
              <p:cNvSpPr txBox="1"/>
              <p:nvPr/>
            </p:nvSpPr>
            <p:spPr>
              <a:xfrm>
                <a:off x="2381250" y="638175"/>
                <a:ext cx="666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0.0186</a:t>
                </a:r>
                <a:endParaRPr sz="8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72" name="Google Shape;672;p24"/>
              <p:cNvSpPr txBox="1"/>
              <p:nvPr/>
            </p:nvSpPr>
            <p:spPr>
              <a:xfrm>
                <a:off x="3095625" y="638175"/>
                <a:ext cx="838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 &lt; 0.05 *</a:t>
                </a:r>
                <a:endParaRPr sz="8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73" name="Google Shape;673;p24"/>
              <p:cNvSpPr/>
              <p:nvPr/>
            </p:nvSpPr>
            <p:spPr>
              <a:xfrm>
                <a:off x="0" y="914400"/>
                <a:ext cx="4048200" cy="324000"/>
              </a:xfrm>
              <a:prstGeom prst="rect">
                <a:avLst/>
              </a:prstGeom>
              <a:solidFill>
                <a:srgbClr val="F0F4F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24"/>
              <p:cNvSpPr txBox="1"/>
              <p:nvPr/>
            </p:nvSpPr>
            <p:spPr>
              <a:xfrm>
                <a:off x="114300" y="962025"/>
                <a:ext cx="1524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333333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Value for Money</a:t>
                </a:r>
                <a:endParaRPr sz="800" b="0">
                  <a:solidFill>
                    <a:srgbClr val="333333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675" name="Google Shape;675;p24"/>
              <p:cNvSpPr txBox="1"/>
              <p:nvPr/>
            </p:nvSpPr>
            <p:spPr>
              <a:xfrm>
                <a:off x="1714500" y="962025"/>
                <a:ext cx="619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-</a:t>
                </a:r>
                <a:endParaRPr sz="8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76" name="Google Shape;676;p24"/>
              <p:cNvSpPr txBox="1"/>
              <p:nvPr/>
            </p:nvSpPr>
            <p:spPr>
              <a:xfrm>
                <a:off x="2381250" y="962025"/>
                <a:ext cx="666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333333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0.0552</a:t>
                </a:r>
                <a:endParaRPr sz="800" b="0">
                  <a:solidFill>
                    <a:srgbClr val="333333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677" name="Google Shape;677;p24"/>
              <p:cNvSpPr txBox="1"/>
              <p:nvPr/>
            </p:nvSpPr>
            <p:spPr>
              <a:xfrm>
                <a:off x="3095625" y="962025"/>
                <a:ext cx="838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0E1C5D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Marginal</a:t>
                </a:r>
                <a:endParaRPr sz="800" b="0">
                  <a:solidFill>
                    <a:srgbClr val="0E1C5D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678" name="Google Shape;678;p24"/>
              <p:cNvSpPr/>
              <p:nvPr/>
            </p:nvSpPr>
            <p:spPr>
              <a:xfrm>
                <a:off x="0" y="1238250"/>
                <a:ext cx="4048200" cy="324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24"/>
              <p:cNvSpPr txBox="1"/>
              <p:nvPr/>
            </p:nvSpPr>
            <p:spPr>
              <a:xfrm>
                <a:off x="114300" y="1285875"/>
                <a:ext cx="1524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333333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Trainer Rating</a:t>
                </a:r>
                <a:endParaRPr sz="800" b="0">
                  <a:solidFill>
                    <a:srgbClr val="333333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680" name="Google Shape;680;p24"/>
              <p:cNvSpPr txBox="1"/>
              <p:nvPr/>
            </p:nvSpPr>
            <p:spPr>
              <a:xfrm>
                <a:off x="1714500" y="1285875"/>
                <a:ext cx="619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-</a:t>
                </a:r>
                <a:endParaRPr sz="8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81" name="Google Shape;681;p24"/>
              <p:cNvSpPr txBox="1"/>
              <p:nvPr/>
            </p:nvSpPr>
            <p:spPr>
              <a:xfrm>
                <a:off x="2381250" y="1285875"/>
                <a:ext cx="666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333333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0.4738</a:t>
                </a:r>
                <a:endParaRPr sz="800" b="0">
                  <a:solidFill>
                    <a:srgbClr val="333333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682" name="Google Shape;682;p24"/>
              <p:cNvSpPr txBox="1"/>
              <p:nvPr/>
            </p:nvSpPr>
            <p:spPr>
              <a:xfrm>
                <a:off x="3095625" y="1285875"/>
                <a:ext cx="838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64748B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Not Sig.</a:t>
                </a:r>
                <a:endParaRPr sz="800" b="0">
                  <a:solidFill>
                    <a:srgbClr val="64748B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683" name="Google Shape;683;p24"/>
              <p:cNvSpPr/>
              <p:nvPr/>
            </p:nvSpPr>
            <p:spPr>
              <a:xfrm>
                <a:off x="0" y="1562100"/>
                <a:ext cx="4048200" cy="324000"/>
              </a:xfrm>
              <a:prstGeom prst="rect">
                <a:avLst/>
              </a:prstGeom>
              <a:solidFill>
                <a:srgbClr val="F0F4F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24"/>
              <p:cNvSpPr txBox="1"/>
              <p:nvPr/>
            </p:nvSpPr>
            <p:spPr>
              <a:xfrm>
                <a:off x="114300" y="1609725"/>
                <a:ext cx="1524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333333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Renewal Intent</a:t>
                </a:r>
                <a:endParaRPr sz="800" b="0">
                  <a:solidFill>
                    <a:srgbClr val="333333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685" name="Google Shape;685;p24"/>
              <p:cNvSpPr txBox="1"/>
              <p:nvPr/>
            </p:nvSpPr>
            <p:spPr>
              <a:xfrm>
                <a:off x="1714500" y="1609725"/>
                <a:ext cx="619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-</a:t>
                </a:r>
                <a:endParaRPr sz="80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86" name="Google Shape;686;p24"/>
              <p:cNvSpPr txBox="1"/>
              <p:nvPr/>
            </p:nvSpPr>
            <p:spPr>
              <a:xfrm>
                <a:off x="2381250" y="1609725"/>
                <a:ext cx="666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333333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0.4760</a:t>
                </a:r>
                <a:endParaRPr sz="800" b="0">
                  <a:solidFill>
                    <a:srgbClr val="333333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687" name="Google Shape;687;p24"/>
              <p:cNvSpPr txBox="1"/>
              <p:nvPr/>
            </p:nvSpPr>
            <p:spPr>
              <a:xfrm>
                <a:off x="3095625" y="1609725"/>
                <a:ext cx="838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64748B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Not Sig.</a:t>
                </a:r>
                <a:endParaRPr sz="800" b="0">
                  <a:solidFill>
                    <a:srgbClr val="64748B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</p:grpSp>
        <p:grpSp>
          <p:nvGrpSpPr>
            <p:cNvPr id="688" name="Google Shape;688;p24"/>
            <p:cNvGrpSpPr/>
            <p:nvPr/>
          </p:nvGrpSpPr>
          <p:grpSpPr>
            <a:xfrm>
              <a:off x="0" y="2152650"/>
              <a:ext cx="4048200" cy="1485900"/>
              <a:chOff x="0" y="0"/>
              <a:chExt cx="4048200" cy="1485900"/>
            </a:xfrm>
          </p:grpSpPr>
          <p:sp>
            <p:nvSpPr>
              <p:cNvPr id="689" name="Google Shape;689;p24"/>
              <p:cNvSpPr/>
              <p:nvPr/>
            </p:nvSpPr>
            <p:spPr>
              <a:xfrm>
                <a:off x="0" y="0"/>
                <a:ext cx="4048200" cy="1485900"/>
              </a:xfrm>
              <a:prstGeom prst="roundRect">
                <a:avLst>
                  <a:gd name="adj" fmla="val 5128"/>
                </a:avLst>
              </a:prstGeom>
              <a:solidFill>
                <a:srgbClr val="F8F9FA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24"/>
              <p:cNvSpPr txBox="1"/>
              <p:nvPr/>
            </p:nvSpPr>
            <p:spPr>
              <a:xfrm>
                <a:off x="152400" y="114300"/>
                <a:ext cx="37434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ANOVA F-Ratio Significance Threshold Comparison</a:t>
                </a:r>
                <a:endParaRPr sz="9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pic>
            <p:nvPicPr>
              <p:cNvPr id="691" name="Google Shape;691;p2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185863" y="381000"/>
                <a:ext cx="9600" cy="762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2" name="Google Shape;692;p24"/>
              <p:cNvSpPr txBox="1"/>
              <p:nvPr/>
            </p:nvSpPr>
            <p:spPr>
              <a:xfrm>
                <a:off x="114300" y="457200"/>
                <a:ext cx="10002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86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Overall Satisfaction</a:t>
                </a:r>
                <a:endParaRPr sz="786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93" name="Google Shape;693;p24"/>
              <p:cNvSpPr/>
              <p:nvPr/>
            </p:nvSpPr>
            <p:spPr>
              <a:xfrm>
                <a:off x="1200150" y="457200"/>
                <a:ext cx="2095500" cy="171600"/>
              </a:xfrm>
              <a:prstGeom prst="roundRect">
                <a:avLst>
                  <a:gd name="adj" fmla="val 16666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24"/>
              <p:cNvSpPr txBox="1"/>
              <p:nvPr/>
            </p:nvSpPr>
            <p:spPr>
              <a:xfrm>
                <a:off x="3352800" y="457200"/>
                <a:ext cx="5715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F = 4.887</a:t>
                </a:r>
                <a:endParaRPr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95" name="Google Shape;695;p24"/>
              <p:cNvSpPr txBox="1"/>
              <p:nvPr/>
            </p:nvSpPr>
            <p:spPr>
              <a:xfrm>
                <a:off x="114300" y="742950"/>
                <a:ext cx="10002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Equipment Sat.</a:t>
                </a:r>
                <a:endParaRPr sz="8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696" name="Google Shape;696;p24"/>
              <p:cNvSpPr/>
              <p:nvPr/>
            </p:nvSpPr>
            <p:spPr>
              <a:xfrm>
                <a:off x="1200150" y="742950"/>
                <a:ext cx="1857300" cy="1716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24"/>
              <p:cNvSpPr txBox="1"/>
              <p:nvPr/>
            </p:nvSpPr>
            <p:spPr>
              <a:xfrm>
                <a:off x="3114675" y="742950"/>
                <a:ext cx="5715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F = 4.344</a:t>
                </a:r>
                <a:endParaRPr sz="8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698" name="Google Shape;698;p24"/>
              <p:cNvCxnSpPr/>
              <p:nvPr/>
            </p:nvCxnSpPr>
            <p:spPr>
              <a:xfrm>
                <a:off x="1190625" y="1047750"/>
                <a:ext cx="24288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699" name="Google Shape;699;p24"/>
              <p:cNvSpPr txBox="1"/>
              <p:nvPr/>
            </p:nvSpPr>
            <p:spPr>
              <a:xfrm>
                <a:off x="1095375" y="1085850"/>
                <a:ext cx="1905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0</a:t>
                </a:r>
                <a:endParaRPr sz="65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700" name="Google Shape;700;p24"/>
              <p:cNvSpPr txBox="1"/>
              <p:nvPr/>
            </p:nvSpPr>
            <p:spPr>
              <a:xfrm>
                <a:off x="1952625" y="1085850"/>
                <a:ext cx="2382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2.0</a:t>
                </a:r>
                <a:endParaRPr sz="65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701" name="Google Shape;701;p24"/>
              <p:cNvSpPr txBox="1"/>
              <p:nvPr/>
            </p:nvSpPr>
            <p:spPr>
              <a:xfrm>
                <a:off x="2809875" y="1085850"/>
                <a:ext cx="2382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4.0</a:t>
                </a:r>
                <a:endParaRPr sz="65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7" name="Google Shape;707;p25"/>
          <p:cNvGrpSpPr/>
          <p:nvPr/>
        </p:nvGrpSpPr>
        <p:grpSpPr>
          <a:xfrm>
            <a:off x="476250" y="304800"/>
            <a:ext cx="8191500" cy="628650"/>
            <a:chOff x="0" y="0"/>
            <a:chExt cx="8191500" cy="628650"/>
          </a:xfrm>
        </p:grpSpPr>
        <p:sp>
          <p:nvSpPr>
            <p:cNvPr id="708" name="Google Shape;708;p25"/>
            <p:cNvSpPr txBox="1"/>
            <p:nvPr/>
          </p:nvSpPr>
          <p:spPr>
            <a:xfrm>
              <a:off x="0" y="0"/>
              <a:ext cx="819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SATISFACTION DISCRIMINATOR: </a:t>
              </a:r>
              <a:r>
                <a:rPr lang="en" sz="2400">
                  <a:solidFill>
                    <a:srgbClr val="A60042"/>
                  </a:solidFill>
                  <a:latin typeface="Anton"/>
                  <a:ea typeface="Anton"/>
                  <a:cs typeface="Anton"/>
                  <a:sym typeface="Anton"/>
                </a:rPr>
                <a:t>VALUE FOR MONEY</a:t>
              </a:r>
              <a:endParaRPr sz="240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709" name="Google Shape;709;p25"/>
            <p:cNvSpPr txBox="1"/>
            <p:nvPr/>
          </p:nvSpPr>
          <p:spPr>
            <a:xfrm>
              <a:off x="0" y="400050"/>
              <a:ext cx="819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0">
                  <a:solidFill>
                    <a:srgbClr val="555555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rPr>
                <a:t>Satisfaction box plots reveal perceived value for money is the primary driver separating likely and unlikely renewers.</a:t>
              </a:r>
              <a:endParaRPr sz="950" b="0">
                <a:solidFill>
                  <a:srgbClr val="555555"/>
                </a:solidFill>
                <a:latin typeface="Work Sans SemiBold"/>
                <a:ea typeface="Work Sans SemiBold"/>
                <a:cs typeface="Work Sans SemiBold"/>
                <a:sym typeface="Work Sans SemiBold"/>
              </a:endParaRPr>
            </a:p>
          </p:txBody>
        </p:sp>
      </p:grpSp>
      <p:grpSp>
        <p:nvGrpSpPr>
          <p:cNvPr id="710" name="Google Shape;710;p25"/>
          <p:cNvGrpSpPr/>
          <p:nvPr/>
        </p:nvGrpSpPr>
        <p:grpSpPr>
          <a:xfrm>
            <a:off x="476250" y="1047750"/>
            <a:ext cx="3981600" cy="3714900"/>
            <a:chOff x="0" y="0"/>
            <a:chExt cx="3981600" cy="3714900"/>
          </a:xfrm>
        </p:grpSpPr>
        <p:sp>
          <p:nvSpPr>
            <p:cNvPr id="711" name="Google Shape;711;p25"/>
            <p:cNvSpPr/>
            <p:nvPr/>
          </p:nvSpPr>
          <p:spPr>
            <a:xfrm>
              <a:off x="0" y="0"/>
              <a:ext cx="3981600" cy="3714900"/>
            </a:xfrm>
            <a:prstGeom prst="roundRect">
              <a:avLst>
                <a:gd name="adj" fmla="val 2051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5"/>
            <p:cNvSpPr txBox="1"/>
            <p:nvPr/>
          </p:nvSpPr>
          <p:spPr>
            <a:xfrm>
              <a:off x="152400" y="133350"/>
              <a:ext cx="2286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SATISFACTION RATING DISTRIBUTIONS (1-10)</a:t>
              </a:r>
              <a:endParaRPr sz="95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713" name="Google Shape;713;p25"/>
            <p:cNvSpPr/>
            <p:nvPr/>
          </p:nvSpPr>
          <p:spPr>
            <a:xfrm>
              <a:off x="2552700" y="171450"/>
              <a:ext cx="95400" cy="95400"/>
            </a:xfrm>
            <a:prstGeom prst="roundRect">
              <a:avLst>
                <a:gd name="adj" fmla="val 20000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5"/>
            <p:cNvSpPr txBox="1"/>
            <p:nvPr/>
          </p:nvSpPr>
          <p:spPr>
            <a:xfrm>
              <a:off x="2686050" y="123825"/>
              <a:ext cx="571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Likely</a:t>
              </a:r>
              <a:endParaRPr sz="6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715" name="Google Shape;715;p25"/>
            <p:cNvSpPr/>
            <p:nvPr/>
          </p:nvSpPr>
          <p:spPr>
            <a:xfrm>
              <a:off x="3162300" y="171450"/>
              <a:ext cx="95400" cy="95400"/>
            </a:xfrm>
            <a:prstGeom prst="roundRect">
              <a:avLst>
                <a:gd name="adj" fmla="val 20000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5"/>
            <p:cNvSpPr txBox="1"/>
            <p:nvPr/>
          </p:nvSpPr>
          <p:spPr>
            <a:xfrm>
              <a:off x="3295650" y="123825"/>
              <a:ext cx="571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Unlikely</a:t>
              </a:r>
              <a:endParaRPr sz="6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pic>
          <p:nvPicPr>
            <p:cNvPr id="717" name="Google Shape;717;p2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1000" y="566738"/>
              <a:ext cx="33339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8" name="Google Shape;718;p25"/>
            <p:cNvSpPr txBox="1"/>
            <p:nvPr/>
          </p:nvSpPr>
          <p:spPr>
            <a:xfrm>
              <a:off x="142875" y="495300"/>
              <a:ext cx="190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94A3B8"/>
                  </a:solidFill>
                  <a:latin typeface="Work Sans"/>
                  <a:ea typeface="Work Sans"/>
                  <a:cs typeface="Work Sans"/>
                  <a:sym typeface="Work Sans"/>
                </a:rPr>
                <a:t>10</a:t>
              </a:r>
              <a:endParaRPr sz="700">
                <a:solidFill>
                  <a:srgbClr val="94A3B8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pic>
          <p:nvPicPr>
            <p:cNvPr id="719" name="Google Shape;719;p2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1000" y="1062038"/>
              <a:ext cx="33339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0" name="Google Shape;720;p25"/>
            <p:cNvSpPr txBox="1"/>
            <p:nvPr/>
          </p:nvSpPr>
          <p:spPr>
            <a:xfrm>
              <a:off x="142875" y="990600"/>
              <a:ext cx="190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94A3B8"/>
                  </a:solidFill>
                  <a:latin typeface="Work Sans"/>
                  <a:ea typeface="Work Sans"/>
                  <a:cs typeface="Work Sans"/>
                  <a:sym typeface="Work Sans"/>
                </a:rPr>
                <a:t>8</a:t>
              </a:r>
              <a:endParaRPr sz="700">
                <a:solidFill>
                  <a:srgbClr val="94A3B8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pic>
          <p:nvPicPr>
            <p:cNvPr id="721" name="Google Shape;721;p2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1000" y="1566863"/>
              <a:ext cx="33339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2" name="Google Shape;722;p25"/>
            <p:cNvSpPr txBox="1"/>
            <p:nvPr/>
          </p:nvSpPr>
          <p:spPr>
            <a:xfrm>
              <a:off x="142875" y="1495425"/>
              <a:ext cx="190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94A3B8"/>
                  </a:solidFill>
                  <a:latin typeface="Work Sans"/>
                  <a:ea typeface="Work Sans"/>
                  <a:cs typeface="Work Sans"/>
                  <a:sym typeface="Work Sans"/>
                </a:rPr>
                <a:t>6</a:t>
              </a:r>
              <a:endParaRPr sz="700">
                <a:solidFill>
                  <a:srgbClr val="94A3B8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pic>
          <p:nvPicPr>
            <p:cNvPr id="723" name="Google Shape;723;p2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1000" y="2062163"/>
              <a:ext cx="33339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4" name="Google Shape;724;p25"/>
            <p:cNvSpPr txBox="1"/>
            <p:nvPr/>
          </p:nvSpPr>
          <p:spPr>
            <a:xfrm>
              <a:off x="142875" y="1990725"/>
              <a:ext cx="190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94A3B8"/>
                  </a:solidFill>
                  <a:latin typeface="Work Sans"/>
                  <a:ea typeface="Work Sans"/>
                  <a:cs typeface="Work Sans"/>
                  <a:sym typeface="Work Sans"/>
                </a:rPr>
                <a:t>4</a:t>
              </a:r>
              <a:endParaRPr sz="700">
                <a:solidFill>
                  <a:srgbClr val="94A3B8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pic>
          <p:nvPicPr>
            <p:cNvPr id="725" name="Google Shape;725;p2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1000" y="2566988"/>
              <a:ext cx="33339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6" name="Google Shape;726;p25"/>
            <p:cNvSpPr txBox="1"/>
            <p:nvPr/>
          </p:nvSpPr>
          <p:spPr>
            <a:xfrm>
              <a:off x="142875" y="2495550"/>
              <a:ext cx="190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94A3B8"/>
                  </a:solidFill>
                  <a:latin typeface="Work Sans"/>
                  <a:ea typeface="Work Sans"/>
                  <a:cs typeface="Work Sans"/>
                  <a:sym typeface="Work Sans"/>
                </a:rPr>
                <a:t>2</a:t>
              </a:r>
              <a:endParaRPr sz="700">
                <a:solidFill>
                  <a:srgbClr val="94A3B8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pic>
          <p:nvPicPr>
            <p:cNvPr id="727" name="Google Shape;727;p2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71725" y="447675"/>
              <a:ext cx="781200" cy="268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8" name="Google Shape;728;p25"/>
            <p:cNvSpPr/>
            <p:nvPr/>
          </p:nvSpPr>
          <p:spPr>
            <a:xfrm>
              <a:off x="2505075" y="1066800"/>
              <a:ext cx="514500" cy="171600"/>
            </a:xfrm>
            <a:prstGeom prst="roundRect">
              <a:avLst>
                <a:gd name="adj" fmla="val 50000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5"/>
            <p:cNvSpPr txBox="1"/>
            <p:nvPr/>
          </p:nvSpPr>
          <p:spPr>
            <a:xfrm>
              <a:off x="2505075" y="1066800"/>
              <a:ext cx="5145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MAX GAP</a:t>
              </a:r>
              <a:endParaRPr sz="6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730" name="Google Shape;730;p25"/>
            <p:cNvGrpSpPr/>
            <p:nvPr/>
          </p:nvGrpSpPr>
          <p:grpSpPr>
            <a:xfrm>
              <a:off x="571500" y="571500"/>
              <a:ext cx="152400" cy="447675"/>
              <a:chOff x="-76200" y="571500"/>
              <a:chExt cx="152400" cy="447675"/>
            </a:xfrm>
          </p:grpSpPr>
          <p:cxnSp>
            <p:nvCxnSpPr>
              <p:cNvPr id="731" name="Google Shape;731;p25"/>
              <p:cNvCxnSpPr/>
              <p:nvPr/>
            </p:nvCxnSpPr>
            <p:spPr>
              <a:xfrm>
                <a:off x="0" y="571500"/>
                <a:ext cx="0" cy="4476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2" name="Google Shape;732;p25"/>
              <p:cNvCxnSpPr/>
              <p:nvPr/>
            </p:nvCxnSpPr>
            <p:spPr>
              <a:xfrm>
                <a:off x="-47625" y="57150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3" name="Google Shape;733;p25"/>
              <p:cNvCxnSpPr/>
              <p:nvPr/>
            </p:nvCxnSpPr>
            <p:spPr>
              <a:xfrm>
                <a:off x="-47625" y="1019175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34" name="Google Shape;734;p25"/>
              <p:cNvSpPr/>
              <p:nvPr/>
            </p:nvSpPr>
            <p:spPr>
              <a:xfrm>
                <a:off x="-76200" y="619125"/>
                <a:ext cx="152400" cy="285900"/>
              </a:xfrm>
              <a:prstGeom prst="roundRect">
                <a:avLst>
                  <a:gd name="adj" fmla="val 125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35" name="Google Shape;735;p25"/>
              <p:cNvCxnSpPr/>
              <p:nvPr/>
            </p:nvCxnSpPr>
            <p:spPr>
              <a:xfrm>
                <a:off x="-76200" y="76200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736" name="Google Shape;736;p25"/>
            <p:cNvGrpSpPr/>
            <p:nvPr/>
          </p:nvGrpSpPr>
          <p:grpSpPr>
            <a:xfrm>
              <a:off x="762000" y="1066800"/>
              <a:ext cx="152400" cy="1200300"/>
              <a:chOff x="-76200" y="1066800"/>
              <a:chExt cx="152400" cy="1200300"/>
            </a:xfrm>
          </p:grpSpPr>
          <p:cxnSp>
            <p:nvCxnSpPr>
              <p:cNvPr id="737" name="Google Shape;737;p25"/>
              <p:cNvCxnSpPr/>
              <p:nvPr/>
            </p:nvCxnSpPr>
            <p:spPr>
              <a:xfrm>
                <a:off x="0" y="1066800"/>
                <a:ext cx="0" cy="10002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8" name="Google Shape;738;p25"/>
              <p:cNvCxnSpPr/>
              <p:nvPr/>
            </p:nvCxnSpPr>
            <p:spPr>
              <a:xfrm>
                <a:off x="-47625" y="106680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9" name="Google Shape;739;p25"/>
              <p:cNvCxnSpPr/>
              <p:nvPr/>
            </p:nvCxnSpPr>
            <p:spPr>
              <a:xfrm>
                <a:off x="-47625" y="2066925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40" name="Google Shape;740;p25"/>
              <p:cNvSpPr/>
              <p:nvPr/>
            </p:nvSpPr>
            <p:spPr>
              <a:xfrm>
                <a:off x="-76200" y="1238250"/>
                <a:ext cx="152400" cy="523800"/>
              </a:xfrm>
              <a:prstGeom prst="roundRect">
                <a:avLst>
                  <a:gd name="adj" fmla="val 125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41" name="Google Shape;741;p25"/>
              <p:cNvCxnSpPr/>
              <p:nvPr/>
            </p:nvCxnSpPr>
            <p:spPr>
              <a:xfrm>
                <a:off x="-76200" y="1476375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42" name="Google Shape;742;p25"/>
              <p:cNvSpPr/>
              <p:nvPr/>
            </p:nvSpPr>
            <p:spPr>
              <a:xfrm>
                <a:off x="-28575" y="2209800"/>
                <a:ext cx="57300" cy="573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43" name="Google Shape;743;p25"/>
            <p:cNvSpPr txBox="1"/>
            <p:nvPr/>
          </p:nvSpPr>
          <p:spPr>
            <a:xfrm>
              <a:off x="381000" y="3219450"/>
              <a:ext cx="723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Equipment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744" name="Google Shape;744;p25"/>
            <p:cNvGrpSpPr/>
            <p:nvPr/>
          </p:nvGrpSpPr>
          <p:grpSpPr>
            <a:xfrm>
              <a:off x="1257300" y="571500"/>
              <a:ext cx="152400" cy="447675"/>
              <a:chOff x="-76200" y="571500"/>
              <a:chExt cx="152400" cy="447675"/>
            </a:xfrm>
          </p:grpSpPr>
          <p:cxnSp>
            <p:nvCxnSpPr>
              <p:cNvPr id="745" name="Google Shape;745;p25"/>
              <p:cNvCxnSpPr/>
              <p:nvPr/>
            </p:nvCxnSpPr>
            <p:spPr>
              <a:xfrm>
                <a:off x="0" y="571500"/>
                <a:ext cx="0" cy="4476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6" name="Google Shape;746;p25"/>
              <p:cNvCxnSpPr/>
              <p:nvPr/>
            </p:nvCxnSpPr>
            <p:spPr>
              <a:xfrm>
                <a:off x="-47625" y="57150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47" name="Google Shape;747;p25"/>
              <p:cNvCxnSpPr/>
              <p:nvPr/>
            </p:nvCxnSpPr>
            <p:spPr>
              <a:xfrm>
                <a:off x="-47625" y="1019175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48" name="Google Shape;748;p25"/>
              <p:cNvSpPr/>
              <p:nvPr/>
            </p:nvSpPr>
            <p:spPr>
              <a:xfrm>
                <a:off x="-76200" y="647700"/>
                <a:ext cx="152400" cy="266700"/>
              </a:xfrm>
              <a:prstGeom prst="roundRect">
                <a:avLst>
                  <a:gd name="adj" fmla="val 125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49" name="Google Shape;749;p25"/>
              <p:cNvCxnSpPr/>
              <p:nvPr/>
            </p:nvCxnSpPr>
            <p:spPr>
              <a:xfrm>
                <a:off x="-76200" y="78105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750" name="Google Shape;750;p25"/>
            <p:cNvGrpSpPr/>
            <p:nvPr/>
          </p:nvGrpSpPr>
          <p:grpSpPr>
            <a:xfrm>
              <a:off x="1447800" y="1066800"/>
              <a:ext cx="152400" cy="857400"/>
              <a:chOff x="-76200" y="1066800"/>
              <a:chExt cx="152400" cy="857400"/>
            </a:xfrm>
          </p:grpSpPr>
          <p:cxnSp>
            <p:nvCxnSpPr>
              <p:cNvPr id="751" name="Google Shape;751;p25"/>
              <p:cNvCxnSpPr/>
              <p:nvPr/>
            </p:nvCxnSpPr>
            <p:spPr>
              <a:xfrm>
                <a:off x="0" y="1066800"/>
                <a:ext cx="0" cy="8574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2" name="Google Shape;752;p25"/>
              <p:cNvCxnSpPr/>
              <p:nvPr/>
            </p:nvCxnSpPr>
            <p:spPr>
              <a:xfrm>
                <a:off x="-47625" y="106680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3" name="Google Shape;753;p25"/>
              <p:cNvCxnSpPr/>
              <p:nvPr/>
            </p:nvCxnSpPr>
            <p:spPr>
              <a:xfrm>
                <a:off x="-47625" y="192405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54" name="Google Shape;754;p25"/>
              <p:cNvSpPr/>
              <p:nvPr/>
            </p:nvSpPr>
            <p:spPr>
              <a:xfrm>
                <a:off x="-76200" y="1285875"/>
                <a:ext cx="152400" cy="457200"/>
              </a:xfrm>
              <a:prstGeom prst="roundRect">
                <a:avLst>
                  <a:gd name="adj" fmla="val 125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55" name="Google Shape;755;p25"/>
              <p:cNvCxnSpPr/>
              <p:nvPr/>
            </p:nvCxnSpPr>
            <p:spPr>
              <a:xfrm>
                <a:off x="-76200" y="150495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756" name="Google Shape;756;p25"/>
            <p:cNvSpPr txBox="1"/>
            <p:nvPr/>
          </p:nvSpPr>
          <p:spPr>
            <a:xfrm>
              <a:off x="1066800" y="3219450"/>
              <a:ext cx="723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Hygiene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757" name="Google Shape;757;p25"/>
            <p:cNvGrpSpPr/>
            <p:nvPr/>
          </p:nvGrpSpPr>
          <p:grpSpPr>
            <a:xfrm>
              <a:off x="1943100" y="571500"/>
              <a:ext cx="152400" cy="495300"/>
              <a:chOff x="-76200" y="571500"/>
              <a:chExt cx="152400" cy="495300"/>
            </a:xfrm>
          </p:grpSpPr>
          <p:cxnSp>
            <p:nvCxnSpPr>
              <p:cNvPr id="758" name="Google Shape;758;p25"/>
              <p:cNvCxnSpPr/>
              <p:nvPr/>
            </p:nvCxnSpPr>
            <p:spPr>
              <a:xfrm>
                <a:off x="0" y="571500"/>
                <a:ext cx="0" cy="4953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59" name="Google Shape;759;p25"/>
              <p:cNvCxnSpPr/>
              <p:nvPr/>
            </p:nvCxnSpPr>
            <p:spPr>
              <a:xfrm>
                <a:off x="-47625" y="57150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60" name="Google Shape;760;p25"/>
              <p:cNvCxnSpPr/>
              <p:nvPr/>
            </p:nvCxnSpPr>
            <p:spPr>
              <a:xfrm>
                <a:off x="-47625" y="106680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61" name="Google Shape;761;p25"/>
              <p:cNvSpPr/>
              <p:nvPr/>
            </p:nvSpPr>
            <p:spPr>
              <a:xfrm>
                <a:off x="-76200" y="666750"/>
                <a:ext cx="152400" cy="285900"/>
              </a:xfrm>
              <a:prstGeom prst="roundRect">
                <a:avLst>
                  <a:gd name="adj" fmla="val 125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62" name="Google Shape;762;p25"/>
              <p:cNvCxnSpPr/>
              <p:nvPr/>
            </p:nvCxnSpPr>
            <p:spPr>
              <a:xfrm>
                <a:off x="-76200" y="809625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763" name="Google Shape;763;p25"/>
            <p:cNvGrpSpPr/>
            <p:nvPr/>
          </p:nvGrpSpPr>
          <p:grpSpPr>
            <a:xfrm>
              <a:off x="2133600" y="1143000"/>
              <a:ext cx="152400" cy="1000200"/>
              <a:chOff x="-76200" y="1143000"/>
              <a:chExt cx="152400" cy="1000200"/>
            </a:xfrm>
          </p:grpSpPr>
          <p:cxnSp>
            <p:nvCxnSpPr>
              <p:cNvPr id="764" name="Google Shape;764;p25"/>
              <p:cNvCxnSpPr/>
              <p:nvPr/>
            </p:nvCxnSpPr>
            <p:spPr>
              <a:xfrm>
                <a:off x="0" y="1143000"/>
                <a:ext cx="0" cy="10002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65" name="Google Shape;765;p25"/>
              <p:cNvCxnSpPr/>
              <p:nvPr/>
            </p:nvCxnSpPr>
            <p:spPr>
              <a:xfrm>
                <a:off x="-47625" y="114300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66" name="Google Shape;766;p25"/>
              <p:cNvCxnSpPr/>
              <p:nvPr/>
            </p:nvCxnSpPr>
            <p:spPr>
              <a:xfrm>
                <a:off x="-47625" y="2143125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67" name="Google Shape;767;p25"/>
              <p:cNvSpPr/>
              <p:nvPr/>
            </p:nvSpPr>
            <p:spPr>
              <a:xfrm>
                <a:off x="-76200" y="1352550"/>
                <a:ext cx="152400" cy="476400"/>
              </a:xfrm>
              <a:prstGeom prst="roundRect">
                <a:avLst>
                  <a:gd name="adj" fmla="val 125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68" name="Google Shape;768;p25"/>
              <p:cNvCxnSpPr/>
              <p:nvPr/>
            </p:nvCxnSpPr>
            <p:spPr>
              <a:xfrm>
                <a:off x="-76200" y="160020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769" name="Google Shape;769;p25"/>
            <p:cNvSpPr txBox="1"/>
            <p:nvPr/>
          </p:nvSpPr>
          <p:spPr>
            <a:xfrm>
              <a:off x="1752600" y="3219450"/>
              <a:ext cx="723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Trainer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770" name="Google Shape;770;p25"/>
            <p:cNvGrpSpPr/>
            <p:nvPr/>
          </p:nvGrpSpPr>
          <p:grpSpPr>
            <a:xfrm>
              <a:off x="2571750" y="571500"/>
              <a:ext cx="152400" cy="495300"/>
              <a:chOff x="-76200" y="571500"/>
              <a:chExt cx="152400" cy="495300"/>
            </a:xfrm>
          </p:grpSpPr>
          <p:cxnSp>
            <p:nvCxnSpPr>
              <p:cNvPr id="771" name="Google Shape;771;p25"/>
              <p:cNvCxnSpPr/>
              <p:nvPr/>
            </p:nvCxnSpPr>
            <p:spPr>
              <a:xfrm>
                <a:off x="0" y="571500"/>
                <a:ext cx="0" cy="4953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2" name="Google Shape;772;p25"/>
              <p:cNvCxnSpPr/>
              <p:nvPr/>
            </p:nvCxnSpPr>
            <p:spPr>
              <a:xfrm>
                <a:off x="-47625" y="57150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3" name="Google Shape;773;p25"/>
              <p:cNvCxnSpPr/>
              <p:nvPr/>
            </p:nvCxnSpPr>
            <p:spPr>
              <a:xfrm>
                <a:off x="-47625" y="106680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74" name="Google Shape;774;p25"/>
              <p:cNvSpPr/>
              <p:nvPr/>
            </p:nvSpPr>
            <p:spPr>
              <a:xfrm>
                <a:off x="-76200" y="647700"/>
                <a:ext cx="152400" cy="285900"/>
              </a:xfrm>
              <a:prstGeom prst="roundRect">
                <a:avLst>
                  <a:gd name="adj" fmla="val 125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75" name="Google Shape;775;p25"/>
              <p:cNvCxnSpPr/>
              <p:nvPr/>
            </p:nvCxnSpPr>
            <p:spPr>
              <a:xfrm>
                <a:off x="-76200" y="78105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776" name="Google Shape;776;p25"/>
            <p:cNvGrpSpPr/>
            <p:nvPr/>
          </p:nvGrpSpPr>
          <p:grpSpPr>
            <a:xfrm>
              <a:off x="2762250" y="1666875"/>
              <a:ext cx="152400" cy="904875"/>
              <a:chOff x="-76200" y="1666875"/>
              <a:chExt cx="152400" cy="904875"/>
            </a:xfrm>
          </p:grpSpPr>
          <p:cxnSp>
            <p:nvCxnSpPr>
              <p:cNvPr id="777" name="Google Shape;777;p25"/>
              <p:cNvCxnSpPr/>
              <p:nvPr/>
            </p:nvCxnSpPr>
            <p:spPr>
              <a:xfrm>
                <a:off x="0" y="1666875"/>
                <a:ext cx="0" cy="9048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8" name="Google Shape;778;p25"/>
              <p:cNvCxnSpPr/>
              <p:nvPr/>
            </p:nvCxnSpPr>
            <p:spPr>
              <a:xfrm>
                <a:off x="-47625" y="1666875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79" name="Google Shape;779;p25"/>
              <p:cNvCxnSpPr/>
              <p:nvPr/>
            </p:nvCxnSpPr>
            <p:spPr>
              <a:xfrm>
                <a:off x="-47625" y="257175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80" name="Google Shape;780;p25"/>
              <p:cNvSpPr/>
              <p:nvPr/>
            </p:nvSpPr>
            <p:spPr>
              <a:xfrm>
                <a:off x="-76200" y="1905000"/>
                <a:ext cx="152400" cy="476400"/>
              </a:xfrm>
              <a:prstGeom prst="roundRect">
                <a:avLst>
                  <a:gd name="adj" fmla="val 125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81" name="Google Shape;781;p25"/>
              <p:cNvCxnSpPr/>
              <p:nvPr/>
            </p:nvCxnSpPr>
            <p:spPr>
              <a:xfrm>
                <a:off x="-76200" y="2143125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782" name="Google Shape;782;p25"/>
            <p:cNvSpPr txBox="1"/>
            <p:nvPr/>
          </p:nvSpPr>
          <p:spPr>
            <a:xfrm>
              <a:off x="2381250" y="3219450"/>
              <a:ext cx="762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Value for Money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783" name="Google Shape;783;p25"/>
            <p:cNvGrpSpPr/>
            <p:nvPr/>
          </p:nvGrpSpPr>
          <p:grpSpPr>
            <a:xfrm>
              <a:off x="3257550" y="571500"/>
              <a:ext cx="152400" cy="495300"/>
              <a:chOff x="-76200" y="571500"/>
              <a:chExt cx="152400" cy="495300"/>
            </a:xfrm>
          </p:grpSpPr>
          <p:cxnSp>
            <p:nvCxnSpPr>
              <p:cNvPr id="784" name="Google Shape;784;p25"/>
              <p:cNvCxnSpPr/>
              <p:nvPr/>
            </p:nvCxnSpPr>
            <p:spPr>
              <a:xfrm>
                <a:off x="0" y="571500"/>
                <a:ext cx="0" cy="4953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85" name="Google Shape;785;p25"/>
              <p:cNvCxnSpPr/>
              <p:nvPr/>
            </p:nvCxnSpPr>
            <p:spPr>
              <a:xfrm>
                <a:off x="-47625" y="57150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86" name="Google Shape;786;p25"/>
              <p:cNvCxnSpPr/>
              <p:nvPr/>
            </p:nvCxnSpPr>
            <p:spPr>
              <a:xfrm>
                <a:off x="-47625" y="106680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87" name="Google Shape;787;p25"/>
              <p:cNvSpPr/>
              <p:nvPr/>
            </p:nvSpPr>
            <p:spPr>
              <a:xfrm>
                <a:off x="-76200" y="685800"/>
                <a:ext cx="152400" cy="266700"/>
              </a:xfrm>
              <a:prstGeom prst="roundRect">
                <a:avLst>
                  <a:gd name="adj" fmla="val 125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88" name="Google Shape;788;p25"/>
              <p:cNvCxnSpPr/>
              <p:nvPr/>
            </p:nvCxnSpPr>
            <p:spPr>
              <a:xfrm>
                <a:off x="-76200" y="81915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789" name="Google Shape;789;p25"/>
            <p:cNvGrpSpPr/>
            <p:nvPr/>
          </p:nvGrpSpPr>
          <p:grpSpPr>
            <a:xfrm>
              <a:off x="3448050" y="1123950"/>
              <a:ext cx="152400" cy="1066800"/>
              <a:chOff x="-76200" y="1123950"/>
              <a:chExt cx="152400" cy="1066800"/>
            </a:xfrm>
          </p:grpSpPr>
          <p:cxnSp>
            <p:nvCxnSpPr>
              <p:cNvPr id="790" name="Google Shape;790;p25"/>
              <p:cNvCxnSpPr/>
              <p:nvPr/>
            </p:nvCxnSpPr>
            <p:spPr>
              <a:xfrm>
                <a:off x="0" y="1123950"/>
                <a:ext cx="0" cy="10668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91" name="Google Shape;791;p25"/>
              <p:cNvCxnSpPr/>
              <p:nvPr/>
            </p:nvCxnSpPr>
            <p:spPr>
              <a:xfrm>
                <a:off x="-47625" y="112395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92" name="Google Shape;792;p25"/>
              <p:cNvCxnSpPr/>
              <p:nvPr/>
            </p:nvCxnSpPr>
            <p:spPr>
              <a:xfrm>
                <a:off x="-47625" y="2190750"/>
                <a:ext cx="95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793" name="Google Shape;793;p25"/>
              <p:cNvSpPr/>
              <p:nvPr/>
            </p:nvSpPr>
            <p:spPr>
              <a:xfrm>
                <a:off x="-76200" y="1333500"/>
                <a:ext cx="152400" cy="495300"/>
              </a:xfrm>
              <a:prstGeom prst="roundRect">
                <a:avLst>
                  <a:gd name="adj" fmla="val 125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94" name="Google Shape;794;p25"/>
              <p:cNvCxnSpPr/>
              <p:nvPr/>
            </p:nvCxnSpPr>
            <p:spPr>
              <a:xfrm>
                <a:off x="-76200" y="1571625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795" name="Google Shape;795;p25"/>
            <p:cNvSpPr txBox="1"/>
            <p:nvPr/>
          </p:nvSpPr>
          <p:spPr>
            <a:xfrm>
              <a:off x="3086100" y="3219450"/>
              <a:ext cx="723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Overall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796" name="Google Shape;796;p25"/>
          <p:cNvGrpSpPr/>
          <p:nvPr/>
        </p:nvGrpSpPr>
        <p:grpSpPr>
          <a:xfrm>
            <a:off x="4686300" y="1047750"/>
            <a:ext cx="3981600" cy="3124200"/>
            <a:chOff x="0" y="0"/>
            <a:chExt cx="3981600" cy="3124200"/>
          </a:xfrm>
        </p:grpSpPr>
        <p:grpSp>
          <p:nvGrpSpPr>
            <p:cNvPr id="797" name="Google Shape;797;p25"/>
            <p:cNvGrpSpPr/>
            <p:nvPr/>
          </p:nvGrpSpPr>
          <p:grpSpPr>
            <a:xfrm>
              <a:off x="0" y="0"/>
              <a:ext cx="3981600" cy="705000"/>
              <a:chOff x="0" y="0"/>
              <a:chExt cx="3981600" cy="705000"/>
            </a:xfrm>
          </p:grpSpPr>
          <p:sp>
            <p:nvSpPr>
              <p:cNvPr id="798" name="Google Shape;798;p25"/>
              <p:cNvSpPr/>
              <p:nvPr/>
            </p:nvSpPr>
            <p:spPr>
              <a:xfrm>
                <a:off x="0" y="0"/>
                <a:ext cx="3981600" cy="705000"/>
              </a:xfrm>
              <a:prstGeom prst="roundRect">
                <a:avLst>
                  <a:gd name="adj" fmla="val 8108"/>
                </a:avLst>
              </a:prstGeom>
              <a:solidFill>
                <a:srgbClr val="F4F5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25"/>
              <p:cNvSpPr/>
              <p:nvPr/>
            </p:nvSpPr>
            <p:spPr>
              <a:xfrm>
                <a:off x="0" y="0"/>
                <a:ext cx="47700" cy="705000"/>
              </a:xfrm>
              <a:prstGeom prst="roundRect">
                <a:avLst>
                  <a:gd name="adj" fmla="val 50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25"/>
              <p:cNvSpPr txBox="1"/>
              <p:nvPr/>
            </p:nvSpPr>
            <p:spPr>
              <a:xfrm>
                <a:off x="171450" y="95250"/>
                <a:ext cx="3657600" cy="5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33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Survey Box Plot Methodology</a:t>
                </a:r>
                <a:endParaRPr sz="833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694" b="0">
                    <a:solidFill>
                      <a:srgbClr val="475569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Compared medians, IQRs, and outliers across 5 survey satisfaction dimensions (equipment, hygiene, trainer, value, and overall) between likely and unlikely renewers.</a:t>
                </a:r>
                <a:endParaRPr sz="694" b="0">
                  <a:solidFill>
                    <a:srgbClr val="475569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sp>
          <p:nvSpPr>
            <p:cNvPr id="801" name="Google Shape;801;p25"/>
            <p:cNvSpPr txBox="1"/>
            <p:nvPr/>
          </p:nvSpPr>
          <p:spPr>
            <a:xfrm>
              <a:off x="0" y="895350"/>
              <a:ext cx="3981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A60042"/>
                  </a:solidFill>
                  <a:latin typeface="Anton"/>
                  <a:ea typeface="Anton"/>
                  <a:cs typeface="Anton"/>
                  <a:sym typeface="Anton"/>
                </a:rPr>
                <a:t>KEY INSIGHTS</a:t>
              </a:r>
              <a:endParaRPr sz="1300">
                <a:solidFill>
                  <a:srgbClr val="A60042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grpSp>
          <p:nvGrpSpPr>
            <p:cNvPr id="802" name="Google Shape;802;p25"/>
            <p:cNvGrpSpPr/>
            <p:nvPr/>
          </p:nvGrpSpPr>
          <p:grpSpPr>
            <a:xfrm>
              <a:off x="0" y="1219200"/>
              <a:ext cx="3924300" cy="419100"/>
              <a:chOff x="0" y="0"/>
              <a:chExt cx="3924300" cy="419100"/>
            </a:xfrm>
          </p:grpSpPr>
          <p:sp>
            <p:nvSpPr>
              <p:cNvPr id="803" name="Google Shape;803;p25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25"/>
              <p:cNvSpPr txBox="1"/>
              <p:nvPr/>
            </p:nvSpPr>
            <p:spPr>
              <a:xfrm>
                <a:off x="19050" y="19050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</a:t>
                </a:r>
                <a:endParaRPr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805" name="Google Shape;805;p25"/>
              <p:cNvSpPr txBox="1"/>
              <p:nvPr/>
            </p:nvSpPr>
            <p:spPr>
              <a:xfrm>
                <a:off x="304800" y="0"/>
                <a:ext cx="3619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Consistent Superiority:</a:t>
                </a:r>
                <a:r>
                  <a:rPr lang="en" sz="80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Likely renewers consistently score higher across all surveyed satisfaction dimensions without exception.</a:t>
                </a:r>
                <a:endParaRPr sz="80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806" name="Google Shape;806;p25"/>
            <p:cNvGrpSpPr/>
            <p:nvPr/>
          </p:nvGrpSpPr>
          <p:grpSpPr>
            <a:xfrm>
              <a:off x="0" y="1714500"/>
              <a:ext cx="3981600" cy="857400"/>
              <a:chOff x="0" y="0"/>
              <a:chExt cx="3981600" cy="857400"/>
            </a:xfrm>
          </p:grpSpPr>
          <p:sp>
            <p:nvSpPr>
              <p:cNvPr id="807" name="Google Shape;807;p25"/>
              <p:cNvSpPr/>
              <p:nvPr/>
            </p:nvSpPr>
            <p:spPr>
              <a:xfrm>
                <a:off x="0" y="0"/>
                <a:ext cx="3981600" cy="857400"/>
              </a:xfrm>
              <a:prstGeom prst="roundRect">
                <a:avLst>
                  <a:gd name="adj" fmla="val 6666"/>
                </a:avLst>
              </a:prstGeom>
              <a:solidFill>
                <a:srgbClr val="A60042">
                  <a:alpha val="5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25"/>
              <p:cNvSpPr/>
              <p:nvPr/>
            </p:nvSpPr>
            <p:spPr>
              <a:xfrm>
                <a:off x="0" y="0"/>
                <a:ext cx="47700" cy="857400"/>
              </a:xfrm>
              <a:prstGeom prst="roundRect">
                <a:avLst>
                  <a:gd name="adj" fmla="val 5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25"/>
              <p:cNvSpPr/>
              <p:nvPr/>
            </p:nvSpPr>
            <p:spPr>
              <a:xfrm>
                <a:off x="95250" y="95250"/>
                <a:ext cx="228600" cy="2286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25"/>
              <p:cNvSpPr txBox="1"/>
              <p:nvPr/>
            </p:nvSpPr>
            <p:spPr>
              <a:xfrm>
                <a:off x="114300" y="114300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</a:t>
                </a:r>
                <a:endParaRPr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811" name="Google Shape;811;p25"/>
              <p:cNvSpPr txBox="1"/>
              <p:nvPr/>
            </p:nvSpPr>
            <p:spPr>
              <a:xfrm>
                <a:off x="400050" y="114300"/>
                <a:ext cx="3429000" cy="628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Maximum Distribution Separation</a:t>
                </a:r>
                <a:endParaRPr sz="9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780" b="0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The most distinct visual and statistical separation between the two cohorts occurs in the </a:t>
                </a:r>
                <a:r>
                  <a:rPr lang="en" sz="78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"Value for Money"</a:t>
                </a:r>
                <a:r>
                  <a:rPr lang="en" sz="780" b="0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category (Median gap of ~5.5 pts).</a:t>
                </a:r>
                <a:endParaRPr sz="780" b="0">
                  <a:solidFill>
                    <a:srgbClr val="3341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812" name="Google Shape;812;p25"/>
            <p:cNvGrpSpPr/>
            <p:nvPr/>
          </p:nvGrpSpPr>
          <p:grpSpPr>
            <a:xfrm>
              <a:off x="0" y="2667000"/>
              <a:ext cx="3924300" cy="457200"/>
              <a:chOff x="0" y="0"/>
              <a:chExt cx="3924300" cy="457200"/>
            </a:xfrm>
          </p:grpSpPr>
          <p:sp>
            <p:nvSpPr>
              <p:cNvPr id="813" name="Google Shape;813;p25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25"/>
              <p:cNvSpPr txBox="1"/>
              <p:nvPr/>
            </p:nvSpPr>
            <p:spPr>
              <a:xfrm>
                <a:off x="19050" y="19050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3</a:t>
                </a:r>
                <a:endParaRPr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815" name="Google Shape;815;p25"/>
              <p:cNvSpPr txBox="1"/>
              <p:nvPr/>
            </p:nvSpPr>
            <p:spPr>
              <a:xfrm>
                <a:off x="304800" y="0"/>
                <a:ext cx="36195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Primary Renewal Driver:</a:t>
                </a:r>
                <a:r>
                  <a:rPr lang="en" sz="800">
                    <a:solidFill>
                      <a:srgbClr val="1E293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This wide separation identifies perceived value as the primary perceptual discriminator driving a member's intent to renew.</a:t>
                </a:r>
                <a:endParaRPr sz="800">
                  <a:solidFill>
                    <a:srgbClr val="1E293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" name="Google Shape;820;p26"/>
          <p:cNvGrpSpPr/>
          <p:nvPr/>
        </p:nvGrpSpPr>
        <p:grpSpPr>
          <a:xfrm>
            <a:off x="381000" y="266700"/>
            <a:ext cx="8382000" cy="552450"/>
            <a:chOff x="0" y="0"/>
            <a:chExt cx="8382000" cy="552450"/>
          </a:xfrm>
        </p:grpSpPr>
        <p:sp>
          <p:nvSpPr>
            <p:cNvPr id="821" name="Google Shape;821;p26"/>
            <p:cNvSpPr txBox="1"/>
            <p:nvPr/>
          </p:nvSpPr>
          <p:spPr>
            <a:xfrm>
              <a:off x="0" y="0"/>
              <a:ext cx="8382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CORRELATION ANALYSIS &amp; </a:t>
              </a:r>
              <a:r>
                <a:rPr lang="en" sz="2200">
                  <a:solidFill>
                    <a:srgbClr val="A60042"/>
                  </a:solidFill>
                  <a:latin typeface="Anton"/>
                  <a:ea typeface="Anton"/>
                  <a:cs typeface="Anton"/>
                  <a:sym typeface="Anton"/>
                </a:rPr>
                <a:t>RETENTION DRIVERS</a:t>
              </a:r>
              <a:endParaRPr sz="220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822" name="Google Shape;822;p26"/>
            <p:cNvSpPr txBox="1"/>
            <p:nvPr/>
          </p:nvSpPr>
          <p:spPr>
            <a:xfrm>
              <a:off x="0" y="361950"/>
              <a:ext cx="838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555555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Statistical validation of key membership variables to identify tenure drivers and early churn indicators</a:t>
              </a:r>
              <a:endParaRPr sz="900" b="0">
                <a:solidFill>
                  <a:srgbClr val="555555"/>
                </a:solidFill>
                <a:latin typeface="Work Sans Medium"/>
                <a:ea typeface="Work Sans Medium"/>
                <a:cs typeface="Work Sans Medium"/>
                <a:sym typeface="Work Sans Medium"/>
              </a:endParaRPr>
            </a:p>
          </p:txBody>
        </p:sp>
      </p:grpSp>
      <p:grpSp>
        <p:nvGrpSpPr>
          <p:cNvPr id="823" name="Google Shape;823;p26"/>
          <p:cNvGrpSpPr/>
          <p:nvPr/>
        </p:nvGrpSpPr>
        <p:grpSpPr>
          <a:xfrm>
            <a:off x="381000" y="904875"/>
            <a:ext cx="4048200" cy="2143200"/>
            <a:chOff x="0" y="0"/>
            <a:chExt cx="4048200" cy="2143200"/>
          </a:xfrm>
        </p:grpSpPr>
        <p:sp>
          <p:nvSpPr>
            <p:cNvPr id="824" name="Google Shape;824;p26"/>
            <p:cNvSpPr/>
            <p:nvPr/>
          </p:nvSpPr>
          <p:spPr>
            <a:xfrm>
              <a:off x="0" y="0"/>
              <a:ext cx="4048200" cy="2143200"/>
            </a:xfrm>
            <a:prstGeom prst="roundRect">
              <a:avLst>
                <a:gd name="adj" fmla="val 3555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6"/>
            <p:cNvSpPr txBox="1"/>
            <p:nvPr/>
          </p:nvSpPr>
          <p:spPr>
            <a:xfrm>
              <a:off x="152400" y="133350"/>
              <a:ext cx="3743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CORRELATION MATRIX HEATMAP</a:t>
              </a:r>
              <a:endParaRPr sz="95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826" name="Google Shape;826;p26"/>
            <p:cNvSpPr txBox="1"/>
            <p:nvPr/>
          </p:nvSpPr>
          <p:spPr>
            <a:xfrm>
              <a:off x="1238250" y="419100"/>
              <a:ext cx="762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Tenure</a:t>
              </a:r>
              <a:endParaRPr sz="6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27" name="Google Shape;827;p26"/>
            <p:cNvSpPr txBox="1"/>
            <p:nvPr/>
          </p:nvSpPr>
          <p:spPr>
            <a:xfrm>
              <a:off x="2095500" y="419100"/>
              <a:ext cx="762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Plan Amt</a:t>
              </a:r>
              <a:endParaRPr sz="6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28" name="Google Shape;828;p26"/>
            <p:cNvSpPr txBox="1"/>
            <p:nvPr/>
          </p:nvSpPr>
          <p:spPr>
            <a:xfrm>
              <a:off x="2952750" y="419100"/>
              <a:ext cx="762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Pay Delay</a:t>
              </a:r>
              <a:endParaRPr sz="6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29" name="Google Shape;829;p26"/>
            <p:cNvSpPr txBox="1"/>
            <p:nvPr/>
          </p:nvSpPr>
          <p:spPr>
            <a:xfrm>
              <a:off x="152400" y="628650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Tenure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30" name="Google Shape;830;p26"/>
            <p:cNvSpPr/>
            <p:nvPr/>
          </p:nvSpPr>
          <p:spPr>
            <a:xfrm>
              <a:off x="1238250" y="628650"/>
              <a:ext cx="762000" cy="285900"/>
            </a:xfrm>
            <a:prstGeom prst="roundRect">
              <a:avLst>
                <a:gd name="adj" fmla="val 13333"/>
              </a:avLst>
            </a:prstGeom>
            <a:solidFill>
              <a:srgbClr val="0E1C5D">
                <a:alpha val="12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6"/>
            <p:cNvSpPr txBox="1"/>
            <p:nvPr/>
          </p:nvSpPr>
          <p:spPr>
            <a:xfrm>
              <a:off x="1238250" y="6286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1.00</a:t>
              </a:r>
              <a:endParaRPr sz="80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32" name="Google Shape;832;p26"/>
            <p:cNvSpPr/>
            <p:nvPr/>
          </p:nvSpPr>
          <p:spPr>
            <a:xfrm>
              <a:off x="2095500" y="628650"/>
              <a:ext cx="762000" cy="285900"/>
            </a:xfrm>
            <a:prstGeom prst="roundRect">
              <a:avLst>
                <a:gd name="adj" fmla="val 13333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6"/>
            <p:cNvSpPr txBox="1"/>
            <p:nvPr/>
          </p:nvSpPr>
          <p:spPr>
            <a:xfrm>
              <a:off x="2095500" y="6286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+0.78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34" name="Google Shape;834;p26"/>
            <p:cNvSpPr/>
            <p:nvPr/>
          </p:nvSpPr>
          <p:spPr>
            <a:xfrm>
              <a:off x="2952750" y="628650"/>
              <a:ext cx="762000" cy="285900"/>
            </a:xfrm>
            <a:prstGeom prst="roundRect">
              <a:avLst>
                <a:gd name="adj" fmla="val 13333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6"/>
            <p:cNvSpPr txBox="1"/>
            <p:nvPr/>
          </p:nvSpPr>
          <p:spPr>
            <a:xfrm>
              <a:off x="2952750" y="6286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-0.65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36" name="Google Shape;836;p26"/>
            <p:cNvSpPr txBox="1"/>
            <p:nvPr/>
          </p:nvSpPr>
          <p:spPr>
            <a:xfrm>
              <a:off x="152400" y="971550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Plan Amt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37" name="Google Shape;837;p26"/>
            <p:cNvSpPr/>
            <p:nvPr/>
          </p:nvSpPr>
          <p:spPr>
            <a:xfrm>
              <a:off x="1238250" y="971550"/>
              <a:ext cx="762000" cy="285900"/>
            </a:xfrm>
            <a:prstGeom prst="roundRect">
              <a:avLst>
                <a:gd name="adj" fmla="val 13333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6"/>
            <p:cNvSpPr txBox="1"/>
            <p:nvPr/>
          </p:nvSpPr>
          <p:spPr>
            <a:xfrm>
              <a:off x="1238250" y="9715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+0.78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39" name="Google Shape;839;p26"/>
            <p:cNvSpPr/>
            <p:nvPr/>
          </p:nvSpPr>
          <p:spPr>
            <a:xfrm>
              <a:off x="2095500" y="971550"/>
              <a:ext cx="762000" cy="285900"/>
            </a:xfrm>
            <a:prstGeom prst="roundRect">
              <a:avLst>
                <a:gd name="adj" fmla="val 13333"/>
              </a:avLst>
            </a:prstGeom>
            <a:solidFill>
              <a:srgbClr val="0E1C5D">
                <a:alpha val="12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6"/>
            <p:cNvSpPr txBox="1"/>
            <p:nvPr/>
          </p:nvSpPr>
          <p:spPr>
            <a:xfrm>
              <a:off x="2095500" y="9715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1.00</a:t>
              </a:r>
              <a:endParaRPr sz="80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1" name="Google Shape;841;p26"/>
            <p:cNvSpPr/>
            <p:nvPr/>
          </p:nvSpPr>
          <p:spPr>
            <a:xfrm>
              <a:off x="2952750" y="971550"/>
              <a:ext cx="762000" cy="285900"/>
            </a:xfrm>
            <a:prstGeom prst="roundRect">
              <a:avLst>
                <a:gd name="adj" fmla="val 13333"/>
              </a:avLst>
            </a:prstGeom>
            <a:solidFill>
              <a:srgbClr val="C84B6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6"/>
            <p:cNvSpPr txBox="1"/>
            <p:nvPr/>
          </p:nvSpPr>
          <p:spPr>
            <a:xfrm>
              <a:off x="2952750" y="9715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-0.42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3" name="Google Shape;843;p26"/>
            <p:cNvSpPr txBox="1"/>
            <p:nvPr/>
          </p:nvSpPr>
          <p:spPr>
            <a:xfrm>
              <a:off x="152400" y="1314450"/>
              <a:ext cx="95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Pay Delay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4" name="Google Shape;844;p26"/>
            <p:cNvSpPr/>
            <p:nvPr/>
          </p:nvSpPr>
          <p:spPr>
            <a:xfrm>
              <a:off x="1238250" y="1314450"/>
              <a:ext cx="762000" cy="285900"/>
            </a:xfrm>
            <a:prstGeom prst="roundRect">
              <a:avLst>
                <a:gd name="adj" fmla="val 13333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6"/>
            <p:cNvSpPr txBox="1"/>
            <p:nvPr/>
          </p:nvSpPr>
          <p:spPr>
            <a:xfrm>
              <a:off x="1238250" y="13144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-0.65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6" name="Google Shape;846;p26"/>
            <p:cNvSpPr/>
            <p:nvPr/>
          </p:nvSpPr>
          <p:spPr>
            <a:xfrm>
              <a:off x="2095500" y="1314450"/>
              <a:ext cx="762000" cy="285900"/>
            </a:xfrm>
            <a:prstGeom prst="roundRect">
              <a:avLst>
                <a:gd name="adj" fmla="val 13333"/>
              </a:avLst>
            </a:prstGeom>
            <a:solidFill>
              <a:srgbClr val="C84B6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6"/>
            <p:cNvSpPr txBox="1"/>
            <p:nvPr/>
          </p:nvSpPr>
          <p:spPr>
            <a:xfrm>
              <a:off x="2095500" y="13144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-0.42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48" name="Google Shape;848;p26"/>
            <p:cNvSpPr/>
            <p:nvPr/>
          </p:nvSpPr>
          <p:spPr>
            <a:xfrm>
              <a:off x="2952750" y="1314450"/>
              <a:ext cx="762000" cy="285900"/>
            </a:xfrm>
            <a:prstGeom prst="roundRect">
              <a:avLst>
                <a:gd name="adj" fmla="val 13333"/>
              </a:avLst>
            </a:prstGeom>
            <a:solidFill>
              <a:srgbClr val="0E1C5D">
                <a:alpha val="12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6"/>
            <p:cNvSpPr txBox="1"/>
            <p:nvPr/>
          </p:nvSpPr>
          <p:spPr>
            <a:xfrm>
              <a:off x="2952750" y="13144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1.00</a:t>
              </a:r>
              <a:endParaRPr sz="80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0" name="Google Shape;850;p26"/>
            <p:cNvSpPr/>
            <p:nvPr/>
          </p:nvSpPr>
          <p:spPr>
            <a:xfrm>
              <a:off x="1238250" y="1733550"/>
              <a:ext cx="666900" cy="57300"/>
            </a:xfrm>
            <a:prstGeom prst="roundRect">
              <a:avLst>
                <a:gd name="adj" fmla="val 33333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6"/>
            <p:cNvSpPr txBox="1"/>
            <p:nvPr/>
          </p:nvSpPr>
          <p:spPr>
            <a:xfrm>
              <a:off x="1190625" y="1819275"/>
              <a:ext cx="7620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+1.0 Positive</a:t>
              </a:r>
              <a:endParaRPr sz="5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52" name="Google Shape;852;p26"/>
            <p:cNvSpPr/>
            <p:nvPr/>
          </p:nvSpPr>
          <p:spPr>
            <a:xfrm>
              <a:off x="2143125" y="1733550"/>
              <a:ext cx="666900" cy="57300"/>
            </a:xfrm>
            <a:prstGeom prst="roundRect">
              <a:avLst>
                <a:gd name="adj" fmla="val 33333"/>
              </a:avLst>
            </a:prstGeom>
            <a:solidFill>
              <a:srgbClr val="E2E8F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6"/>
            <p:cNvSpPr txBox="1"/>
            <p:nvPr/>
          </p:nvSpPr>
          <p:spPr>
            <a:xfrm>
              <a:off x="2095500" y="1819275"/>
              <a:ext cx="7620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50" b="0">
                  <a:solidFill>
                    <a:srgbClr val="666666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0.0 Neutral</a:t>
              </a:r>
              <a:endParaRPr sz="550" b="0">
                <a:solidFill>
                  <a:srgbClr val="666666"/>
                </a:solidFill>
                <a:latin typeface="Work Sans Medium"/>
                <a:ea typeface="Work Sans Medium"/>
                <a:cs typeface="Work Sans Medium"/>
                <a:sym typeface="Work Sans Medium"/>
              </a:endParaRPr>
            </a:p>
          </p:txBody>
        </p:sp>
        <p:sp>
          <p:nvSpPr>
            <p:cNvPr id="854" name="Google Shape;854;p26"/>
            <p:cNvSpPr/>
            <p:nvPr/>
          </p:nvSpPr>
          <p:spPr>
            <a:xfrm>
              <a:off x="3048000" y="1733550"/>
              <a:ext cx="666900" cy="57300"/>
            </a:xfrm>
            <a:prstGeom prst="roundRect">
              <a:avLst>
                <a:gd name="adj" fmla="val 33333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6"/>
            <p:cNvSpPr txBox="1"/>
            <p:nvPr/>
          </p:nvSpPr>
          <p:spPr>
            <a:xfrm>
              <a:off x="3000375" y="1819275"/>
              <a:ext cx="7620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-1.0 Negative</a:t>
              </a:r>
              <a:endParaRPr sz="5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856" name="Google Shape;856;p26"/>
          <p:cNvGrpSpPr/>
          <p:nvPr/>
        </p:nvGrpSpPr>
        <p:grpSpPr>
          <a:xfrm>
            <a:off x="4714875" y="904875"/>
            <a:ext cx="4048200" cy="2143200"/>
            <a:chOff x="0" y="0"/>
            <a:chExt cx="4048200" cy="2143200"/>
          </a:xfrm>
        </p:grpSpPr>
        <p:sp>
          <p:nvSpPr>
            <p:cNvPr id="857" name="Google Shape;857;p26"/>
            <p:cNvSpPr/>
            <p:nvPr/>
          </p:nvSpPr>
          <p:spPr>
            <a:xfrm>
              <a:off x="0" y="0"/>
              <a:ext cx="4048200" cy="2143200"/>
            </a:xfrm>
            <a:prstGeom prst="roundRect">
              <a:avLst>
                <a:gd name="adj" fmla="val 3555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6"/>
            <p:cNvSpPr txBox="1"/>
            <p:nvPr/>
          </p:nvSpPr>
          <p:spPr>
            <a:xfrm>
              <a:off x="152400" y="133350"/>
              <a:ext cx="3743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PLAN AMOUNT VS. MEMBER TENURE (SCATTER PLOT)</a:t>
              </a:r>
              <a:endParaRPr sz="95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pic>
          <p:nvPicPr>
            <p:cNvPr id="859" name="Google Shape;859;p2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23875" y="490538"/>
              <a:ext cx="31146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0" name="Google Shape;860;p26"/>
            <p:cNvSpPr txBox="1"/>
            <p:nvPr/>
          </p:nvSpPr>
          <p:spPr>
            <a:xfrm>
              <a:off x="114300" y="419100"/>
              <a:ext cx="362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rPr>
                <a:t>36m</a:t>
              </a:r>
              <a:endParaRPr sz="600">
                <a:solidFill>
                  <a:srgbClr val="64748B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pic>
          <p:nvPicPr>
            <p:cNvPr id="861" name="Google Shape;861;p2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23875" y="833438"/>
              <a:ext cx="31146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2" name="Google Shape;862;p26"/>
            <p:cNvSpPr txBox="1"/>
            <p:nvPr/>
          </p:nvSpPr>
          <p:spPr>
            <a:xfrm>
              <a:off x="114300" y="762000"/>
              <a:ext cx="362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rPr>
                <a:t>24m</a:t>
              </a:r>
              <a:endParaRPr sz="600">
                <a:solidFill>
                  <a:srgbClr val="64748B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pic>
          <p:nvPicPr>
            <p:cNvPr id="863" name="Google Shape;863;p2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23875" y="1176338"/>
              <a:ext cx="31146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4" name="Google Shape;864;p26"/>
            <p:cNvSpPr txBox="1"/>
            <p:nvPr/>
          </p:nvSpPr>
          <p:spPr>
            <a:xfrm>
              <a:off x="114300" y="1104900"/>
              <a:ext cx="362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rPr>
                <a:t>12m</a:t>
              </a:r>
              <a:endParaRPr sz="600">
                <a:solidFill>
                  <a:srgbClr val="64748B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5" name="Google Shape;865;p26"/>
            <p:cNvSpPr txBox="1"/>
            <p:nvPr/>
          </p:nvSpPr>
          <p:spPr>
            <a:xfrm>
              <a:off x="114300" y="1447800"/>
              <a:ext cx="362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rPr>
                <a:t>0m</a:t>
              </a:r>
              <a:endParaRPr sz="600">
                <a:solidFill>
                  <a:srgbClr val="64748B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cxnSp>
          <p:nvCxnSpPr>
            <p:cNvPr id="866" name="Google Shape;866;p26"/>
            <p:cNvCxnSpPr/>
            <p:nvPr/>
          </p:nvCxnSpPr>
          <p:spPr>
            <a:xfrm>
              <a:off x="523875" y="476250"/>
              <a:ext cx="0" cy="104790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7" name="Google Shape;867;p26"/>
            <p:cNvCxnSpPr/>
            <p:nvPr/>
          </p:nvCxnSpPr>
          <p:spPr>
            <a:xfrm>
              <a:off x="523875" y="1524000"/>
              <a:ext cx="31434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868" name="Google Shape;868;p26"/>
            <p:cNvSpPr txBox="1"/>
            <p:nvPr/>
          </p:nvSpPr>
          <p:spPr>
            <a:xfrm>
              <a:off x="619125" y="1562100"/>
              <a:ext cx="3810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₹1,000</a:t>
              </a:r>
              <a:endParaRPr sz="600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69" name="Google Shape;869;p26"/>
            <p:cNvSpPr txBox="1"/>
            <p:nvPr/>
          </p:nvSpPr>
          <p:spPr>
            <a:xfrm>
              <a:off x="1381125" y="1562100"/>
              <a:ext cx="3810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₹3,000</a:t>
              </a:r>
              <a:endParaRPr sz="600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0" name="Google Shape;870;p26"/>
            <p:cNvSpPr txBox="1"/>
            <p:nvPr/>
          </p:nvSpPr>
          <p:spPr>
            <a:xfrm>
              <a:off x="2143125" y="1562100"/>
              <a:ext cx="3810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₹5,000</a:t>
              </a:r>
              <a:endParaRPr sz="600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1" name="Google Shape;871;p26"/>
            <p:cNvSpPr txBox="1"/>
            <p:nvPr/>
          </p:nvSpPr>
          <p:spPr>
            <a:xfrm>
              <a:off x="2905125" y="1562100"/>
              <a:ext cx="3810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₹7,000+</a:t>
              </a:r>
              <a:endParaRPr sz="600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72" name="Google Shape;872;p26"/>
            <p:cNvSpPr txBox="1"/>
            <p:nvPr/>
          </p:nvSpPr>
          <p:spPr>
            <a:xfrm>
              <a:off x="1285875" y="1714500"/>
              <a:ext cx="17145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Plan Amount (₹)</a:t>
              </a:r>
              <a:endParaRPr sz="6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cxnSp>
          <p:nvCxnSpPr>
            <p:cNvPr id="873" name="Google Shape;873;p26"/>
            <p:cNvCxnSpPr/>
            <p:nvPr/>
          </p:nvCxnSpPr>
          <p:spPr>
            <a:xfrm rot="10800000" flipH="1">
              <a:off x="619125" y="552450"/>
              <a:ext cx="2905200" cy="876300"/>
            </a:xfrm>
            <a:prstGeom prst="straightConnector1">
              <a:avLst/>
            </a:prstGeom>
            <a:solidFill>
              <a:srgbClr val="FFFFFF"/>
            </a:solidFill>
            <a:ln w="23825" cap="rnd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874" name="Google Shape;874;p26"/>
            <p:cNvSpPr/>
            <p:nvPr/>
          </p:nvSpPr>
          <p:spPr>
            <a:xfrm>
              <a:off x="652463" y="1376363"/>
              <a:ext cx="66600" cy="66600"/>
            </a:xfrm>
            <a:prstGeom prst="ellipse">
              <a:avLst/>
            </a:prstGeom>
            <a:solidFill>
              <a:srgbClr val="0E1C5D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6"/>
            <p:cNvSpPr/>
            <p:nvPr/>
          </p:nvSpPr>
          <p:spPr>
            <a:xfrm>
              <a:off x="900113" y="1319213"/>
              <a:ext cx="66600" cy="66600"/>
            </a:xfrm>
            <a:prstGeom prst="ellipse">
              <a:avLst/>
            </a:prstGeom>
            <a:solidFill>
              <a:srgbClr val="0E1C5D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6"/>
            <p:cNvSpPr/>
            <p:nvPr/>
          </p:nvSpPr>
          <p:spPr>
            <a:xfrm>
              <a:off x="1090613" y="1223963"/>
              <a:ext cx="66600" cy="66600"/>
            </a:xfrm>
            <a:prstGeom prst="ellipse">
              <a:avLst/>
            </a:prstGeom>
            <a:solidFill>
              <a:srgbClr val="0E1C5D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6"/>
            <p:cNvSpPr/>
            <p:nvPr/>
          </p:nvSpPr>
          <p:spPr>
            <a:xfrm>
              <a:off x="1347788" y="1128713"/>
              <a:ext cx="66600" cy="66600"/>
            </a:xfrm>
            <a:prstGeom prst="ellipse">
              <a:avLst/>
            </a:prstGeom>
            <a:solidFill>
              <a:srgbClr val="0E1C5D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6"/>
            <p:cNvSpPr/>
            <p:nvPr/>
          </p:nvSpPr>
          <p:spPr>
            <a:xfrm>
              <a:off x="1604963" y="1166813"/>
              <a:ext cx="66600" cy="66600"/>
            </a:xfrm>
            <a:prstGeom prst="ellipse">
              <a:avLst/>
            </a:prstGeom>
            <a:solidFill>
              <a:srgbClr val="0E1C5D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6"/>
            <p:cNvSpPr/>
            <p:nvPr/>
          </p:nvSpPr>
          <p:spPr>
            <a:xfrm>
              <a:off x="1824038" y="995363"/>
              <a:ext cx="66600" cy="66600"/>
            </a:xfrm>
            <a:prstGeom prst="ellipse">
              <a:avLst/>
            </a:prstGeom>
            <a:solidFill>
              <a:srgbClr val="0E1C5D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6"/>
            <p:cNvSpPr/>
            <p:nvPr/>
          </p:nvSpPr>
          <p:spPr>
            <a:xfrm>
              <a:off x="2138363" y="919163"/>
              <a:ext cx="66600" cy="66600"/>
            </a:xfrm>
            <a:prstGeom prst="ellipse">
              <a:avLst/>
            </a:prstGeom>
            <a:solidFill>
              <a:srgbClr val="0E1C5D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6"/>
            <p:cNvSpPr/>
            <p:nvPr/>
          </p:nvSpPr>
          <p:spPr>
            <a:xfrm>
              <a:off x="2424113" y="842963"/>
              <a:ext cx="66600" cy="66600"/>
            </a:xfrm>
            <a:prstGeom prst="ellipse">
              <a:avLst/>
            </a:prstGeom>
            <a:solidFill>
              <a:srgbClr val="0E1C5D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6"/>
            <p:cNvSpPr/>
            <p:nvPr/>
          </p:nvSpPr>
          <p:spPr>
            <a:xfrm>
              <a:off x="2709863" y="747713"/>
              <a:ext cx="66600" cy="66600"/>
            </a:xfrm>
            <a:prstGeom prst="ellipse">
              <a:avLst/>
            </a:prstGeom>
            <a:solidFill>
              <a:srgbClr val="0E1C5D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6"/>
            <p:cNvSpPr/>
            <p:nvPr/>
          </p:nvSpPr>
          <p:spPr>
            <a:xfrm>
              <a:off x="3014663" y="671513"/>
              <a:ext cx="66600" cy="66600"/>
            </a:xfrm>
            <a:prstGeom prst="ellipse">
              <a:avLst/>
            </a:prstGeom>
            <a:solidFill>
              <a:srgbClr val="0E1C5D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6"/>
            <p:cNvSpPr/>
            <p:nvPr/>
          </p:nvSpPr>
          <p:spPr>
            <a:xfrm>
              <a:off x="3252788" y="709613"/>
              <a:ext cx="66600" cy="66600"/>
            </a:xfrm>
            <a:prstGeom prst="ellipse">
              <a:avLst/>
            </a:prstGeom>
            <a:solidFill>
              <a:srgbClr val="0E1C5D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6"/>
            <p:cNvSpPr/>
            <p:nvPr/>
          </p:nvSpPr>
          <p:spPr>
            <a:xfrm>
              <a:off x="3452813" y="557213"/>
              <a:ext cx="66600" cy="66600"/>
            </a:xfrm>
            <a:prstGeom prst="ellipse">
              <a:avLst/>
            </a:prstGeom>
            <a:solidFill>
              <a:srgbClr val="0E1C5D">
                <a:alpha val="8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6"/>
            <p:cNvSpPr/>
            <p:nvPr/>
          </p:nvSpPr>
          <p:spPr>
            <a:xfrm>
              <a:off x="2238375" y="1123950"/>
              <a:ext cx="1285800" cy="209700"/>
            </a:xfrm>
            <a:prstGeom prst="roundRect">
              <a:avLst>
                <a:gd name="adj" fmla="val 18181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6"/>
            <p:cNvSpPr txBox="1"/>
            <p:nvPr/>
          </p:nvSpPr>
          <p:spPr>
            <a:xfrm>
              <a:off x="2238375" y="1123950"/>
              <a:ext cx="12858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Strong Trend: r = +0.78</a:t>
              </a:r>
              <a:endParaRPr sz="6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888" name="Google Shape;888;p26"/>
          <p:cNvGrpSpPr/>
          <p:nvPr/>
        </p:nvGrpSpPr>
        <p:grpSpPr>
          <a:xfrm>
            <a:off x="381000" y="3190875"/>
            <a:ext cx="4048200" cy="1571700"/>
            <a:chOff x="0" y="0"/>
            <a:chExt cx="4048200" cy="1571700"/>
          </a:xfrm>
        </p:grpSpPr>
        <p:sp>
          <p:nvSpPr>
            <p:cNvPr id="889" name="Google Shape;889;p26"/>
            <p:cNvSpPr/>
            <p:nvPr/>
          </p:nvSpPr>
          <p:spPr>
            <a:xfrm>
              <a:off x="0" y="0"/>
              <a:ext cx="4048200" cy="1571700"/>
            </a:xfrm>
            <a:prstGeom prst="roundRect">
              <a:avLst>
                <a:gd name="adj" fmla="val 4848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6"/>
            <p:cNvSpPr/>
            <p:nvPr/>
          </p:nvSpPr>
          <p:spPr>
            <a:xfrm>
              <a:off x="0" y="0"/>
              <a:ext cx="57300" cy="1571700"/>
            </a:xfrm>
            <a:prstGeom prst="roundRect">
              <a:avLst>
                <a:gd name="adj" fmla="val 50000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6"/>
            <p:cNvSpPr txBox="1"/>
            <p:nvPr/>
          </p:nvSpPr>
          <p:spPr>
            <a:xfrm>
              <a:off x="209550" y="152400"/>
              <a:ext cx="3667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STRONG POSITIVE CORRELATION (r &gt; 0.7)</a:t>
              </a:r>
              <a:endParaRPr sz="110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892" name="Google Shape;892;p26"/>
            <p:cNvSpPr/>
            <p:nvPr/>
          </p:nvSpPr>
          <p:spPr>
            <a:xfrm>
              <a:off x="209550" y="419100"/>
              <a:ext cx="685800" cy="190500"/>
            </a:xfrm>
            <a:prstGeom prst="roundRect">
              <a:avLst>
                <a:gd name="adj" fmla="val 50000"/>
              </a:avLst>
            </a:prstGeom>
            <a:solidFill>
              <a:srgbClr val="0E1C5D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6"/>
            <p:cNvSpPr txBox="1"/>
            <p:nvPr/>
          </p:nvSpPr>
          <p:spPr>
            <a:xfrm>
              <a:off x="209550" y="419100"/>
              <a:ext cx="685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r = +0.78</a:t>
              </a:r>
              <a:endParaRPr sz="7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894" name="Google Shape;894;p26"/>
            <p:cNvSpPr txBox="1"/>
            <p:nvPr/>
          </p:nvSpPr>
          <p:spPr>
            <a:xfrm>
              <a:off x="209550" y="685800"/>
              <a:ext cx="3667200" cy="74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Plan amount directly aligns with membership duration.</a:t>
              </a:r>
              <a:endParaRPr sz="850" b="1">
                <a:solidFill>
                  <a:srgbClr val="0E1C5D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rPr>
                <a:t>Higher-value financial commitments directly correlate with longer member tenure, indicating premium tier members exhibit significantly stronger long-term retention.</a:t>
              </a:r>
              <a:endParaRPr sz="850" b="0">
                <a:solidFill>
                  <a:srgbClr val="5555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895" name="Google Shape;895;p26"/>
          <p:cNvGrpSpPr/>
          <p:nvPr/>
        </p:nvGrpSpPr>
        <p:grpSpPr>
          <a:xfrm>
            <a:off x="4714875" y="3190875"/>
            <a:ext cx="4048200" cy="1571700"/>
            <a:chOff x="0" y="0"/>
            <a:chExt cx="4048200" cy="1571700"/>
          </a:xfrm>
        </p:grpSpPr>
        <p:sp>
          <p:nvSpPr>
            <p:cNvPr id="896" name="Google Shape;896;p26"/>
            <p:cNvSpPr/>
            <p:nvPr/>
          </p:nvSpPr>
          <p:spPr>
            <a:xfrm>
              <a:off x="0" y="0"/>
              <a:ext cx="4048200" cy="1571700"/>
            </a:xfrm>
            <a:prstGeom prst="roundRect">
              <a:avLst>
                <a:gd name="adj" fmla="val 4848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6"/>
            <p:cNvSpPr/>
            <p:nvPr/>
          </p:nvSpPr>
          <p:spPr>
            <a:xfrm>
              <a:off x="0" y="0"/>
              <a:ext cx="57300" cy="1571700"/>
            </a:xfrm>
            <a:prstGeom prst="roundRect">
              <a:avLst>
                <a:gd name="adj" fmla="val 50000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6"/>
            <p:cNvSpPr txBox="1"/>
            <p:nvPr/>
          </p:nvSpPr>
          <p:spPr>
            <a:xfrm>
              <a:off x="209550" y="152400"/>
              <a:ext cx="3667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A60042"/>
                  </a:solidFill>
                  <a:latin typeface="Anton"/>
                  <a:ea typeface="Anton"/>
                  <a:cs typeface="Anton"/>
                  <a:sym typeface="Anton"/>
                </a:rPr>
                <a:t>NEGATIVE ASSOCIATION &amp; EARLY CHURN WARNING</a:t>
              </a:r>
              <a:endParaRPr sz="1100">
                <a:solidFill>
                  <a:srgbClr val="A60042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899" name="Google Shape;899;p26"/>
            <p:cNvSpPr/>
            <p:nvPr/>
          </p:nvSpPr>
          <p:spPr>
            <a:xfrm>
              <a:off x="209550" y="419100"/>
              <a:ext cx="685800" cy="190500"/>
            </a:xfrm>
            <a:prstGeom prst="roundRect">
              <a:avLst>
                <a:gd name="adj" fmla="val 50000"/>
              </a:avLst>
            </a:prstGeom>
            <a:solidFill>
              <a:srgbClr val="A60042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6"/>
            <p:cNvSpPr txBox="1"/>
            <p:nvPr/>
          </p:nvSpPr>
          <p:spPr>
            <a:xfrm>
              <a:off x="209550" y="419100"/>
              <a:ext cx="685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r = -0.65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01" name="Google Shape;901;p26"/>
            <p:cNvSpPr txBox="1"/>
            <p:nvPr/>
          </p:nvSpPr>
          <p:spPr>
            <a:xfrm>
              <a:off x="209550" y="685800"/>
              <a:ext cx="3667200" cy="74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Payment delays strongly indicate impending attrition.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rPr>
                <a:t>The length of payment gaps correlates negatively with member retention. Recurring billing delays serve as a critical statistical early warning sign of impending member churn, enabling proactive intervention.</a:t>
              </a:r>
              <a:endParaRPr sz="850" b="0">
                <a:solidFill>
                  <a:srgbClr val="5555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7" name="Google Shape;907;p27"/>
          <p:cNvGrpSpPr/>
          <p:nvPr/>
        </p:nvGrpSpPr>
        <p:grpSpPr>
          <a:xfrm>
            <a:off x="514350" y="428625"/>
            <a:ext cx="8115300" cy="638250"/>
            <a:chOff x="0" y="0"/>
            <a:chExt cx="8115300" cy="638250"/>
          </a:xfrm>
        </p:grpSpPr>
        <p:sp>
          <p:nvSpPr>
            <p:cNvPr id="908" name="Google Shape;908;p27"/>
            <p:cNvSpPr txBox="1"/>
            <p:nvPr/>
          </p:nvSpPr>
          <p:spPr>
            <a:xfrm>
              <a:off x="0" y="0"/>
              <a:ext cx="8115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80" b="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Root Cause Analysis: Member Churn</a:t>
              </a:r>
              <a:endParaRPr sz="238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909" name="Google Shape;909;p27"/>
            <p:cNvSpPr txBox="1"/>
            <p:nvPr/>
          </p:nvSpPr>
          <p:spPr>
            <a:xfrm>
              <a:off x="0" y="400050"/>
              <a:ext cx="81153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The Ishikawa diagram categorizes operational gaps, isolating missing reminders and peak congestion as primary churn catalysts.</a:t>
              </a:r>
              <a:endParaRPr sz="75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910" name="Google Shape;910;p27"/>
          <p:cNvGrpSpPr/>
          <p:nvPr/>
        </p:nvGrpSpPr>
        <p:grpSpPr>
          <a:xfrm>
            <a:off x="514350" y="1095375"/>
            <a:ext cx="8153475" cy="3714825"/>
            <a:chOff x="514350" y="904875"/>
            <a:chExt cx="8153475" cy="3714825"/>
          </a:xfrm>
        </p:grpSpPr>
        <p:cxnSp>
          <p:nvCxnSpPr>
            <p:cNvPr id="911" name="Google Shape;911;p27"/>
            <p:cNvCxnSpPr/>
            <p:nvPr/>
          </p:nvCxnSpPr>
          <p:spPr>
            <a:xfrm>
              <a:off x="514350" y="2762250"/>
              <a:ext cx="7010400" cy="0"/>
            </a:xfrm>
            <a:prstGeom prst="straightConnector1">
              <a:avLst/>
            </a:prstGeom>
            <a:solidFill>
              <a:srgbClr val="FFFFFF"/>
            </a:solidFill>
            <a:ln w="38100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12" name="Google Shape;912;p27"/>
            <p:cNvSpPr/>
            <p:nvPr/>
          </p:nvSpPr>
          <p:spPr>
            <a:xfrm>
              <a:off x="7524750" y="2695575"/>
              <a:ext cx="142800" cy="133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3" name="Google Shape;913;p27"/>
            <p:cNvGrpSpPr/>
            <p:nvPr/>
          </p:nvGrpSpPr>
          <p:grpSpPr>
            <a:xfrm>
              <a:off x="7667625" y="2428875"/>
              <a:ext cx="1000200" cy="666900"/>
              <a:chOff x="0" y="0"/>
              <a:chExt cx="1000200" cy="666900"/>
            </a:xfrm>
          </p:grpSpPr>
          <p:sp>
            <p:nvSpPr>
              <p:cNvPr id="914" name="Google Shape;914;p27"/>
              <p:cNvSpPr/>
              <p:nvPr/>
            </p:nvSpPr>
            <p:spPr>
              <a:xfrm>
                <a:off x="0" y="0"/>
                <a:ext cx="1000200" cy="666900"/>
              </a:xfrm>
              <a:prstGeom prst="roundRect">
                <a:avLst>
                  <a:gd name="adj" fmla="val 2857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27"/>
              <p:cNvSpPr txBox="1"/>
              <p:nvPr/>
            </p:nvSpPr>
            <p:spPr>
              <a:xfrm>
                <a:off x="47625" y="114300"/>
                <a:ext cx="9048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MEMBER</a:t>
                </a:r>
                <a:endParaRPr sz="13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CHURN</a:t>
                </a:r>
                <a:endParaRPr sz="13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</p:grpSp>
        <p:grpSp>
          <p:nvGrpSpPr>
            <p:cNvPr id="916" name="Google Shape;916;p27"/>
            <p:cNvGrpSpPr/>
            <p:nvPr/>
          </p:nvGrpSpPr>
          <p:grpSpPr>
            <a:xfrm>
              <a:off x="666750" y="904875"/>
              <a:ext cx="1524000" cy="1857225"/>
              <a:chOff x="666750" y="904875"/>
              <a:chExt cx="1524000" cy="1857225"/>
            </a:xfrm>
          </p:grpSpPr>
          <p:cxnSp>
            <p:nvCxnSpPr>
              <p:cNvPr id="917" name="Google Shape;917;p27"/>
              <p:cNvCxnSpPr/>
              <p:nvPr/>
            </p:nvCxnSpPr>
            <p:spPr>
              <a:xfrm>
                <a:off x="1428750" y="1143000"/>
                <a:ext cx="762000" cy="1619100"/>
              </a:xfrm>
              <a:prstGeom prst="straightConnector1">
                <a:avLst/>
              </a:prstGeom>
              <a:solidFill>
                <a:srgbClr val="FFFFFF"/>
              </a:solidFill>
              <a:ln w="23825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18" name="Google Shape;918;p27"/>
              <p:cNvSpPr/>
              <p:nvPr/>
            </p:nvSpPr>
            <p:spPr>
              <a:xfrm>
                <a:off x="857250" y="904875"/>
                <a:ext cx="1143000" cy="2382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27"/>
              <p:cNvSpPr txBox="1"/>
              <p:nvPr/>
            </p:nvSpPr>
            <p:spPr>
              <a:xfrm>
                <a:off x="857250" y="933450"/>
                <a:ext cx="114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PROCESS</a:t>
                </a:r>
                <a:endParaRPr sz="12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pic>
            <p:nvPicPr>
              <p:cNvPr id="920" name="Google Shape;920;p27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047750" y="1562100"/>
                <a:ext cx="5811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21" name="Google Shape;921;p27"/>
              <p:cNvSpPr txBox="1"/>
              <p:nvPr/>
            </p:nvSpPr>
            <p:spPr>
              <a:xfrm>
                <a:off x="666750" y="1266825"/>
                <a:ext cx="10953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94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</a:t>
                </a:r>
                <a:r>
                  <a:rPr lang="en" sz="694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Absence of automated CRM renewal reminders</a:t>
                </a:r>
                <a:endParaRPr sz="694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pic>
            <p:nvPicPr>
              <p:cNvPr id="922" name="Google Shape;922;p2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285875" y="2085975"/>
                <a:ext cx="5907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23" name="Google Shape;923;p27"/>
              <p:cNvSpPr txBox="1"/>
              <p:nvPr/>
            </p:nvSpPr>
            <p:spPr>
              <a:xfrm>
                <a:off x="904875" y="1857375"/>
                <a:ext cx="10953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</a:t>
                </a:r>
                <a:r>
                  <a:rPr lang="en" sz="750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Lack of structured onboarding</a:t>
                </a:r>
                <a:endParaRPr sz="7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924" name="Google Shape;924;p27"/>
            <p:cNvGrpSpPr/>
            <p:nvPr/>
          </p:nvGrpSpPr>
          <p:grpSpPr>
            <a:xfrm>
              <a:off x="2857500" y="904875"/>
              <a:ext cx="1619250" cy="1857225"/>
              <a:chOff x="2857500" y="904875"/>
              <a:chExt cx="1619250" cy="1857225"/>
            </a:xfrm>
          </p:grpSpPr>
          <p:cxnSp>
            <p:nvCxnSpPr>
              <p:cNvPr id="925" name="Google Shape;925;p27"/>
              <p:cNvCxnSpPr/>
              <p:nvPr/>
            </p:nvCxnSpPr>
            <p:spPr>
              <a:xfrm>
                <a:off x="3714750" y="1143000"/>
                <a:ext cx="762000" cy="1619100"/>
              </a:xfrm>
              <a:prstGeom prst="straightConnector1">
                <a:avLst/>
              </a:prstGeom>
              <a:solidFill>
                <a:srgbClr val="FFFFFF"/>
              </a:solidFill>
              <a:ln w="23825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26" name="Google Shape;926;p27"/>
              <p:cNvSpPr/>
              <p:nvPr/>
            </p:nvSpPr>
            <p:spPr>
              <a:xfrm>
                <a:off x="3143250" y="904875"/>
                <a:ext cx="1143000" cy="2382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27"/>
              <p:cNvSpPr txBox="1"/>
              <p:nvPr/>
            </p:nvSpPr>
            <p:spPr>
              <a:xfrm>
                <a:off x="3143250" y="933450"/>
                <a:ext cx="114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EQUIPMENT</a:t>
                </a:r>
                <a:endParaRPr sz="12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pic>
            <p:nvPicPr>
              <p:cNvPr id="928" name="Google Shape;928;p27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238500" y="1562100"/>
                <a:ext cx="6669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29" name="Google Shape;929;p27"/>
              <p:cNvSpPr txBox="1"/>
              <p:nvPr/>
            </p:nvSpPr>
            <p:spPr>
              <a:xfrm>
                <a:off x="2857500" y="1333500"/>
                <a:ext cx="10953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94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</a:t>
                </a:r>
                <a:r>
                  <a:rPr lang="en" sz="694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Machine unavailability during key hours</a:t>
                </a:r>
                <a:endParaRPr sz="694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pic>
            <p:nvPicPr>
              <p:cNvPr id="930" name="Google Shape;930;p27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476625" y="2085975"/>
                <a:ext cx="6669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31" name="Google Shape;931;p27"/>
              <p:cNvSpPr txBox="1"/>
              <p:nvPr/>
            </p:nvSpPr>
            <p:spPr>
              <a:xfrm>
                <a:off x="3095625" y="1857375"/>
                <a:ext cx="10953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</a:t>
                </a:r>
                <a:r>
                  <a:rPr lang="en" sz="750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Heavy congestion in peak evening times</a:t>
                </a:r>
                <a:endParaRPr sz="7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932" name="Google Shape;932;p27"/>
            <p:cNvGrpSpPr/>
            <p:nvPr/>
          </p:nvGrpSpPr>
          <p:grpSpPr>
            <a:xfrm>
              <a:off x="5143500" y="904875"/>
              <a:ext cx="1619250" cy="1857225"/>
              <a:chOff x="5143500" y="904875"/>
              <a:chExt cx="1619250" cy="1857225"/>
            </a:xfrm>
          </p:grpSpPr>
          <p:cxnSp>
            <p:nvCxnSpPr>
              <p:cNvPr id="933" name="Google Shape;933;p27"/>
              <p:cNvCxnSpPr/>
              <p:nvPr/>
            </p:nvCxnSpPr>
            <p:spPr>
              <a:xfrm>
                <a:off x="6000750" y="1143000"/>
                <a:ext cx="762000" cy="1619100"/>
              </a:xfrm>
              <a:prstGeom prst="straightConnector1">
                <a:avLst/>
              </a:prstGeom>
              <a:solidFill>
                <a:srgbClr val="FFFFFF"/>
              </a:solidFill>
              <a:ln w="23825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34" name="Google Shape;934;p27"/>
              <p:cNvSpPr/>
              <p:nvPr/>
            </p:nvSpPr>
            <p:spPr>
              <a:xfrm>
                <a:off x="5429250" y="904875"/>
                <a:ext cx="1143000" cy="2382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27"/>
              <p:cNvSpPr txBox="1"/>
              <p:nvPr/>
            </p:nvSpPr>
            <p:spPr>
              <a:xfrm>
                <a:off x="5429250" y="933450"/>
                <a:ext cx="114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PEOPLE</a:t>
                </a:r>
                <a:endParaRPr sz="12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cxnSp>
            <p:nvCxnSpPr>
              <p:cNvPr id="936" name="Google Shape;936;p27"/>
              <p:cNvCxnSpPr/>
              <p:nvPr/>
            </p:nvCxnSpPr>
            <p:spPr>
              <a:xfrm>
                <a:off x="5524500" y="1666875"/>
                <a:ext cx="7239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37" name="Google Shape;937;p27"/>
              <p:cNvSpPr txBox="1"/>
              <p:nvPr/>
            </p:nvSpPr>
            <p:spPr>
              <a:xfrm>
                <a:off x="5143500" y="1428750"/>
                <a:ext cx="10953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Variable floor staff engagement</a:t>
                </a:r>
                <a:endParaRPr sz="75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938" name="Google Shape;938;p27"/>
              <p:cNvCxnSpPr/>
              <p:nvPr/>
            </p:nvCxnSpPr>
            <p:spPr>
              <a:xfrm>
                <a:off x="5762625" y="2190750"/>
                <a:ext cx="7335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39" name="Google Shape;939;p27"/>
              <p:cNvSpPr txBox="1"/>
              <p:nvPr/>
            </p:nvSpPr>
            <p:spPr>
              <a:xfrm>
                <a:off x="5381625" y="1952625"/>
                <a:ext cx="10953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Limited trainer check-ins post-signup</a:t>
                </a:r>
                <a:endParaRPr sz="75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940" name="Google Shape;940;p27"/>
            <p:cNvGrpSpPr/>
            <p:nvPr/>
          </p:nvGrpSpPr>
          <p:grpSpPr>
            <a:xfrm>
              <a:off x="666750" y="2762400"/>
              <a:ext cx="1524000" cy="1857300"/>
              <a:chOff x="666750" y="2762400"/>
              <a:chExt cx="1524000" cy="1857300"/>
            </a:xfrm>
          </p:grpSpPr>
          <p:cxnSp>
            <p:nvCxnSpPr>
              <p:cNvPr id="941" name="Google Shape;941;p27"/>
              <p:cNvCxnSpPr/>
              <p:nvPr/>
            </p:nvCxnSpPr>
            <p:spPr>
              <a:xfrm rot="10800000" flipH="1">
                <a:off x="1428750" y="2762400"/>
                <a:ext cx="762000" cy="1619100"/>
              </a:xfrm>
              <a:prstGeom prst="straightConnector1">
                <a:avLst/>
              </a:prstGeom>
              <a:solidFill>
                <a:srgbClr val="FFFFFF"/>
              </a:solidFill>
              <a:ln w="23825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42" name="Google Shape;942;p27"/>
              <p:cNvSpPr/>
              <p:nvPr/>
            </p:nvSpPr>
            <p:spPr>
              <a:xfrm>
                <a:off x="857250" y="4381500"/>
                <a:ext cx="1143000" cy="2382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27"/>
              <p:cNvSpPr txBox="1"/>
              <p:nvPr/>
            </p:nvSpPr>
            <p:spPr>
              <a:xfrm>
                <a:off x="857250" y="4410075"/>
                <a:ext cx="114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PROMOTION</a:t>
                </a:r>
                <a:endParaRPr sz="12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pic>
            <p:nvPicPr>
              <p:cNvPr id="944" name="Google Shape;944;p2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285875" y="3419475"/>
                <a:ext cx="5907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5" name="Google Shape;945;p27"/>
              <p:cNvSpPr txBox="1"/>
              <p:nvPr/>
            </p:nvSpPr>
            <p:spPr>
              <a:xfrm>
                <a:off x="904875" y="3448050"/>
                <a:ext cx="10953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</a:t>
                </a:r>
                <a:r>
                  <a:rPr lang="en" sz="750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Limited loyalty &amp; retention programs</a:t>
                </a:r>
                <a:endParaRPr sz="7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pic>
            <p:nvPicPr>
              <p:cNvPr id="946" name="Google Shape;946;p27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047750" y="3943350"/>
                <a:ext cx="5811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7" name="Google Shape;947;p27"/>
              <p:cNvSpPr txBox="1"/>
              <p:nvPr/>
            </p:nvSpPr>
            <p:spPr>
              <a:xfrm>
                <a:off x="666750" y="3971925"/>
                <a:ext cx="10953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</a:t>
                </a:r>
                <a:r>
                  <a:rPr lang="en" sz="750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Absence of tier upgrade incentives</a:t>
                </a:r>
                <a:endParaRPr sz="7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948" name="Google Shape;948;p27"/>
            <p:cNvGrpSpPr/>
            <p:nvPr/>
          </p:nvGrpSpPr>
          <p:grpSpPr>
            <a:xfrm>
              <a:off x="2857500" y="2762400"/>
              <a:ext cx="1619250" cy="1857300"/>
              <a:chOff x="2857500" y="2762400"/>
              <a:chExt cx="1619250" cy="1857300"/>
            </a:xfrm>
          </p:grpSpPr>
          <p:cxnSp>
            <p:nvCxnSpPr>
              <p:cNvPr id="949" name="Google Shape;949;p27"/>
              <p:cNvCxnSpPr/>
              <p:nvPr/>
            </p:nvCxnSpPr>
            <p:spPr>
              <a:xfrm rot="10800000" flipH="1">
                <a:off x="3714750" y="2762400"/>
                <a:ext cx="762000" cy="1619100"/>
              </a:xfrm>
              <a:prstGeom prst="straightConnector1">
                <a:avLst/>
              </a:prstGeom>
              <a:solidFill>
                <a:srgbClr val="FFFFFF"/>
              </a:solidFill>
              <a:ln w="23825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50" name="Google Shape;950;p27"/>
              <p:cNvSpPr/>
              <p:nvPr/>
            </p:nvSpPr>
            <p:spPr>
              <a:xfrm>
                <a:off x="3143250" y="4381500"/>
                <a:ext cx="1143000" cy="2382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27"/>
              <p:cNvSpPr txBox="1"/>
              <p:nvPr/>
            </p:nvSpPr>
            <p:spPr>
              <a:xfrm>
                <a:off x="3143250" y="4410075"/>
                <a:ext cx="114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POLICY</a:t>
                </a:r>
                <a:endParaRPr sz="12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pic>
            <p:nvPicPr>
              <p:cNvPr id="952" name="Google Shape;952;p27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3476625" y="3419475"/>
                <a:ext cx="6669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3" name="Google Shape;953;p27"/>
              <p:cNvSpPr txBox="1"/>
              <p:nvPr/>
            </p:nvSpPr>
            <p:spPr>
              <a:xfrm>
                <a:off x="3095625" y="3448050"/>
                <a:ext cx="10953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</a:t>
                </a:r>
                <a:r>
                  <a:rPr lang="en" sz="750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Lack of membership freeze options</a:t>
                </a:r>
                <a:endParaRPr sz="75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954" name="Google Shape;954;p27"/>
              <p:cNvCxnSpPr/>
              <p:nvPr/>
            </p:nvCxnSpPr>
            <p:spPr>
              <a:xfrm>
                <a:off x="3238500" y="3952875"/>
                <a:ext cx="6762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55" name="Google Shape;955;p27"/>
              <p:cNvSpPr txBox="1"/>
              <p:nvPr/>
            </p:nvSpPr>
            <p:spPr>
              <a:xfrm>
                <a:off x="2857500" y="3971925"/>
                <a:ext cx="10953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Rigid cancellation window rules</a:t>
                </a:r>
                <a:endParaRPr sz="75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956" name="Google Shape;956;p27"/>
            <p:cNvGrpSpPr/>
            <p:nvPr/>
          </p:nvGrpSpPr>
          <p:grpSpPr>
            <a:xfrm>
              <a:off x="5143500" y="2762400"/>
              <a:ext cx="1619250" cy="1857300"/>
              <a:chOff x="5143500" y="2762400"/>
              <a:chExt cx="1619250" cy="1857300"/>
            </a:xfrm>
          </p:grpSpPr>
          <p:cxnSp>
            <p:nvCxnSpPr>
              <p:cNvPr id="957" name="Google Shape;957;p27"/>
              <p:cNvCxnSpPr/>
              <p:nvPr/>
            </p:nvCxnSpPr>
            <p:spPr>
              <a:xfrm rot="10800000" flipH="1">
                <a:off x="6000750" y="2762400"/>
                <a:ext cx="762000" cy="1619100"/>
              </a:xfrm>
              <a:prstGeom prst="straightConnector1">
                <a:avLst/>
              </a:prstGeom>
              <a:solidFill>
                <a:srgbClr val="FFFFFF"/>
              </a:solidFill>
              <a:ln w="23825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58" name="Google Shape;958;p27"/>
              <p:cNvSpPr/>
              <p:nvPr/>
            </p:nvSpPr>
            <p:spPr>
              <a:xfrm>
                <a:off x="5429250" y="4381500"/>
                <a:ext cx="1143000" cy="2382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27"/>
              <p:cNvSpPr txBox="1"/>
              <p:nvPr/>
            </p:nvSpPr>
            <p:spPr>
              <a:xfrm>
                <a:off x="5429250" y="4410075"/>
                <a:ext cx="1143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PRICE</a:t>
                </a:r>
                <a:endParaRPr sz="12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pic>
            <p:nvPicPr>
              <p:cNvPr id="960" name="Google Shape;960;p27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5762625" y="3419475"/>
                <a:ext cx="7335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61" name="Google Shape;961;p27"/>
              <p:cNvSpPr txBox="1"/>
              <p:nvPr/>
            </p:nvSpPr>
            <p:spPr>
              <a:xfrm>
                <a:off x="5381625" y="3448050"/>
                <a:ext cx="1143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38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</a:t>
                </a:r>
                <a:r>
                  <a:rPr lang="en" sz="638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Perceived value mismatch for monthly plan members</a:t>
                </a:r>
                <a:endParaRPr sz="638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962" name="Google Shape;962;p27"/>
              <p:cNvCxnSpPr/>
              <p:nvPr/>
            </p:nvCxnSpPr>
            <p:spPr>
              <a:xfrm>
                <a:off x="5524500" y="3952875"/>
                <a:ext cx="7239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963" name="Google Shape;963;p27"/>
              <p:cNvSpPr txBox="1"/>
              <p:nvPr/>
            </p:nvSpPr>
            <p:spPr>
              <a:xfrm>
                <a:off x="5143500" y="3971925"/>
                <a:ext cx="10953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• High friction relative to peak utility</a:t>
                </a:r>
                <a:endParaRPr sz="750" b="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9" name="Google Shape;969;p28"/>
          <p:cNvGrpSpPr/>
          <p:nvPr/>
        </p:nvGrpSpPr>
        <p:grpSpPr>
          <a:xfrm>
            <a:off x="514350" y="381000"/>
            <a:ext cx="8115300" cy="571650"/>
            <a:chOff x="0" y="0"/>
            <a:chExt cx="8115300" cy="571650"/>
          </a:xfrm>
        </p:grpSpPr>
        <p:sp>
          <p:nvSpPr>
            <p:cNvPr id="970" name="Google Shape;970;p28"/>
            <p:cNvSpPr txBox="1"/>
            <p:nvPr/>
          </p:nvSpPr>
          <p:spPr>
            <a:xfrm>
              <a:off x="0" y="0"/>
              <a:ext cx="81153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20" b="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FIVE WHYS </a:t>
              </a:r>
              <a:r>
                <a:rPr lang="en" sz="2220" b="0">
                  <a:solidFill>
                    <a:srgbClr val="A60042"/>
                  </a:solidFill>
                  <a:latin typeface="Anton"/>
                  <a:ea typeface="Anton"/>
                  <a:cs typeface="Anton"/>
                  <a:sym typeface="Anton"/>
                </a:rPr>
                <a:t>ROOT CAUSE ANALYSIS</a:t>
              </a:r>
              <a:endParaRPr sz="222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971" name="Google Shape;971;p28"/>
            <p:cNvSpPr txBox="1"/>
            <p:nvPr/>
          </p:nvSpPr>
          <p:spPr>
            <a:xfrm>
              <a:off x="0" y="361950"/>
              <a:ext cx="81153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555555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Operational symptoms drilled down to isolate three primary failure chains driving member attrition.</a:t>
              </a:r>
              <a:endParaRPr sz="900" b="0">
                <a:solidFill>
                  <a:srgbClr val="555555"/>
                </a:solidFill>
                <a:latin typeface="Work Sans Medium"/>
                <a:ea typeface="Work Sans Medium"/>
                <a:cs typeface="Work Sans Medium"/>
                <a:sym typeface="Work Sans Medium"/>
              </a:endParaRPr>
            </a:p>
          </p:txBody>
        </p:sp>
      </p:grpSp>
      <p:grpSp>
        <p:nvGrpSpPr>
          <p:cNvPr id="972" name="Google Shape;972;p28"/>
          <p:cNvGrpSpPr/>
          <p:nvPr/>
        </p:nvGrpSpPr>
        <p:grpSpPr>
          <a:xfrm>
            <a:off x="514350" y="1095375"/>
            <a:ext cx="8115300" cy="1028700"/>
            <a:chOff x="0" y="0"/>
            <a:chExt cx="8115300" cy="1028700"/>
          </a:xfrm>
        </p:grpSpPr>
        <p:sp>
          <p:nvSpPr>
            <p:cNvPr id="973" name="Google Shape;973;p28"/>
            <p:cNvSpPr/>
            <p:nvPr/>
          </p:nvSpPr>
          <p:spPr>
            <a:xfrm>
              <a:off x="0" y="0"/>
              <a:ext cx="8115300" cy="1028700"/>
            </a:xfrm>
            <a:prstGeom prst="roundRect">
              <a:avLst>
                <a:gd name="adj" fmla="val 7407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74" name="Google Shape;974;p28"/>
            <p:cNvGrpSpPr/>
            <p:nvPr/>
          </p:nvGrpSpPr>
          <p:grpSpPr>
            <a:xfrm>
              <a:off x="114300" y="114300"/>
              <a:ext cx="552600" cy="800100"/>
              <a:chOff x="0" y="0"/>
              <a:chExt cx="552600" cy="800100"/>
            </a:xfrm>
          </p:grpSpPr>
          <p:sp>
            <p:nvSpPr>
              <p:cNvPr id="975" name="Google Shape;975;p28"/>
              <p:cNvSpPr/>
              <p:nvPr/>
            </p:nvSpPr>
            <p:spPr>
              <a:xfrm>
                <a:off x="0" y="0"/>
                <a:ext cx="552600" cy="800100"/>
              </a:xfrm>
              <a:prstGeom prst="roundRect">
                <a:avLst>
                  <a:gd name="adj" fmla="val 10344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28"/>
              <p:cNvSpPr txBox="1"/>
              <p:nvPr/>
            </p:nvSpPr>
            <p:spPr>
              <a:xfrm>
                <a:off x="0" y="0"/>
                <a:ext cx="552600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BRANCH</a:t>
                </a:r>
                <a:endParaRPr sz="6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01</a:t>
                </a:r>
                <a:endParaRPr sz="16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</p:grpSp>
        <p:sp>
          <p:nvSpPr>
            <p:cNvPr id="977" name="Google Shape;977;p28"/>
            <p:cNvSpPr txBox="1"/>
            <p:nvPr/>
          </p:nvSpPr>
          <p:spPr>
            <a:xfrm>
              <a:off x="800100" y="114300"/>
              <a:ext cx="13812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SYMPTOM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Members forget to renew memberships at expiration date.</a:t>
              </a:r>
              <a:endParaRPr sz="80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78" name="Google Shape;978;p28"/>
            <p:cNvSpPr/>
            <p:nvPr/>
          </p:nvSpPr>
          <p:spPr>
            <a:xfrm>
              <a:off x="2257425" y="466725"/>
              <a:ext cx="1047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09091" y="60000"/>
                  </a:lnTo>
                  <a:moveTo>
                    <a:pt x="65455" y="0"/>
                  </a:moveTo>
                  <a:lnTo>
                    <a:pt x="120000" y="60000"/>
                  </a:lnTo>
                  <a:lnTo>
                    <a:pt x="65455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8"/>
            <p:cNvSpPr txBox="1"/>
            <p:nvPr/>
          </p:nvSpPr>
          <p:spPr>
            <a:xfrm>
              <a:off x="2438400" y="114300"/>
              <a:ext cx="13812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DIRECT CAUSE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No advance notification or reminder received before lapse.</a:t>
              </a:r>
              <a:endParaRPr sz="80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80" name="Google Shape;980;p28"/>
            <p:cNvSpPr/>
            <p:nvPr/>
          </p:nvSpPr>
          <p:spPr>
            <a:xfrm>
              <a:off x="3895725" y="466725"/>
              <a:ext cx="1047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09091" y="60000"/>
                  </a:lnTo>
                  <a:moveTo>
                    <a:pt x="65455" y="0"/>
                  </a:moveTo>
                  <a:lnTo>
                    <a:pt x="120000" y="60000"/>
                  </a:lnTo>
                  <a:lnTo>
                    <a:pt x="65455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8"/>
            <p:cNvSpPr txBox="1"/>
            <p:nvPr/>
          </p:nvSpPr>
          <p:spPr>
            <a:xfrm>
              <a:off x="4076700" y="114300"/>
              <a:ext cx="13812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PROCESS GAP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Front desk staff relies on manual follow-up outreach.</a:t>
              </a:r>
              <a:endParaRPr sz="80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82" name="Google Shape;982;p28"/>
            <p:cNvSpPr/>
            <p:nvPr/>
          </p:nvSpPr>
          <p:spPr>
            <a:xfrm>
              <a:off x="5534025" y="466725"/>
              <a:ext cx="1047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09091" y="60000"/>
                  </a:lnTo>
                  <a:moveTo>
                    <a:pt x="65455" y="0"/>
                  </a:moveTo>
                  <a:lnTo>
                    <a:pt x="120000" y="60000"/>
                  </a:lnTo>
                  <a:lnTo>
                    <a:pt x="65455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83" name="Google Shape;983;p28"/>
            <p:cNvGrpSpPr/>
            <p:nvPr/>
          </p:nvGrpSpPr>
          <p:grpSpPr>
            <a:xfrm>
              <a:off x="5715000" y="95250"/>
              <a:ext cx="2305200" cy="838200"/>
              <a:chOff x="0" y="0"/>
              <a:chExt cx="2305200" cy="838200"/>
            </a:xfrm>
          </p:grpSpPr>
          <p:sp>
            <p:nvSpPr>
              <p:cNvPr id="984" name="Google Shape;984;p28"/>
              <p:cNvSpPr/>
              <p:nvPr/>
            </p:nvSpPr>
            <p:spPr>
              <a:xfrm>
                <a:off x="0" y="0"/>
                <a:ext cx="2305200" cy="838200"/>
              </a:xfrm>
              <a:prstGeom prst="roundRect">
                <a:avLst>
                  <a:gd name="adj" fmla="val 6818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28"/>
              <p:cNvSpPr/>
              <p:nvPr/>
            </p:nvSpPr>
            <p:spPr>
              <a:xfrm>
                <a:off x="0" y="0"/>
                <a:ext cx="38100" cy="838200"/>
              </a:xfrm>
              <a:prstGeom prst="roundRect">
                <a:avLst>
                  <a:gd name="adj" fmla="val 5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28"/>
              <p:cNvSpPr txBox="1"/>
              <p:nvPr/>
            </p:nvSpPr>
            <p:spPr>
              <a:xfrm>
                <a:off x="114300" y="95250"/>
                <a:ext cx="20766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ROOT CAUSE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850" b="0">
                    <a:solidFill>
                      <a:srgbClr val="FFFFFF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Complete absence of a CRM automated reminder system.</a:t>
                </a:r>
                <a:endParaRPr sz="850" b="0">
                  <a:solidFill>
                    <a:srgbClr val="FFFFFF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</p:grpSp>
      </p:grpSp>
      <p:grpSp>
        <p:nvGrpSpPr>
          <p:cNvPr id="987" name="Google Shape;987;p28"/>
          <p:cNvGrpSpPr/>
          <p:nvPr/>
        </p:nvGrpSpPr>
        <p:grpSpPr>
          <a:xfrm>
            <a:off x="514350" y="2257425"/>
            <a:ext cx="8115300" cy="1028700"/>
            <a:chOff x="0" y="0"/>
            <a:chExt cx="8115300" cy="1028700"/>
          </a:xfrm>
        </p:grpSpPr>
        <p:sp>
          <p:nvSpPr>
            <p:cNvPr id="988" name="Google Shape;988;p28"/>
            <p:cNvSpPr/>
            <p:nvPr/>
          </p:nvSpPr>
          <p:spPr>
            <a:xfrm>
              <a:off x="0" y="0"/>
              <a:ext cx="8115300" cy="1028700"/>
            </a:xfrm>
            <a:prstGeom prst="roundRect">
              <a:avLst>
                <a:gd name="adj" fmla="val 7407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89" name="Google Shape;989;p28"/>
            <p:cNvGrpSpPr/>
            <p:nvPr/>
          </p:nvGrpSpPr>
          <p:grpSpPr>
            <a:xfrm>
              <a:off x="114300" y="114300"/>
              <a:ext cx="552600" cy="800100"/>
              <a:chOff x="0" y="0"/>
              <a:chExt cx="552600" cy="800100"/>
            </a:xfrm>
          </p:grpSpPr>
          <p:sp>
            <p:nvSpPr>
              <p:cNvPr id="990" name="Google Shape;990;p28"/>
              <p:cNvSpPr/>
              <p:nvPr/>
            </p:nvSpPr>
            <p:spPr>
              <a:xfrm>
                <a:off x="0" y="0"/>
                <a:ext cx="552600" cy="800100"/>
              </a:xfrm>
              <a:prstGeom prst="roundRect">
                <a:avLst>
                  <a:gd name="adj" fmla="val 10344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28"/>
              <p:cNvSpPr txBox="1"/>
              <p:nvPr/>
            </p:nvSpPr>
            <p:spPr>
              <a:xfrm>
                <a:off x="0" y="0"/>
                <a:ext cx="552600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BRANCH</a:t>
                </a:r>
                <a:endParaRPr sz="6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02</a:t>
                </a:r>
                <a:endParaRPr sz="16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</p:grpSp>
        <p:sp>
          <p:nvSpPr>
            <p:cNvPr id="992" name="Google Shape;992;p28"/>
            <p:cNvSpPr txBox="1"/>
            <p:nvPr/>
          </p:nvSpPr>
          <p:spPr>
            <a:xfrm>
              <a:off x="800100" y="114300"/>
              <a:ext cx="13812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SYMPTOM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High member churn driven by peak-hour frustration.</a:t>
              </a:r>
              <a:endParaRPr sz="80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93" name="Google Shape;993;p28"/>
            <p:cNvSpPr/>
            <p:nvPr/>
          </p:nvSpPr>
          <p:spPr>
            <a:xfrm>
              <a:off x="2257425" y="466725"/>
              <a:ext cx="1047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09091" y="60000"/>
                  </a:lnTo>
                  <a:moveTo>
                    <a:pt x="65455" y="0"/>
                  </a:moveTo>
                  <a:lnTo>
                    <a:pt x="120000" y="60000"/>
                  </a:lnTo>
                  <a:lnTo>
                    <a:pt x="65455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8"/>
            <p:cNvSpPr txBox="1"/>
            <p:nvPr/>
          </p:nvSpPr>
          <p:spPr>
            <a:xfrm>
              <a:off x="2438400" y="114300"/>
              <a:ext cx="13812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DIRECT CAUSE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Severe facility overcrowding and long equipment waits.</a:t>
              </a:r>
              <a:endParaRPr sz="80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95" name="Google Shape;995;p28"/>
            <p:cNvSpPr/>
            <p:nvPr/>
          </p:nvSpPr>
          <p:spPr>
            <a:xfrm>
              <a:off x="3895725" y="466725"/>
              <a:ext cx="1047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09091" y="60000"/>
                  </a:lnTo>
                  <a:moveTo>
                    <a:pt x="65455" y="0"/>
                  </a:moveTo>
                  <a:lnTo>
                    <a:pt x="120000" y="60000"/>
                  </a:lnTo>
                  <a:lnTo>
                    <a:pt x="65455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8"/>
            <p:cNvSpPr txBox="1"/>
            <p:nvPr/>
          </p:nvSpPr>
          <p:spPr>
            <a:xfrm>
              <a:off x="4076700" y="114300"/>
              <a:ext cx="13812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PROCESS GAP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No visibility or schedule balancing for busy workout slots.</a:t>
              </a:r>
              <a:endParaRPr sz="80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997" name="Google Shape;997;p28"/>
            <p:cNvSpPr/>
            <p:nvPr/>
          </p:nvSpPr>
          <p:spPr>
            <a:xfrm>
              <a:off x="5534025" y="466725"/>
              <a:ext cx="1047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09091" y="60000"/>
                  </a:lnTo>
                  <a:moveTo>
                    <a:pt x="65455" y="0"/>
                  </a:moveTo>
                  <a:lnTo>
                    <a:pt x="120000" y="60000"/>
                  </a:lnTo>
                  <a:lnTo>
                    <a:pt x="65455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8" name="Google Shape;998;p28"/>
            <p:cNvGrpSpPr/>
            <p:nvPr/>
          </p:nvGrpSpPr>
          <p:grpSpPr>
            <a:xfrm>
              <a:off x="5715000" y="95250"/>
              <a:ext cx="2305200" cy="838200"/>
              <a:chOff x="0" y="0"/>
              <a:chExt cx="2305200" cy="838200"/>
            </a:xfrm>
          </p:grpSpPr>
          <p:sp>
            <p:nvSpPr>
              <p:cNvPr id="999" name="Google Shape;999;p28"/>
              <p:cNvSpPr/>
              <p:nvPr/>
            </p:nvSpPr>
            <p:spPr>
              <a:xfrm>
                <a:off x="0" y="0"/>
                <a:ext cx="2305200" cy="838200"/>
              </a:xfrm>
              <a:prstGeom prst="roundRect">
                <a:avLst>
                  <a:gd name="adj" fmla="val 6818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28"/>
              <p:cNvSpPr/>
              <p:nvPr/>
            </p:nvSpPr>
            <p:spPr>
              <a:xfrm>
                <a:off x="0" y="0"/>
                <a:ext cx="38100" cy="838200"/>
              </a:xfrm>
              <a:prstGeom prst="roundRect">
                <a:avLst>
                  <a:gd name="adj" fmla="val 5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28"/>
              <p:cNvSpPr txBox="1"/>
              <p:nvPr/>
            </p:nvSpPr>
            <p:spPr>
              <a:xfrm>
                <a:off x="114300" y="95250"/>
                <a:ext cx="20766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ROOT CAUSE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850" b="0">
                    <a:solidFill>
                      <a:srgbClr val="FFFFFF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Facility lacks capacity &amp; crowd tracking mechanisms.</a:t>
                </a:r>
                <a:endParaRPr sz="850" b="0">
                  <a:solidFill>
                    <a:srgbClr val="FFFFFF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</p:grpSp>
      </p:grpSp>
      <p:grpSp>
        <p:nvGrpSpPr>
          <p:cNvPr id="1002" name="Google Shape;1002;p28"/>
          <p:cNvGrpSpPr/>
          <p:nvPr/>
        </p:nvGrpSpPr>
        <p:grpSpPr>
          <a:xfrm>
            <a:off x="514350" y="3419475"/>
            <a:ext cx="8115300" cy="1028700"/>
            <a:chOff x="0" y="0"/>
            <a:chExt cx="8115300" cy="1028700"/>
          </a:xfrm>
        </p:grpSpPr>
        <p:sp>
          <p:nvSpPr>
            <p:cNvPr id="1003" name="Google Shape;1003;p28"/>
            <p:cNvSpPr/>
            <p:nvPr/>
          </p:nvSpPr>
          <p:spPr>
            <a:xfrm>
              <a:off x="0" y="0"/>
              <a:ext cx="8115300" cy="1028700"/>
            </a:xfrm>
            <a:prstGeom prst="roundRect">
              <a:avLst>
                <a:gd name="adj" fmla="val 7407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4" name="Google Shape;1004;p28"/>
            <p:cNvGrpSpPr/>
            <p:nvPr/>
          </p:nvGrpSpPr>
          <p:grpSpPr>
            <a:xfrm>
              <a:off x="114300" y="114300"/>
              <a:ext cx="552600" cy="800100"/>
              <a:chOff x="0" y="0"/>
              <a:chExt cx="552600" cy="800100"/>
            </a:xfrm>
          </p:grpSpPr>
          <p:sp>
            <p:nvSpPr>
              <p:cNvPr id="1005" name="Google Shape;1005;p28"/>
              <p:cNvSpPr/>
              <p:nvPr/>
            </p:nvSpPr>
            <p:spPr>
              <a:xfrm>
                <a:off x="0" y="0"/>
                <a:ext cx="552600" cy="800100"/>
              </a:xfrm>
              <a:prstGeom prst="roundRect">
                <a:avLst>
                  <a:gd name="adj" fmla="val 10344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28"/>
              <p:cNvSpPr txBox="1"/>
              <p:nvPr/>
            </p:nvSpPr>
            <p:spPr>
              <a:xfrm>
                <a:off x="0" y="0"/>
                <a:ext cx="552600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BRANCH</a:t>
                </a:r>
                <a:endParaRPr sz="6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03</a:t>
                </a:r>
                <a:endParaRPr sz="16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</p:grpSp>
        <p:sp>
          <p:nvSpPr>
            <p:cNvPr id="1007" name="Google Shape;1007;p28"/>
            <p:cNvSpPr txBox="1"/>
            <p:nvPr/>
          </p:nvSpPr>
          <p:spPr>
            <a:xfrm>
              <a:off x="800100" y="114300"/>
              <a:ext cx="13812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SYMPTOM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Members lose motivation and quit within 90 days.</a:t>
              </a:r>
              <a:endParaRPr sz="80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008" name="Google Shape;1008;p28"/>
            <p:cNvSpPr/>
            <p:nvPr/>
          </p:nvSpPr>
          <p:spPr>
            <a:xfrm>
              <a:off x="2257425" y="466725"/>
              <a:ext cx="1047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09091" y="60000"/>
                  </a:lnTo>
                  <a:moveTo>
                    <a:pt x="65455" y="0"/>
                  </a:moveTo>
                  <a:lnTo>
                    <a:pt x="120000" y="60000"/>
                  </a:lnTo>
                  <a:lnTo>
                    <a:pt x="65455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8"/>
            <p:cNvSpPr txBox="1"/>
            <p:nvPr/>
          </p:nvSpPr>
          <p:spPr>
            <a:xfrm>
              <a:off x="2438400" y="114300"/>
              <a:ext cx="13812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DIRECT CAUSE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Perception of zero progress or physical achievement.</a:t>
              </a:r>
              <a:endParaRPr sz="80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010" name="Google Shape;1010;p28"/>
            <p:cNvSpPr/>
            <p:nvPr/>
          </p:nvSpPr>
          <p:spPr>
            <a:xfrm>
              <a:off x="3895725" y="466725"/>
              <a:ext cx="1047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09091" y="60000"/>
                  </a:lnTo>
                  <a:moveTo>
                    <a:pt x="65455" y="0"/>
                  </a:moveTo>
                  <a:lnTo>
                    <a:pt x="120000" y="60000"/>
                  </a:lnTo>
                  <a:lnTo>
                    <a:pt x="65455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8"/>
            <p:cNvSpPr txBox="1"/>
            <p:nvPr/>
          </p:nvSpPr>
          <p:spPr>
            <a:xfrm>
              <a:off x="4076700" y="114300"/>
              <a:ext cx="13812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PROCESS GAP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0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rPr>
                <a:t>Lack of periodic check-ins or goal re-alignments.</a:t>
              </a:r>
              <a:endParaRPr sz="800" b="0">
                <a:solidFill>
                  <a:srgbClr val="333333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012" name="Google Shape;1012;p28"/>
            <p:cNvSpPr/>
            <p:nvPr/>
          </p:nvSpPr>
          <p:spPr>
            <a:xfrm>
              <a:off x="5534025" y="466725"/>
              <a:ext cx="1047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09091" y="60000"/>
                  </a:lnTo>
                  <a:moveTo>
                    <a:pt x="65455" y="0"/>
                  </a:moveTo>
                  <a:lnTo>
                    <a:pt x="120000" y="60000"/>
                  </a:lnTo>
                  <a:lnTo>
                    <a:pt x="65455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A600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3" name="Google Shape;1013;p28"/>
            <p:cNvGrpSpPr/>
            <p:nvPr/>
          </p:nvGrpSpPr>
          <p:grpSpPr>
            <a:xfrm>
              <a:off x="5715000" y="95250"/>
              <a:ext cx="2305200" cy="838200"/>
              <a:chOff x="0" y="0"/>
              <a:chExt cx="2305200" cy="838200"/>
            </a:xfrm>
          </p:grpSpPr>
          <p:sp>
            <p:nvSpPr>
              <p:cNvPr id="1014" name="Google Shape;1014;p28"/>
              <p:cNvSpPr/>
              <p:nvPr/>
            </p:nvSpPr>
            <p:spPr>
              <a:xfrm>
                <a:off x="0" y="0"/>
                <a:ext cx="2305200" cy="838200"/>
              </a:xfrm>
              <a:prstGeom prst="roundRect">
                <a:avLst>
                  <a:gd name="adj" fmla="val 6818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28"/>
              <p:cNvSpPr/>
              <p:nvPr/>
            </p:nvSpPr>
            <p:spPr>
              <a:xfrm>
                <a:off x="0" y="0"/>
                <a:ext cx="38100" cy="838200"/>
              </a:xfrm>
              <a:prstGeom prst="roundRect">
                <a:avLst>
                  <a:gd name="adj" fmla="val 5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28"/>
              <p:cNvSpPr txBox="1"/>
              <p:nvPr/>
            </p:nvSpPr>
            <p:spPr>
              <a:xfrm>
                <a:off x="114300" y="95250"/>
                <a:ext cx="2076600" cy="647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ROOT CAUSE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850" b="0">
                    <a:solidFill>
                      <a:srgbClr val="FFFFFF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No structured fitness assessment or tracking cadence.</a:t>
                </a:r>
                <a:endParaRPr sz="850" b="0">
                  <a:solidFill>
                    <a:srgbClr val="FFFFFF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1" name="Google Shape;1021;p29"/>
          <p:cNvGrpSpPr/>
          <p:nvPr/>
        </p:nvGrpSpPr>
        <p:grpSpPr>
          <a:xfrm>
            <a:off x="514350" y="304800"/>
            <a:ext cx="8115300" cy="495300"/>
            <a:chOff x="0" y="0"/>
            <a:chExt cx="8115300" cy="495300"/>
          </a:xfrm>
        </p:grpSpPr>
        <p:sp>
          <p:nvSpPr>
            <p:cNvPr id="1022" name="Google Shape;1022;p29"/>
            <p:cNvSpPr txBox="1"/>
            <p:nvPr/>
          </p:nvSpPr>
          <p:spPr>
            <a:xfrm>
              <a:off x="0" y="0"/>
              <a:ext cx="8115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VOICE OF CUSTOMER (VOC) QUALITATIVE DASHBOARD</a:t>
              </a:r>
              <a:endParaRPr sz="200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023" name="Google Shape;1023;p29"/>
            <p:cNvSpPr txBox="1"/>
            <p:nvPr/>
          </p:nvSpPr>
          <p:spPr>
            <a:xfrm>
              <a:off x="0" y="304800"/>
              <a:ext cx="8115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Feedback Analysis: Overcrowding and Machine Wait Times Identified as Primary Pain Points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024" name="Google Shape;1024;p29"/>
          <p:cNvGrpSpPr/>
          <p:nvPr/>
        </p:nvGrpSpPr>
        <p:grpSpPr>
          <a:xfrm>
            <a:off x="514350" y="904875"/>
            <a:ext cx="2590800" cy="3905400"/>
            <a:chOff x="0" y="0"/>
            <a:chExt cx="2590800" cy="3905400"/>
          </a:xfrm>
        </p:grpSpPr>
        <p:sp>
          <p:nvSpPr>
            <p:cNvPr id="1025" name="Google Shape;1025;p29"/>
            <p:cNvSpPr/>
            <p:nvPr/>
          </p:nvSpPr>
          <p:spPr>
            <a:xfrm>
              <a:off x="0" y="0"/>
              <a:ext cx="2590800" cy="3905400"/>
            </a:xfrm>
            <a:prstGeom prst="roundRect">
              <a:avLst>
                <a:gd name="adj" fmla="val 2205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29"/>
            <p:cNvSpPr/>
            <p:nvPr/>
          </p:nvSpPr>
          <p:spPr>
            <a:xfrm>
              <a:off x="0" y="0"/>
              <a:ext cx="2590800" cy="266700"/>
            </a:xfrm>
            <a:prstGeom prst="roundRect">
              <a:avLst>
                <a:gd name="adj" fmla="val 21428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29"/>
            <p:cNvSpPr/>
            <p:nvPr/>
          </p:nvSpPr>
          <p:spPr>
            <a:xfrm>
              <a:off x="0" y="228600"/>
              <a:ext cx="2590800" cy="381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9"/>
            <p:cNvSpPr txBox="1"/>
            <p:nvPr/>
          </p:nvSpPr>
          <p:spPr>
            <a:xfrm>
              <a:off x="114300" y="47625"/>
              <a:ext cx="2362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VOC SENTIMENT DISTRIBUTION</a:t>
              </a:r>
              <a:endParaRPr sz="7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029" name="Google Shape;1029;p29"/>
            <p:cNvGrpSpPr/>
            <p:nvPr/>
          </p:nvGrpSpPr>
          <p:grpSpPr>
            <a:xfrm>
              <a:off x="771525" y="638175"/>
              <a:ext cx="1047863" cy="1047900"/>
              <a:chOff x="-523875" y="-523875"/>
              <a:chExt cx="1047863" cy="1047900"/>
            </a:xfrm>
          </p:grpSpPr>
          <p:sp>
            <p:nvSpPr>
              <p:cNvPr id="1030" name="Google Shape;1030;p29"/>
              <p:cNvSpPr/>
              <p:nvPr/>
            </p:nvSpPr>
            <p:spPr>
              <a:xfrm>
                <a:off x="-457200" y="-457200"/>
                <a:ext cx="914400" cy="9144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33350" cap="flat" cmpd="sng">
                <a:solidFill>
                  <a:srgbClr val="EAECE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031" name="Google Shape;1031;p29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-252412" y="-523875"/>
                <a:ext cx="776400" cy="1047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32" name="Google Shape;1032;p29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-523875" y="-309562"/>
                <a:ext cx="338100" cy="771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33" name="Google Shape;1033;p29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-423862" y="-523875"/>
                <a:ext cx="423900" cy="295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4" name="Google Shape;1034;p29"/>
              <p:cNvSpPr txBox="1"/>
              <p:nvPr/>
            </p:nvSpPr>
            <p:spPr>
              <a:xfrm>
                <a:off x="-476250" y="-171450"/>
                <a:ext cx="952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rgbClr val="A60042"/>
                    </a:solidFill>
                    <a:latin typeface="Anton"/>
                    <a:ea typeface="Anton"/>
                    <a:cs typeface="Anton"/>
                    <a:sym typeface="Anton"/>
                  </a:rPr>
                  <a:t>58%</a:t>
                </a:r>
                <a:endParaRPr sz="1600">
                  <a:solidFill>
                    <a:srgbClr val="A60042"/>
                  </a:solidFill>
                  <a:latin typeface="Anton"/>
                  <a:ea typeface="Anton"/>
                  <a:cs typeface="Anton"/>
                  <a:sym typeface="Anton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00" b="1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OVERCROWDING</a:t>
                </a:r>
                <a:endParaRPr sz="50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035" name="Google Shape;1035;p29"/>
            <p:cNvGrpSpPr/>
            <p:nvPr/>
          </p:nvGrpSpPr>
          <p:grpSpPr>
            <a:xfrm>
              <a:off x="133350" y="1905000"/>
              <a:ext cx="2324100" cy="1428900"/>
              <a:chOff x="0" y="0"/>
              <a:chExt cx="2324100" cy="1428900"/>
            </a:xfrm>
          </p:grpSpPr>
          <p:sp>
            <p:nvSpPr>
              <p:cNvPr id="1036" name="Google Shape;1036;p29"/>
              <p:cNvSpPr/>
              <p:nvPr/>
            </p:nvSpPr>
            <p:spPr>
              <a:xfrm>
                <a:off x="0" y="19050"/>
                <a:ext cx="95400" cy="95400"/>
              </a:xfrm>
              <a:prstGeom prst="roundRect">
                <a:avLst>
                  <a:gd name="adj" fmla="val 2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29"/>
              <p:cNvSpPr txBox="1"/>
              <p:nvPr/>
            </p:nvSpPr>
            <p:spPr>
              <a:xfrm>
                <a:off x="152400" y="0"/>
                <a:ext cx="21717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58% - Overcrowding &amp; Wait Times</a:t>
                </a:r>
                <a:endParaRPr sz="70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Primary source of member dissatisfaction</a:t>
                </a:r>
                <a:endParaRPr sz="60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38" name="Google Shape;1038;p29"/>
              <p:cNvSpPr/>
              <p:nvPr/>
            </p:nvSpPr>
            <p:spPr>
              <a:xfrm>
                <a:off x="0" y="495300"/>
                <a:ext cx="95400" cy="95400"/>
              </a:xfrm>
              <a:prstGeom prst="roundRect">
                <a:avLst>
                  <a:gd name="adj" fmla="val 20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29"/>
              <p:cNvSpPr txBox="1"/>
              <p:nvPr/>
            </p:nvSpPr>
            <p:spPr>
              <a:xfrm>
                <a:off x="152400" y="476250"/>
                <a:ext cx="21717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27% - Lack of Personal Guidance</a:t>
                </a:r>
                <a:endParaRPr sz="70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Recurring theme among non-PT members</a:t>
                </a:r>
                <a:endParaRPr sz="60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40" name="Google Shape;1040;p29"/>
              <p:cNvSpPr/>
              <p:nvPr/>
            </p:nvSpPr>
            <p:spPr>
              <a:xfrm>
                <a:off x="0" y="971550"/>
                <a:ext cx="95400" cy="95400"/>
              </a:xfrm>
              <a:prstGeom prst="roundRect">
                <a:avLst>
                  <a:gd name="adj" fmla="val 20000"/>
                </a:avLst>
              </a:prstGeom>
              <a:solidFill>
                <a:srgbClr val="8C93A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29"/>
              <p:cNvSpPr txBox="1"/>
              <p:nvPr/>
            </p:nvSpPr>
            <p:spPr>
              <a:xfrm>
                <a:off x="152400" y="952500"/>
                <a:ext cx="21717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15% - General Facility &amp; Other</a:t>
                </a:r>
                <a:endParaRPr sz="70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60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Cleanliness, hours, and billing queries</a:t>
                </a:r>
                <a:endParaRPr sz="60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1042" name="Google Shape;1042;p29"/>
          <p:cNvGrpSpPr/>
          <p:nvPr/>
        </p:nvGrpSpPr>
        <p:grpSpPr>
          <a:xfrm>
            <a:off x="3276600" y="904875"/>
            <a:ext cx="2590800" cy="1905000"/>
            <a:chOff x="0" y="0"/>
            <a:chExt cx="2590800" cy="1905000"/>
          </a:xfrm>
        </p:grpSpPr>
        <p:sp>
          <p:nvSpPr>
            <p:cNvPr id="1043" name="Google Shape;1043;p29"/>
            <p:cNvSpPr/>
            <p:nvPr/>
          </p:nvSpPr>
          <p:spPr>
            <a:xfrm>
              <a:off x="0" y="0"/>
              <a:ext cx="2590800" cy="1905000"/>
            </a:xfrm>
            <a:prstGeom prst="roundRect">
              <a:avLst>
                <a:gd name="adj" fmla="val 3000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29"/>
            <p:cNvSpPr/>
            <p:nvPr/>
          </p:nvSpPr>
          <p:spPr>
            <a:xfrm>
              <a:off x="0" y="0"/>
              <a:ext cx="2590800" cy="266700"/>
            </a:xfrm>
            <a:prstGeom prst="roundRect">
              <a:avLst>
                <a:gd name="adj" fmla="val 21428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29"/>
            <p:cNvSpPr/>
            <p:nvPr/>
          </p:nvSpPr>
          <p:spPr>
            <a:xfrm>
              <a:off x="0" y="228600"/>
              <a:ext cx="2590800" cy="381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9"/>
            <p:cNvSpPr txBox="1"/>
            <p:nvPr/>
          </p:nvSpPr>
          <p:spPr>
            <a:xfrm>
              <a:off x="114300" y="47625"/>
              <a:ext cx="2362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REVIEW WORD CLOUD HIGHLIGHTS</a:t>
              </a:r>
              <a:endParaRPr sz="7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047" name="Google Shape;1047;p29"/>
            <p:cNvGrpSpPr/>
            <p:nvPr/>
          </p:nvGrpSpPr>
          <p:grpSpPr>
            <a:xfrm>
              <a:off x="114300" y="361950"/>
              <a:ext cx="2362350" cy="1181100"/>
              <a:chOff x="0" y="0"/>
              <a:chExt cx="2362350" cy="1181100"/>
            </a:xfrm>
          </p:grpSpPr>
          <p:sp>
            <p:nvSpPr>
              <p:cNvPr id="1048" name="Google Shape;1048;p29"/>
              <p:cNvSpPr/>
              <p:nvPr/>
            </p:nvSpPr>
            <p:spPr>
              <a:xfrm>
                <a:off x="0" y="0"/>
                <a:ext cx="1238400" cy="247800"/>
              </a:xfrm>
              <a:prstGeom prst="roundRect">
                <a:avLst>
                  <a:gd name="adj" fmla="val 15384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29"/>
              <p:cNvSpPr txBox="1"/>
              <p:nvPr/>
            </p:nvSpPr>
            <p:spPr>
              <a:xfrm>
                <a:off x="0" y="0"/>
                <a:ext cx="12384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OVERCROWDING</a:t>
                </a:r>
                <a:endParaRPr sz="85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sp>
            <p:nvSpPr>
              <p:cNvPr id="1050" name="Google Shape;1050;p29"/>
              <p:cNvSpPr/>
              <p:nvPr/>
            </p:nvSpPr>
            <p:spPr>
              <a:xfrm>
                <a:off x="1295400" y="0"/>
                <a:ext cx="1066800" cy="247800"/>
              </a:xfrm>
              <a:prstGeom prst="roundRect">
                <a:avLst>
                  <a:gd name="adj" fmla="val 15384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29"/>
              <p:cNvSpPr txBox="1"/>
              <p:nvPr/>
            </p:nvSpPr>
            <p:spPr>
              <a:xfrm>
                <a:off x="1295400" y="0"/>
                <a:ext cx="10668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Machine Wait Times</a:t>
                </a:r>
                <a:endParaRPr sz="6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52" name="Google Shape;1052;p29"/>
              <p:cNvSpPr/>
              <p:nvPr/>
            </p:nvSpPr>
            <p:spPr>
              <a:xfrm>
                <a:off x="0" y="304800"/>
                <a:ext cx="10479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EAECEF"/>
              </a:solidFill>
              <a:ln w="9525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29"/>
              <p:cNvSpPr txBox="1"/>
              <p:nvPr/>
            </p:nvSpPr>
            <p:spPr>
              <a:xfrm>
                <a:off x="0" y="304800"/>
                <a:ext cx="1047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Lack of Guidance</a:t>
                </a:r>
                <a:endParaRPr sz="6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54" name="Google Shape;1054;p29"/>
              <p:cNvSpPr/>
              <p:nvPr/>
            </p:nvSpPr>
            <p:spPr>
              <a:xfrm>
                <a:off x="1104900" y="304800"/>
                <a:ext cx="12573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FCE8EF"/>
              </a:solidFill>
              <a:ln w="9525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29"/>
              <p:cNvSpPr txBox="1"/>
              <p:nvPr/>
            </p:nvSpPr>
            <p:spPr>
              <a:xfrm>
                <a:off x="1104900" y="304800"/>
                <a:ext cx="12573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Peak Hour Congestion</a:t>
                </a:r>
                <a:endParaRPr sz="6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56" name="Google Shape;1056;p29"/>
              <p:cNvSpPr/>
              <p:nvPr/>
            </p:nvSpPr>
            <p:spPr>
              <a:xfrm>
                <a:off x="0" y="590550"/>
                <a:ext cx="12954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29"/>
              <p:cNvSpPr txBox="1"/>
              <p:nvPr/>
            </p:nvSpPr>
            <p:spPr>
              <a:xfrm>
                <a:off x="0" y="590550"/>
                <a:ext cx="1295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0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No Personal Attention</a:t>
                </a:r>
                <a:endParaRPr sz="650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58" name="Google Shape;1058;p29"/>
              <p:cNvSpPr/>
              <p:nvPr/>
            </p:nvSpPr>
            <p:spPr>
              <a:xfrm>
                <a:off x="1352550" y="590550"/>
                <a:ext cx="100980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EAECE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29"/>
              <p:cNvSpPr txBox="1"/>
              <p:nvPr/>
            </p:nvSpPr>
            <p:spPr>
              <a:xfrm>
                <a:off x="1352550" y="590550"/>
                <a:ext cx="1009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Equipment Access</a:t>
                </a:r>
                <a:endParaRPr sz="60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60" name="Google Shape;1060;p29"/>
              <p:cNvSpPr/>
              <p:nvPr/>
            </p:nvSpPr>
            <p:spPr>
              <a:xfrm>
                <a:off x="0" y="876300"/>
                <a:ext cx="23622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29"/>
              <p:cNvSpPr txBox="1"/>
              <p:nvPr/>
            </p:nvSpPr>
            <p:spPr>
              <a:xfrm>
                <a:off x="76200" y="895350"/>
                <a:ext cx="22098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50">
                    <a:solidFill>
                      <a:srgbClr val="5555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Key sentiment triggers extracted from 1,200+ online member reviews and exit survey feedback.</a:t>
                </a:r>
                <a:endParaRPr sz="550">
                  <a:solidFill>
                    <a:srgbClr val="5555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1062" name="Google Shape;1062;p29"/>
          <p:cNvGrpSpPr/>
          <p:nvPr/>
        </p:nvGrpSpPr>
        <p:grpSpPr>
          <a:xfrm>
            <a:off x="3276600" y="2924175"/>
            <a:ext cx="2590800" cy="1886100"/>
            <a:chOff x="0" y="0"/>
            <a:chExt cx="2590800" cy="1886100"/>
          </a:xfrm>
        </p:grpSpPr>
        <p:sp>
          <p:nvSpPr>
            <p:cNvPr id="1063" name="Google Shape;1063;p29"/>
            <p:cNvSpPr/>
            <p:nvPr/>
          </p:nvSpPr>
          <p:spPr>
            <a:xfrm>
              <a:off x="0" y="0"/>
              <a:ext cx="2590800" cy="1886100"/>
            </a:xfrm>
            <a:prstGeom prst="roundRect">
              <a:avLst>
                <a:gd name="adj" fmla="val 3030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29"/>
            <p:cNvSpPr/>
            <p:nvPr/>
          </p:nvSpPr>
          <p:spPr>
            <a:xfrm>
              <a:off x="0" y="0"/>
              <a:ext cx="2590800" cy="266700"/>
            </a:xfrm>
            <a:prstGeom prst="roundRect">
              <a:avLst>
                <a:gd name="adj" fmla="val 21428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29"/>
            <p:cNvSpPr/>
            <p:nvPr/>
          </p:nvSpPr>
          <p:spPr>
            <a:xfrm>
              <a:off x="0" y="228600"/>
              <a:ext cx="2590800" cy="381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29"/>
            <p:cNvSpPr txBox="1"/>
            <p:nvPr/>
          </p:nvSpPr>
          <p:spPr>
            <a:xfrm>
              <a:off x="114300" y="47625"/>
              <a:ext cx="2362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CHURN RATE COMPARISON</a:t>
              </a:r>
              <a:endParaRPr sz="7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067" name="Google Shape;1067;p29"/>
            <p:cNvGrpSpPr/>
            <p:nvPr/>
          </p:nvGrpSpPr>
          <p:grpSpPr>
            <a:xfrm>
              <a:off x="114300" y="342900"/>
              <a:ext cx="2362200" cy="1428750"/>
              <a:chOff x="0" y="0"/>
              <a:chExt cx="2362200" cy="1428750"/>
            </a:xfrm>
          </p:grpSpPr>
          <p:sp>
            <p:nvSpPr>
              <p:cNvPr id="1068" name="Google Shape;1068;p29"/>
              <p:cNvSpPr txBox="1"/>
              <p:nvPr/>
            </p:nvSpPr>
            <p:spPr>
              <a:xfrm>
                <a:off x="0" y="0"/>
                <a:ext cx="23622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Non-PT Members (Standard Plan)</a:t>
                </a:r>
                <a:endParaRPr sz="6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69" name="Google Shape;1069;p29"/>
              <p:cNvSpPr/>
              <p:nvPr/>
            </p:nvSpPr>
            <p:spPr>
              <a:xfrm>
                <a:off x="0" y="152400"/>
                <a:ext cx="2095500" cy="133500"/>
              </a:xfrm>
              <a:prstGeom prst="roundRect">
                <a:avLst>
                  <a:gd name="adj" fmla="val 21428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9"/>
              <p:cNvSpPr txBox="1"/>
              <p:nvPr/>
            </p:nvSpPr>
            <p:spPr>
              <a:xfrm>
                <a:off x="76200" y="152400"/>
                <a:ext cx="19431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High Churn Risk (3x Baseline)</a:t>
                </a:r>
                <a:endParaRPr sz="6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71" name="Google Shape;1071;p29"/>
              <p:cNvSpPr txBox="1"/>
              <p:nvPr/>
            </p:nvSpPr>
            <p:spPr>
              <a:xfrm>
                <a:off x="0" y="361950"/>
                <a:ext cx="23622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PT Members (Guided Attention)</a:t>
                </a:r>
                <a:endParaRPr sz="6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72" name="Google Shape;1072;p29"/>
              <p:cNvSpPr/>
              <p:nvPr/>
            </p:nvSpPr>
            <p:spPr>
              <a:xfrm>
                <a:off x="0" y="514350"/>
                <a:ext cx="714300" cy="133500"/>
              </a:xfrm>
              <a:prstGeom prst="roundRect">
                <a:avLst>
                  <a:gd name="adj" fmla="val 21428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9"/>
              <p:cNvSpPr txBox="1"/>
              <p:nvPr/>
            </p:nvSpPr>
            <p:spPr>
              <a:xfrm>
                <a:off x="76200" y="514350"/>
                <a:ext cx="6192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Low Churn</a:t>
                </a:r>
                <a:endParaRPr sz="6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74" name="Google Shape;1074;p29"/>
              <p:cNvSpPr/>
              <p:nvPr/>
            </p:nvSpPr>
            <p:spPr>
              <a:xfrm>
                <a:off x="0" y="742950"/>
                <a:ext cx="2362200" cy="685800"/>
              </a:xfrm>
              <a:prstGeom prst="roundRect">
                <a:avLst>
                  <a:gd name="adj" fmla="val 5555"/>
                </a:avLst>
              </a:prstGeom>
              <a:solidFill>
                <a:srgbClr val="FCE8EF"/>
              </a:solidFill>
              <a:ln w="7625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9"/>
              <p:cNvSpPr txBox="1"/>
              <p:nvPr/>
            </p:nvSpPr>
            <p:spPr>
              <a:xfrm>
                <a:off x="76200" y="800100"/>
                <a:ext cx="22098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Correlation Insight:</a:t>
                </a:r>
                <a:endParaRPr sz="6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en" sz="600" b="0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Non-PT members show 3x higher churn, directly aligning qualitative wait-time complaints with retention loss.</a:t>
                </a:r>
                <a:endParaRPr sz="600" b="0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1076" name="Google Shape;1076;p29"/>
          <p:cNvGrpSpPr/>
          <p:nvPr/>
        </p:nvGrpSpPr>
        <p:grpSpPr>
          <a:xfrm>
            <a:off x="6038850" y="904875"/>
            <a:ext cx="2590800" cy="3905400"/>
            <a:chOff x="0" y="0"/>
            <a:chExt cx="2590800" cy="3905400"/>
          </a:xfrm>
        </p:grpSpPr>
        <p:sp>
          <p:nvSpPr>
            <p:cNvPr id="1077" name="Google Shape;1077;p29"/>
            <p:cNvSpPr/>
            <p:nvPr/>
          </p:nvSpPr>
          <p:spPr>
            <a:xfrm>
              <a:off x="0" y="0"/>
              <a:ext cx="2590800" cy="3905400"/>
            </a:xfrm>
            <a:prstGeom prst="roundRect">
              <a:avLst>
                <a:gd name="adj" fmla="val 2205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29"/>
            <p:cNvSpPr/>
            <p:nvPr/>
          </p:nvSpPr>
          <p:spPr>
            <a:xfrm>
              <a:off x="0" y="0"/>
              <a:ext cx="2590800" cy="47700"/>
            </a:xfrm>
            <a:prstGeom prst="roundRect">
              <a:avLst>
                <a:gd name="adj" fmla="val 40000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29"/>
            <p:cNvSpPr txBox="1"/>
            <p:nvPr/>
          </p:nvSpPr>
          <p:spPr>
            <a:xfrm>
              <a:off x="152400" y="152400"/>
              <a:ext cx="22860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KEY VOC INSIGHTS</a:t>
              </a:r>
              <a:endParaRPr sz="1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080" name="Google Shape;1080;p29"/>
            <p:cNvSpPr txBox="1"/>
            <p:nvPr/>
          </p:nvSpPr>
          <p:spPr>
            <a:xfrm>
              <a:off x="152400" y="400050"/>
              <a:ext cx="22860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QUALITATIVE FINDINGS SUMMARY</a:t>
              </a:r>
              <a:endParaRPr sz="6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081" name="Google Shape;1081;p29"/>
            <p:cNvGrpSpPr/>
            <p:nvPr/>
          </p:nvGrpSpPr>
          <p:grpSpPr>
            <a:xfrm>
              <a:off x="152400" y="647700"/>
              <a:ext cx="2286000" cy="2933700"/>
              <a:chOff x="0" y="0"/>
              <a:chExt cx="2286000" cy="2933700"/>
            </a:xfrm>
          </p:grpSpPr>
          <p:sp>
            <p:nvSpPr>
              <p:cNvPr id="1082" name="Google Shape;1082;p29"/>
              <p:cNvSpPr/>
              <p:nvPr/>
            </p:nvSpPr>
            <p:spPr>
              <a:xfrm>
                <a:off x="0" y="0"/>
                <a:ext cx="2286000" cy="914400"/>
              </a:xfrm>
              <a:prstGeom prst="roundRect">
                <a:avLst>
                  <a:gd name="adj" fmla="val 4166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9"/>
              <p:cNvSpPr/>
              <p:nvPr/>
            </p:nvSpPr>
            <p:spPr>
              <a:xfrm>
                <a:off x="0" y="0"/>
                <a:ext cx="38100" cy="914400"/>
              </a:xfrm>
              <a:prstGeom prst="rect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29"/>
              <p:cNvSpPr txBox="1"/>
              <p:nvPr/>
            </p:nvSpPr>
            <p:spPr>
              <a:xfrm>
                <a:off x="114300" y="95250"/>
                <a:ext cx="20574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Overcrowding &amp; Wait Times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6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Member reviews frequently highlighted overcrowding and excessive machine wait times as major sources of dissatisfaction.</a:t>
                </a:r>
                <a:endParaRPr sz="6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85" name="Google Shape;1085;p29"/>
              <p:cNvSpPr/>
              <p:nvPr/>
            </p:nvSpPr>
            <p:spPr>
              <a:xfrm>
                <a:off x="0" y="1009650"/>
                <a:ext cx="2286000" cy="914400"/>
              </a:xfrm>
              <a:prstGeom prst="roundRect">
                <a:avLst>
                  <a:gd name="adj" fmla="val 4166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29"/>
              <p:cNvSpPr/>
              <p:nvPr/>
            </p:nvSpPr>
            <p:spPr>
              <a:xfrm>
                <a:off x="0" y="1009650"/>
                <a:ext cx="38100" cy="914400"/>
              </a:xfrm>
              <a:prstGeom prst="rect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29"/>
              <p:cNvSpPr txBox="1"/>
              <p:nvPr/>
            </p:nvSpPr>
            <p:spPr>
              <a:xfrm>
                <a:off x="114300" y="1104900"/>
                <a:ext cx="20574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Lack of Member Guidance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6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A lack of guidance and personalized attention for non-personal-training members was a recurring negative sentiment theme.</a:t>
                </a:r>
                <a:endParaRPr sz="6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088" name="Google Shape;1088;p29"/>
              <p:cNvSpPr/>
              <p:nvPr/>
            </p:nvSpPr>
            <p:spPr>
              <a:xfrm>
                <a:off x="0" y="2019300"/>
                <a:ext cx="2286000" cy="914400"/>
              </a:xfrm>
              <a:prstGeom prst="roundRect">
                <a:avLst>
                  <a:gd name="adj" fmla="val 4166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29"/>
              <p:cNvSpPr/>
              <p:nvPr/>
            </p:nvSpPr>
            <p:spPr>
              <a:xfrm>
                <a:off x="0" y="2019300"/>
                <a:ext cx="38100" cy="914400"/>
              </a:xfrm>
              <a:prstGeom prst="rect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29"/>
              <p:cNvSpPr txBox="1"/>
              <p:nvPr/>
            </p:nvSpPr>
            <p:spPr>
              <a:xfrm>
                <a:off x="114300" y="2114550"/>
                <a:ext cx="20574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Quantitative Churn Alignment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650" b="0">
                    <a:solidFill>
                      <a:srgbClr val="333333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These qualitative findings strongly align with the quantitative churn data by plan and duration.</a:t>
                </a:r>
                <a:endParaRPr sz="650" b="0">
                  <a:solidFill>
                    <a:srgbClr val="333333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5" name="Google Shape;1095;p30"/>
          <p:cNvGrpSpPr/>
          <p:nvPr/>
        </p:nvGrpSpPr>
        <p:grpSpPr>
          <a:xfrm>
            <a:off x="514350" y="323850"/>
            <a:ext cx="8096400" cy="590550"/>
            <a:chOff x="0" y="-19050"/>
            <a:chExt cx="8096400" cy="590550"/>
          </a:xfrm>
        </p:grpSpPr>
        <p:sp>
          <p:nvSpPr>
            <p:cNvPr id="1096" name="Google Shape;1096;p30"/>
            <p:cNvSpPr/>
            <p:nvPr/>
          </p:nvSpPr>
          <p:spPr>
            <a:xfrm>
              <a:off x="0" y="0"/>
              <a:ext cx="342900" cy="266700"/>
            </a:xfrm>
            <a:prstGeom prst="roundRect">
              <a:avLst>
                <a:gd name="adj" fmla="val 14285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0"/>
            <p:cNvSpPr txBox="1"/>
            <p:nvPr/>
          </p:nvSpPr>
          <p:spPr>
            <a:xfrm>
              <a:off x="0" y="0"/>
              <a:ext cx="3429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01</a:t>
              </a:r>
              <a:endParaRPr sz="13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098" name="Google Shape;1098;p30"/>
            <p:cNvSpPr txBox="1"/>
            <p:nvPr/>
          </p:nvSpPr>
          <p:spPr>
            <a:xfrm>
              <a:off x="438150" y="-19050"/>
              <a:ext cx="7620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35" b="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MEMBER EXPERIENCE SURVEY</a:t>
              </a:r>
              <a:endParaRPr sz="2035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099" name="Google Shape;1099;p30"/>
            <p:cNvSpPr txBox="1"/>
            <p:nvPr/>
          </p:nvSpPr>
          <p:spPr>
            <a:xfrm>
              <a:off x="0" y="342900"/>
              <a:ext cx="8096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Structured Survey Findings (N=50)</a:t>
              </a:r>
              <a:r>
                <a:rPr lang="en" sz="950">
                  <a:latin typeface="Work Sans"/>
                  <a:ea typeface="Work Sans"/>
                  <a:cs typeface="Work Sans"/>
                  <a:sym typeface="Work Sans"/>
                </a:rPr>
                <a:t> </a:t>
              </a:r>
              <a:r>
                <a:rPr lang="en" sz="950" b="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rPr>
                <a:t>— Strong baseline satisfaction across touchpoints, with perceived value as lowest metric.</a:t>
              </a:r>
              <a:endParaRPr sz="95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100" name="Google Shape;1100;p30"/>
          <p:cNvGrpSpPr/>
          <p:nvPr/>
        </p:nvGrpSpPr>
        <p:grpSpPr>
          <a:xfrm>
            <a:off x="514350" y="1066800"/>
            <a:ext cx="3714900" cy="3409950"/>
            <a:chOff x="0" y="0"/>
            <a:chExt cx="3714900" cy="3409950"/>
          </a:xfrm>
        </p:grpSpPr>
        <p:grpSp>
          <p:nvGrpSpPr>
            <p:cNvPr id="1101" name="Google Shape;1101;p30"/>
            <p:cNvGrpSpPr/>
            <p:nvPr/>
          </p:nvGrpSpPr>
          <p:grpSpPr>
            <a:xfrm>
              <a:off x="0" y="0"/>
              <a:ext cx="1790700" cy="1009800"/>
              <a:chOff x="0" y="0"/>
              <a:chExt cx="1790700" cy="1009800"/>
            </a:xfrm>
          </p:grpSpPr>
          <p:sp>
            <p:nvSpPr>
              <p:cNvPr id="1102" name="Google Shape;1102;p30"/>
              <p:cNvSpPr/>
              <p:nvPr/>
            </p:nvSpPr>
            <p:spPr>
              <a:xfrm>
                <a:off x="0" y="0"/>
                <a:ext cx="1790700" cy="1009800"/>
              </a:xfrm>
              <a:prstGeom prst="roundRect">
                <a:avLst>
                  <a:gd name="adj" fmla="val 7547"/>
                </a:avLst>
              </a:prstGeom>
              <a:solidFill>
                <a:srgbClr val="F8F9FA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30"/>
              <p:cNvSpPr/>
              <p:nvPr/>
            </p:nvSpPr>
            <p:spPr>
              <a:xfrm>
                <a:off x="0" y="0"/>
                <a:ext cx="47700" cy="1009800"/>
              </a:xfrm>
              <a:prstGeom prst="roundRect">
                <a:avLst>
                  <a:gd name="adj" fmla="val 4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30"/>
              <p:cNvSpPr txBox="1"/>
              <p:nvPr/>
            </p:nvSpPr>
            <p:spPr>
              <a:xfrm>
                <a:off x="152400" y="114300"/>
                <a:ext cx="1524000" cy="7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600">
                    <a:solidFill>
                      <a:srgbClr val="A60042"/>
                    </a:solidFill>
                    <a:latin typeface="Anton"/>
                    <a:ea typeface="Anton"/>
                    <a:cs typeface="Anton"/>
                    <a:sym typeface="Anton"/>
                  </a:rPr>
                  <a:t>80%</a:t>
                </a:r>
                <a:endParaRPr sz="2600">
                  <a:solidFill>
                    <a:srgbClr val="A60042"/>
                  </a:solidFill>
                  <a:latin typeface="Anton"/>
                  <a:ea typeface="Anton"/>
                  <a:cs typeface="Anton"/>
                  <a:sym typeface="Anton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Renewal Intent</a:t>
                </a:r>
                <a:endParaRPr sz="9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75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Likely renewers</a:t>
                </a:r>
                <a:endParaRPr sz="80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105" name="Google Shape;1105;p30"/>
            <p:cNvGrpSpPr/>
            <p:nvPr/>
          </p:nvGrpSpPr>
          <p:grpSpPr>
            <a:xfrm>
              <a:off x="1924050" y="0"/>
              <a:ext cx="1790700" cy="1009800"/>
              <a:chOff x="0" y="0"/>
              <a:chExt cx="1790700" cy="1009800"/>
            </a:xfrm>
          </p:grpSpPr>
          <p:sp>
            <p:nvSpPr>
              <p:cNvPr id="1106" name="Google Shape;1106;p30"/>
              <p:cNvSpPr/>
              <p:nvPr/>
            </p:nvSpPr>
            <p:spPr>
              <a:xfrm>
                <a:off x="0" y="0"/>
                <a:ext cx="1790700" cy="1009800"/>
              </a:xfrm>
              <a:prstGeom prst="roundRect">
                <a:avLst>
                  <a:gd name="adj" fmla="val 7547"/>
                </a:avLst>
              </a:prstGeom>
              <a:solidFill>
                <a:srgbClr val="F8F9FA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30"/>
              <p:cNvSpPr/>
              <p:nvPr/>
            </p:nvSpPr>
            <p:spPr>
              <a:xfrm>
                <a:off x="0" y="0"/>
                <a:ext cx="47700" cy="1009800"/>
              </a:xfrm>
              <a:prstGeom prst="roundRect">
                <a:avLst>
                  <a:gd name="adj" fmla="val 40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30"/>
              <p:cNvSpPr txBox="1"/>
              <p:nvPr/>
            </p:nvSpPr>
            <p:spPr>
              <a:xfrm>
                <a:off x="152400" y="114300"/>
                <a:ext cx="1524000" cy="7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600">
                    <a:solidFill>
                      <a:srgbClr val="0E1C5D"/>
                    </a:solidFill>
                    <a:latin typeface="Anton"/>
                    <a:ea typeface="Anton"/>
                    <a:cs typeface="Anton"/>
                    <a:sym typeface="Anton"/>
                  </a:rPr>
                  <a:t>+44</a:t>
                </a:r>
                <a:endParaRPr sz="260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Net Promoter Score</a:t>
                </a:r>
                <a:endParaRPr sz="9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75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rgbClr val="66666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NPS Rating Benchmark</a:t>
                </a:r>
                <a:endParaRPr sz="800">
                  <a:solidFill>
                    <a:srgbClr val="66666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109" name="Google Shape;1109;p30"/>
            <p:cNvGrpSpPr/>
            <p:nvPr/>
          </p:nvGrpSpPr>
          <p:grpSpPr>
            <a:xfrm>
              <a:off x="0" y="1162050"/>
              <a:ext cx="3714900" cy="2247900"/>
              <a:chOff x="0" y="0"/>
              <a:chExt cx="3714900" cy="2247900"/>
            </a:xfrm>
          </p:grpSpPr>
          <p:sp>
            <p:nvSpPr>
              <p:cNvPr id="1110" name="Google Shape;1110;p30"/>
              <p:cNvSpPr/>
              <p:nvPr/>
            </p:nvSpPr>
            <p:spPr>
              <a:xfrm>
                <a:off x="0" y="0"/>
                <a:ext cx="3714900" cy="2247900"/>
              </a:xfrm>
              <a:prstGeom prst="roundRect">
                <a:avLst>
                  <a:gd name="adj" fmla="val 3389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30"/>
              <p:cNvSpPr/>
              <p:nvPr/>
            </p:nvSpPr>
            <p:spPr>
              <a:xfrm>
                <a:off x="0" y="0"/>
                <a:ext cx="57300" cy="2247900"/>
              </a:xfrm>
              <a:prstGeom prst="roundRect">
                <a:avLst>
                  <a:gd name="adj" fmla="val 5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30"/>
              <p:cNvSpPr txBox="1"/>
              <p:nvPr/>
            </p:nvSpPr>
            <p:spPr>
              <a:xfrm>
                <a:off x="209550" y="190500"/>
                <a:ext cx="3295800" cy="18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FFB3C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CRITICAL FINDING</a:t>
                </a:r>
                <a:endParaRPr sz="800" b="1">
                  <a:solidFill>
                    <a:srgbClr val="FFB3C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" sz="13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Key Perceptual Pain Point</a:t>
                </a:r>
                <a:endParaRPr sz="13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E0E4EC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While hygiene and trainer ratings are excellent, "Value for Money" scored the lowest, validating it as a key perceptual pain point for member retention.</a:t>
                </a:r>
                <a:endParaRPr sz="950">
                  <a:solidFill>
                    <a:srgbClr val="E0E4EC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135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FFB3C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PRIMARY LEVER FOR RETENTION</a:t>
                </a:r>
                <a:endParaRPr sz="800" b="1">
                  <a:solidFill>
                    <a:srgbClr val="FFB3C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Addressing value perception directly impacts the 20% uncommitted members.</a:t>
                </a:r>
                <a:endParaRPr sz="85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1113" name="Google Shape;1113;p30"/>
          <p:cNvGrpSpPr/>
          <p:nvPr/>
        </p:nvGrpSpPr>
        <p:grpSpPr>
          <a:xfrm>
            <a:off x="4514850" y="1066800"/>
            <a:ext cx="4114800" cy="3410100"/>
            <a:chOff x="0" y="0"/>
            <a:chExt cx="4114800" cy="3410100"/>
          </a:xfrm>
        </p:grpSpPr>
        <p:sp>
          <p:nvSpPr>
            <p:cNvPr id="1114" name="Google Shape;1114;p30"/>
            <p:cNvSpPr/>
            <p:nvPr/>
          </p:nvSpPr>
          <p:spPr>
            <a:xfrm>
              <a:off x="0" y="0"/>
              <a:ext cx="4114800" cy="3410100"/>
            </a:xfrm>
            <a:prstGeom prst="roundRect">
              <a:avLst>
                <a:gd name="adj" fmla="val 2234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0"/>
            <p:cNvSpPr/>
            <p:nvPr/>
          </p:nvSpPr>
          <p:spPr>
            <a:xfrm>
              <a:off x="0" y="0"/>
              <a:ext cx="4114800" cy="400200"/>
            </a:xfrm>
            <a:prstGeom prst="roundRect">
              <a:avLst>
                <a:gd name="adj" fmla="val 19047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0"/>
            <p:cNvSpPr/>
            <p:nvPr/>
          </p:nvSpPr>
          <p:spPr>
            <a:xfrm>
              <a:off x="0" y="304800"/>
              <a:ext cx="4114800" cy="954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0"/>
            <p:cNvSpPr txBox="1"/>
            <p:nvPr/>
          </p:nvSpPr>
          <p:spPr>
            <a:xfrm>
              <a:off x="190500" y="0"/>
              <a:ext cx="3733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MEAN SATISFACTION RATINGS</a:t>
              </a:r>
              <a:endParaRPr sz="1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118" name="Google Shape;1118;p30"/>
            <p:cNvSpPr txBox="1"/>
            <p:nvPr/>
          </p:nvSpPr>
          <p:spPr>
            <a:xfrm>
              <a:off x="190500" y="457200"/>
              <a:ext cx="3733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666666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rPr>
                <a:t>Scores evaluated out of 5.0 (N=50)</a:t>
              </a:r>
              <a:endParaRPr sz="850" b="0">
                <a:solidFill>
                  <a:srgbClr val="666666"/>
                </a:solidFill>
                <a:latin typeface="Work Sans SemiBold"/>
                <a:ea typeface="Work Sans SemiBold"/>
                <a:cs typeface="Work Sans SemiBold"/>
                <a:sym typeface="Work Sans SemiBold"/>
              </a:endParaRPr>
            </a:p>
          </p:txBody>
        </p:sp>
        <p:grpSp>
          <p:nvGrpSpPr>
            <p:cNvPr id="1119" name="Google Shape;1119;p30"/>
            <p:cNvGrpSpPr/>
            <p:nvPr/>
          </p:nvGrpSpPr>
          <p:grpSpPr>
            <a:xfrm>
              <a:off x="190500" y="742950"/>
              <a:ext cx="3733800" cy="285900"/>
              <a:chOff x="0" y="0"/>
              <a:chExt cx="3733800" cy="285900"/>
            </a:xfrm>
          </p:grpSpPr>
          <p:sp>
            <p:nvSpPr>
              <p:cNvPr id="1120" name="Google Shape;1120;p30"/>
              <p:cNvSpPr txBox="1"/>
              <p:nvPr/>
            </p:nvSpPr>
            <p:spPr>
              <a:xfrm>
                <a:off x="0" y="0"/>
                <a:ext cx="1905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Hygiene</a:t>
                </a:r>
                <a:endParaRPr sz="9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21" name="Google Shape;1121;p30"/>
              <p:cNvSpPr txBox="1"/>
              <p:nvPr/>
            </p:nvSpPr>
            <p:spPr>
              <a:xfrm>
                <a:off x="2667000" y="0"/>
                <a:ext cx="10668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4.78</a:t>
                </a:r>
                <a:endParaRPr sz="11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22" name="Google Shape;1122;p30"/>
              <p:cNvSpPr/>
              <p:nvPr/>
            </p:nvSpPr>
            <p:spPr>
              <a:xfrm>
                <a:off x="0" y="190500"/>
                <a:ext cx="3733800" cy="95400"/>
              </a:xfrm>
              <a:prstGeom prst="roundRect">
                <a:avLst>
                  <a:gd name="adj" fmla="val 30000"/>
                </a:avLst>
              </a:prstGeom>
              <a:solidFill>
                <a:srgbClr val="EAECE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30"/>
              <p:cNvSpPr/>
              <p:nvPr/>
            </p:nvSpPr>
            <p:spPr>
              <a:xfrm>
                <a:off x="0" y="190500"/>
                <a:ext cx="3571800" cy="95400"/>
              </a:xfrm>
              <a:prstGeom prst="roundRect">
                <a:avLst>
                  <a:gd name="adj" fmla="val 30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4" name="Google Shape;1124;p30"/>
            <p:cNvGrpSpPr/>
            <p:nvPr/>
          </p:nvGrpSpPr>
          <p:grpSpPr>
            <a:xfrm>
              <a:off x="190500" y="1238250"/>
              <a:ext cx="3733800" cy="285900"/>
              <a:chOff x="0" y="0"/>
              <a:chExt cx="3733800" cy="285900"/>
            </a:xfrm>
          </p:grpSpPr>
          <p:sp>
            <p:nvSpPr>
              <p:cNvPr id="1125" name="Google Shape;1125;p30"/>
              <p:cNvSpPr txBox="1"/>
              <p:nvPr/>
            </p:nvSpPr>
            <p:spPr>
              <a:xfrm>
                <a:off x="0" y="0"/>
                <a:ext cx="1905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Trainer</a:t>
                </a:r>
                <a:endParaRPr sz="9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26" name="Google Shape;1126;p30"/>
              <p:cNvSpPr txBox="1"/>
              <p:nvPr/>
            </p:nvSpPr>
            <p:spPr>
              <a:xfrm>
                <a:off x="2667000" y="0"/>
                <a:ext cx="10668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4.62</a:t>
                </a:r>
                <a:endParaRPr sz="11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27" name="Google Shape;1127;p30"/>
              <p:cNvSpPr/>
              <p:nvPr/>
            </p:nvSpPr>
            <p:spPr>
              <a:xfrm>
                <a:off x="0" y="190500"/>
                <a:ext cx="3733800" cy="95400"/>
              </a:xfrm>
              <a:prstGeom prst="roundRect">
                <a:avLst>
                  <a:gd name="adj" fmla="val 30000"/>
                </a:avLst>
              </a:prstGeom>
              <a:solidFill>
                <a:srgbClr val="EAECE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30"/>
              <p:cNvSpPr/>
              <p:nvPr/>
            </p:nvSpPr>
            <p:spPr>
              <a:xfrm>
                <a:off x="0" y="190500"/>
                <a:ext cx="3448200" cy="95400"/>
              </a:xfrm>
              <a:prstGeom prst="roundRect">
                <a:avLst>
                  <a:gd name="adj" fmla="val 30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9" name="Google Shape;1129;p30"/>
            <p:cNvGrpSpPr/>
            <p:nvPr/>
          </p:nvGrpSpPr>
          <p:grpSpPr>
            <a:xfrm>
              <a:off x="190500" y="1733550"/>
              <a:ext cx="3733800" cy="285900"/>
              <a:chOff x="0" y="0"/>
              <a:chExt cx="3733800" cy="285900"/>
            </a:xfrm>
          </p:grpSpPr>
          <p:sp>
            <p:nvSpPr>
              <p:cNvPr id="1130" name="Google Shape;1130;p30"/>
              <p:cNvSpPr txBox="1"/>
              <p:nvPr/>
            </p:nvSpPr>
            <p:spPr>
              <a:xfrm>
                <a:off x="0" y="0"/>
                <a:ext cx="1905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Overall</a:t>
                </a:r>
                <a:endParaRPr sz="9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31" name="Google Shape;1131;p30"/>
              <p:cNvSpPr txBox="1"/>
              <p:nvPr/>
            </p:nvSpPr>
            <p:spPr>
              <a:xfrm>
                <a:off x="2667000" y="0"/>
                <a:ext cx="10668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4.44</a:t>
                </a:r>
                <a:endParaRPr sz="11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32" name="Google Shape;1132;p30"/>
              <p:cNvSpPr/>
              <p:nvPr/>
            </p:nvSpPr>
            <p:spPr>
              <a:xfrm>
                <a:off x="0" y="190500"/>
                <a:ext cx="3733800" cy="95400"/>
              </a:xfrm>
              <a:prstGeom prst="roundRect">
                <a:avLst>
                  <a:gd name="adj" fmla="val 30000"/>
                </a:avLst>
              </a:prstGeom>
              <a:solidFill>
                <a:srgbClr val="EAECE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30"/>
              <p:cNvSpPr/>
              <p:nvPr/>
            </p:nvSpPr>
            <p:spPr>
              <a:xfrm>
                <a:off x="0" y="190500"/>
                <a:ext cx="3314700" cy="95400"/>
              </a:xfrm>
              <a:prstGeom prst="roundRect">
                <a:avLst>
                  <a:gd name="adj" fmla="val 30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34" name="Google Shape;1134;p30"/>
            <p:cNvGrpSpPr/>
            <p:nvPr/>
          </p:nvGrpSpPr>
          <p:grpSpPr>
            <a:xfrm>
              <a:off x="190500" y="2228850"/>
              <a:ext cx="3733800" cy="285900"/>
              <a:chOff x="0" y="0"/>
              <a:chExt cx="3733800" cy="285900"/>
            </a:xfrm>
          </p:grpSpPr>
          <p:sp>
            <p:nvSpPr>
              <p:cNvPr id="1135" name="Google Shape;1135;p30"/>
              <p:cNvSpPr txBox="1"/>
              <p:nvPr/>
            </p:nvSpPr>
            <p:spPr>
              <a:xfrm>
                <a:off x="0" y="0"/>
                <a:ext cx="1905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Equipment</a:t>
                </a:r>
                <a:endParaRPr sz="9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36" name="Google Shape;1136;p30"/>
              <p:cNvSpPr txBox="1"/>
              <p:nvPr/>
            </p:nvSpPr>
            <p:spPr>
              <a:xfrm>
                <a:off x="2667000" y="0"/>
                <a:ext cx="10668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4.38</a:t>
                </a:r>
                <a:endParaRPr sz="11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37" name="Google Shape;1137;p30"/>
              <p:cNvSpPr/>
              <p:nvPr/>
            </p:nvSpPr>
            <p:spPr>
              <a:xfrm>
                <a:off x="0" y="190500"/>
                <a:ext cx="3733800" cy="95400"/>
              </a:xfrm>
              <a:prstGeom prst="roundRect">
                <a:avLst>
                  <a:gd name="adj" fmla="val 30000"/>
                </a:avLst>
              </a:prstGeom>
              <a:solidFill>
                <a:srgbClr val="EAECE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30"/>
              <p:cNvSpPr/>
              <p:nvPr/>
            </p:nvSpPr>
            <p:spPr>
              <a:xfrm>
                <a:off x="0" y="190500"/>
                <a:ext cx="3267000" cy="95400"/>
              </a:xfrm>
              <a:prstGeom prst="roundRect">
                <a:avLst>
                  <a:gd name="adj" fmla="val 30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39" name="Google Shape;1139;p30"/>
            <p:cNvGrpSpPr/>
            <p:nvPr/>
          </p:nvGrpSpPr>
          <p:grpSpPr>
            <a:xfrm>
              <a:off x="95250" y="2705100"/>
              <a:ext cx="3924300" cy="590700"/>
              <a:chOff x="0" y="0"/>
              <a:chExt cx="3924300" cy="590700"/>
            </a:xfrm>
          </p:grpSpPr>
          <p:sp>
            <p:nvSpPr>
              <p:cNvPr id="1140" name="Google Shape;1140;p30"/>
              <p:cNvSpPr/>
              <p:nvPr/>
            </p:nvSpPr>
            <p:spPr>
              <a:xfrm>
                <a:off x="0" y="0"/>
                <a:ext cx="3924300" cy="590700"/>
              </a:xfrm>
              <a:prstGeom prst="roundRect">
                <a:avLst>
                  <a:gd name="adj" fmla="val 9677"/>
                </a:avLst>
              </a:prstGeom>
              <a:solidFill>
                <a:srgbClr val="FFF0F4"/>
              </a:solidFill>
              <a:ln w="9525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30"/>
              <p:cNvSpPr txBox="1"/>
              <p:nvPr/>
            </p:nvSpPr>
            <p:spPr>
              <a:xfrm>
                <a:off x="95250" y="76200"/>
                <a:ext cx="1143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Value for Money</a:t>
                </a:r>
                <a:endParaRPr sz="9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42" name="Google Shape;1142;p30"/>
              <p:cNvSpPr/>
              <p:nvPr/>
            </p:nvSpPr>
            <p:spPr>
              <a:xfrm>
                <a:off x="1276350" y="76200"/>
                <a:ext cx="762000" cy="152400"/>
              </a:xfrm>
              <a:prstGeom prst="roundRect">
                <a:avLst>
                  <a:gd name="adj" fmla="val 1875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30"/>
              <p:cNvSpPr txBox="1"/>
              <p:nvPr/>
            </p:nvSpPr>
            <p:spPr>
              <a:xfrm>
                <a:off x="1276350" y="76200"/>
                <a:ext cx="7620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Lowest Metric</a:t>
                </a:r>
                <a:endParaRPr sz="6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44" name="Google Shape;1144;p30"/>
              <p:cNvSpPr txBox="1"/>
              <p:nvPr/>
            </p:nvSpPr>
            <p:spPr>
              <a:xfrm>
                <a:off x="2667000" y="76200"/>
                <a:ext cx="11622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1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4.02</a:t>
                </a:r>
                <a:endParaRPr sz="111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45" name="Google Shape;1145;p30"/>
              <p:cNvSpPr/>
              <p:nvPr/>
            </p:nvSpPr>
            <p:spPr>
              <a:xfrm>
                <a:off x="95250" y="361950"/>
                <a:ext cx="3733800" cy="114300"/>
              </a:xfrm>
              <a:prstGeom prst="roundRect">
                <a:avLst>
                  <a:gd name="adj" fmla="val 25000"/>
                </a:avLst>
              </a:prstGeom>
              <a:solidFill>
                <a:srgbClr val="EAECE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30"/>
              <p:cNvSpPr/>
              <p:nvPr/>
            </p:nvSpPr>
            <p:spPr>
              <a:xfrm>
                <a:off x="95250" y="361950"/>
                <a:ext cx="3000300" cy="114300"/>
              </a:xfrm>
              <a:prstGeom prst="roundRect">
                <a:avLst>
                  <a:gd name="adj" fmla="val 25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2" name="Google Shape;1152;p31"/>
          <p:cNvGrpSpPr/>
          <p:nvPr/>
        </p:nvGrpSpPr>
        <p:grpSpPr>
          <a:xfrm>
            <a:off x="514350" y="304800"/>
            <a:ext cx="8115300" cy="552450"/>
            <a:chOff x="0" y="0"/>
            <a:chExt cx="8115300" cy="552450"/>
          </a:xfrm>
        </p:grpSpPr>
        <p:sp>
          <p:nvSpPr>
            <p:cNvPr id="1153" name="Google Shape;1153;p31"/>
            <p:cNvSpPr txBox="1"/>
            <p:nvPr/>
          </p:nvSpPr>
          <p:spPr>
            <a:xfrm>
              <a:off x="0" y="0"/>
              <a:ext cx="8115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43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MEMBER EXPERIENCE &amp; </a:t>
              </a:r>
              <a:r>
                <a:rPr lang="en" sz="1943">
                  <a:solidFill>
                    <a:srgbClr val="A60042"/>
                  </a:solidFill>
                  <a:latin typeface="Anton"/>
                  <a:ea typeface="Anton"/>
                  <a:cs typeface="Anton"/>
                  <a:sym typeface="Anton"/>
                </a:rPr>
                <a:t>RETENTION FEEDBACK</a:t>
              </a:r>
              <a:endParaRPr sz="1943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154" name="Google Shape;1154;p31"/>
            <p:cNvSpPr txBox="1"/>
            <p:nvPr/>
          </p:nvSpPr>
          <p:spPr>
            <a:xfrm>
              <a:off x="0" y="323850"/>
              <a:ext cx="8115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4A5568"/>
                  </a:solidFill>
                  <a:latin typeface="Work Sans"/>
                  <a:ea typeface="Work Sans"/>
                  <a:cs typeface="Work Sans"/>
                  <a:sym typeface="Work Sans"/>
                </a:rPr>
                <a:t>While the Net Promoter Score is a healthy +44, mitigating overcrowding and upgrading equipment are top member priorities. Survey feedback provided a detailed breakdown of loyalty, churn reasons, and retention preferences:</a:t>
              </a:r>
              <a:endParaRPr sz="750" b="0">
                <a:solidFill>
                  <a:srgbClr val="4A5568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155" name="Google Shape;1155;p31"/>
          <p:cNvGrpSpPr/>
          <p:nvPr/>
        </p:nvGrpSpPr>
        <p:grpSpPr>
          <a:xfrm>
            <a:off x="514350" y="952500"/>
            <a:ext cx="2552700" cy="3810000"/>
            <a:chOff x="0" y="0"/>
            <a:chExt cx="2552700" cy="3810000"/>
          </a:xfrm>
        </p:grpSpPr>
        <p:sp>
          <p:nvSpPr>
            <p:cNvPr id="1156" name="Google Shape;1156;p31"/>
            <p:cNvSpPr/>
            <p:nvPr/>
          </p:nvSpPr>
          <p:spPr>
            <a:xfrm>
              <a:off x="0" y="0"/>
              <a:ext cx="2552700" cy="3810000"/>
            </a:xfrm>
            <a:prstGeom prst="roundRect">
              <a:avLst>
                <a:gd name="adj" fmla="val 2238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1"/>
            <p:cNvSpPr/>
            <p:nvPr/>
          </p:nvSpPr>
          <p:spPr>
            <a:xfrm>
              <a:off x="0" y="0"/>
              <a:ext cx="2552700" cy="266700"/>
            </a:xfrm>
            <a:prstGeom prst="roundRect">
              <a:avLst>
                <a:gd name="adj" fmla="val 21428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1"/>
            <p:cNvSpPr/>
            <p:nvPr/>
          </p:nvSpPr>
          <p:spPr>
            <a:xfrm>
              <a:off x="0" y="228600"/>
              <a:ext cx="2552700" cy="381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1"/>
            <p:cNvSpPr txBox="1"/>
            <p:nvPr/>
          </p:nvSpPr>
          <p:spPr>
            <a:xfrm>
              <a:off x="133350" y="38100"/>
              <a:ext cx="2286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NPS BREAKDOWN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160" name="Google Shape;1160;p31"/>
            <p:cNvGrpSpPr/>
            <p:nvPr/>
          </p:nvGrpSpPr>
          <p:grpSpPr>
            <a:xfrm>
              <a:off x="781050" y="885825"/>
              <a:ext cx="990600" cy="990600"/>
              <a:chOff x="-495300" y="-495300"/>
              <a:chExt cx="990600" cy="990600"/>
            </a:xfrm>
          </p:grpSpPr>
          <p:sp>
            <p:nvSpPr>
              <p:cNvPr id="1161" name="Google Shape;1161;p31"/>
              <p:cNvSpPr/>
              <p:nvPr/>
            </p:nvSpPr>
            <p:spPr>
              <a:xfrm>
                <a:off x="-495300" y="-495300"/>
                <a:ext cx="990600" cy="9906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524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31"/>
              <p:cNvSpPr txBox="1"/>
              <p:nvPr/>
            </p:nvSpPr>
            <p:spPr>
              <a:xfrm>
                <a:off x="-476250" y="-209550"/>
                <a:ext cx="952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0E1C5D"/>
                    </a:solidFill>
                    <a:latin typeface="Anton"/>
                    <a:ea typeface="Anton"/>
                    <a:cs typeface="Anton"/>
                    <a:sym typeface="Anton"/>
                  </a:rPr>
                  <a:t>+44</a:t>
                </a:r>
                <a:endParaRPr sz="200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NET NPS</a:t>
                </a:r>
                <a:endParaRPr sz="6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163" name="Google Shape;1163;p31"/>
            <p:cNvGrpSpPr/>
            <p:nvPr/>
          </p:nvGrpSpPr>
          <p:grpSpPr>
            <a:xfrm>
              <a:off x="152400" y="2190750"/>
              <a:ext cx="2247900" cy="228600"/>
              <a:chOff x="0" y="0"/>
              <a:chExt cx="2247900" cy="228600"/>
            </a:xfrm>
          </p:grpSpPr>
          <p:sp>
            <p:nvSpPr>
              <p:cNvPr id="1164" name="Google Shape;1164;p31"/>
              <p:cNvSpPr txBox="1"/>
              <p:nvPr/>
            </p:nvSpPr>
            <p:spPr>
              <a:xfrm>
                <a:off x="0" y="0"/>
                <a:ext cx="17145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Promoters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65" name="Google Shape;1165;p31"/>
              <p:cNvSpPr txBox="1"/>
              <p:nvPr/>
            </p:nvSpPr>
            <p:spPr>
              <a:xfrm>
                <a:off x="1714500" y="0"/>
                <a:ext cx="5334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56%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66" name="Google Shape;1166;p31"/>
              <p:cNvSpPr/>
              <p:nvPr/>
            </p:nvSpPr>
            <p:spPr>
              <a:xfrm>
                <a:off x="0" y="152400"/>
                <a:ext cx="22479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31"/>
              <p:cNvSpPr/>
              <p:nvPr/>
            </p:nvSpPr>
            <p:spPr>
              <a:xfrm>
                <a:off x="0" y="152400"/>
                <a:ext cx="12573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8" name="Google Shape;1168;p31"/>
            <p:cNvGrpSpPr/>
            <p:nvPr/>
          </p:nvGrpSpPr>
          <p:grpSpPr>
            <a:xfrm>
              <a:off x="152400" y="2667000"/>
              <a:ext cx="2247900" cy="228600"/>
              <a:chOff x="0" y="0"/>
              <a:chExt cx="2247900" cy="228600"/>
            </a:xfrm>
          </p:grpSpPr>
          <p:sp>
            <p:nvSpPr>
              <p:cNvPr id="1169" name="Google Shape;1169;p31"/>
              <p:cNvSpPr txBox="1"/>
              <p:nvPr/>
            </p:nvSpPr>
            <p:spPr>
              <a:xfrm>
                <a:off x="0" y="0"/>
                <a:ext cx="17145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Passives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70" name="Google Shape;1170;p31"/>
              <p:cNvSpPr txBox="1"/>
              <p:nvPr/>
            </p:nvSpPr>
            <p:spPr>
              <a:xfrm>
                <a:off x="1714500" y="0"/>
                <a:ext cx="5334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32%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71" name="Google Shape;1171;p31"/>
              <p:cNvSpPr/>
              <p:nvPr/>
            </p:nvSpPr>
            <p:spPr>
              <a:xfrm>
                <a:off x="0" y="152400"/>
                <a:ext cx="22479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31"/>
              <p:cNvSpPr/>
              <p:nvPr/>
            </p:nvSpPr>
            <p:spPr>
              <a:xfrm>
                <a:off x="0" y="152400"/>
                <a:ext cx="7191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3" name="Google Shape;1173;p31"/>
            <p:cNvGrpSpPr/>
            <p:nvPr/>
          </p:nvGrpSpPr>
          <p:grpSpPr>
            <a:xfrm>
              <a:off x="152400" y="3143250"/>
              <a:ext cx="2247900" cy="228600"/>
              <a:chOff x="0" y="0"/>
              <a:chExt cx="2247900" cy="228600"/>
            </a:xfrm>
          </p:grpSpPr>
          <p:sp>
            <p:nvSpPr>
              <p:cNvPr id="1174" name="Google Shape;1174;p31"/>
              <p:cNvSpPr txBox="1"/>
              <p:nvPr/>
            </p:nvSpPr>
            <p:spPr>
              <a:xfrm>
                <a:off x="0" y="0"/>
                <a:ext cx="17145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7A86B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Detractors</a:t>
                </a:r>
                <a:endParaRPr sz="750" b="1">
                  <a:solidFill>
                    <a:srgbClr val="7A86B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75" name="Google Shape;1175;p31"/>
              <p:cNvSpPr txBox="1"/>
              <p:nvPr/>
            </p:nvSpPr>
            <p:spPr>
              <a:xfrm>
                <a:off x="1714500" y="0"/>
                <a:ext cx="5334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7A86B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12%</a:t>
                </a:r>
                <a:endParaRPr sz="750" b="1">
                  <a:solidFill>
                    <a:srgbClr val="7A86B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76" name="Google Shape;1176;p31"/>
              <p:cNvSpPr/>
              <p:nvPr/>
            </p:nvSpPr>
            <p:spPr>
              <a:xfrm>
                <a:off x="0" y="152400"/>
                <a:ext cx="22479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31"/>
              <p:cNvSpPr/>
              <p:nvPr/>
            </p:nvSpPr>
            <p:spPr>
              <a:xfrm>
                <a:off x="0" y="152400"/>
                <a:ext cx="2697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7A86B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78" name="Google Shape;1178;p31"/>
          <p:cNvGrpSpPr/>
          <p:nvPr/>
        </p:nvGrpSpPr>
        <p:grpSpPr>
          <a:xfrm>
            <a:off x="3295650" y="952500"/>
            <a:ext cx="2552700" cy="3810000"/>
            <a:chOff x="0" y="0"/>
            <a:chExt cx="2552700" cy="3810000"/>
          </a:xfrm>
        </p:grpSpPr>
        <p:sp>
          <p:nvSpPr>
            <p:cNvPr id="1179" name="Google Shape;1179;p31"/>
            <p:cNvSpPr/>
            <p:nvPr/>
          </p:nvSpPr>
          <p:spPr>
            <a:xfrm>
              <a:off x="0" y="0"/>
              <a:ext cx="2552700" cy="3810000"/>
            </a:xfrm>
            <a:prstGeom prst="roundRect">
              <a:avLst>
                <a:gd name="adj" fmla="val 2238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1"/>
            <p:cNvSpPr/>
            <p:nvPr/>
          </p:nvSpPr>
          <p:spPr>
            <a:xfrm>
              <a:off x="0" y="0"/>
              <a:ext cx="2552700" cy="266700"/>
            </a:xfrm>
            <a:prstGeom prst="roundRect">
              <a:avLst>
                <a:gd name="adj" fmla="val 21428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1"/>
            <p:cNvSpPr/>
            <p:nvPr/>
          </p:nvSpPr>
          <p:spPr>
            <a:xfrm>
              <a:off x="0" y="228600"/>
              <a:ext cx="2552700" cy="381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1"/>
            <p:cNvSpPr txBox="1"/>
            <p:nvPr/>
          </p:nvSpPr>
          <p:spPr>
            <a:xfrm>
              <a:off x="133350" y="38100"/>
              <a:ext cx="2286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TOP CHURN REASONS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183" name="Google Shape;1183;p31"/>
            <p:cNvGrpSpPr/>
            <p:nvPr/>
          </p:nvGrpSpPr>
          <p:grpSpPr>
            <a:xfrm>
              <a:off x="152400" y="400050"/>
              <a:ext cx="2247900" cy="1009800"/>
              <a:chOff x="0" y="0"/>
              <a:chExt cx="2247900" cy="1009800"/>
            </a:xfrm>
          </p:grpSpPr>
          <p:sp>
            <p:nvSpPr>
              <p:cNvPr id="1184" name="Google Shape;1184;p31"/>
              <p:cNvSpPr/>
              <p:nvPr/>
            </p:nvSpPr>
            <p:spPr>
              <a:xfrm>
                <a:off x="0" y="0"/>
                <a:ext cx="2247900" cy="1009800"/>
              </a:xfrm>
              <a:prstGeom prst="roundRect">
                <a:avLst>
                  <a:gd name="adj" fmla="val 566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31"/>
              <p:cNvSpPr/>
              <p:nvPr/>
            </p:nvSpPr>
            <p:spPr>
              <a:xfrm>
                <a:off x="0" y="0"/>
                <a:ext cx="47700" cy="1009800"/>
              </a:xfrm>
              <a:prstGeom prst="roundRect">
                <a:avLst>
                  <a:gd name="adj" fmla="val 4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31"/>
              <p:cNvSpPr/>
              <p:nvPr/>
            </p:nvSpPr>
            <p:spPr>
              <a:xfrm>
                <a:off x="133350" y="133350"/>
                <a:ext cx="266700" cy="2667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31"/>
              <p:cNvSpPr txBox="1"/>
              <p:nvPr/>
            </p:nvSpPr>
            <p:spPr>
              <a:xfrm>
                <a:off x="133350" y="13335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1</a:t>
                </a:r>
                <a:endParaRPr sz="10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sp>
            <p:nvSpPr>
              <p:cNvPr id="1188" name="Google Shape;1188;p31"/>
              <p:cNvSpPr txBox="1"/>
              <p:nvPr/>
            </p:nvSpPr>
            <p:spPr>
              <a:xfrm>
                <a:off x="476250" y="171450"/>
                <a:ext cx="16383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Relocation</a:t>
                </a:r>
                <a:endParaRPr sz="9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89" name="Google Shape;1189;p31"/>
              <p:cNvSpPr txBox="1"/>
              <p:nvPr/>
            </p:nvSpPr>
            <p:spPr>
              <a:xfrm>
                <a:off x="152400" y="476250"/>
                <a:ext cx="19623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4A5568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Primary driver of churn; completely external to gym operational performance.</a:t>
                </a:r>
                <a:endParaRPr sz="750" b="0">
                  <a:solidFill>
                    <a:srgbClr val="4A5568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190" name="Google Shape;1190;p31"/>
            <p:cNvGrpSpPr/>
            <p:nvPr/>
          </p:nvGrpSpPr>
          <p:grpSpPr>
            <a:xfrm>
              <a:off x="152400" y="1524000"/>
              <a:ext cx="2247900" cy="1009800"/>
              <a:chOff x="0" y="0"/>
              <a:chExt cx="2247900" cy="1009800"/>
            </a:xfrm>
          </p:grpSpPr>
          <p:sp>
            <p:nvSpPr>
              <p:cNvPr id="1191" name="Google Shape;1191;p31"/>
              <p:cNvSpPr/>
              <p:nvPr/>
            </p:nvSpPr>
            <p:spPr>
              <a:xfrm>
                <a:off x="0" y="0"/>
                <a:ext cx="2247900" cy="1009800"/>
              </a:xfrm>
              <a:prstGeom prst="roundRect">
                <a:avLst>
                  <a:gd name="adj" fmla="val 566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31"/>
              <p:cNvSpPr/>
              <p:nvPr/>
            </p:nvSpPr>
            <p:spPr>
              <a:xfrm>
                <a:off x="0" y="0"/>
                <a:ext cx="47700" cy="1009800"/>
              </a:xfrm>
              <a:prstGeom prst="roundRect">
                <a:avLst>
                  <a:gd name="adj" fmla="val 40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31"/>
              <p:cNvSpPr/>
              <p:nvPr/>
            </p:nvSpPr>
            <p:spPr>
              <a:xfrm>
                <a:off x="133350" y="133350"/>
                <a:ext cx="266700" cy="2667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31"/>
              <p:cNvSpPr txBox="1"/>
              <p:nvPr/>
            </p:nvSpPr>
            <p:spPr>
              <a:xfrm>
                <a:off x="133350" y="13335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2</a:t>
                </a:r>
                <a:endParaRPr sz="10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sp>
            <p:nvSpPr>
              <p:cNvPr id="1195" name="Google Shape;1195;p31"/>
              <p:cNvSpPr txBox="1"/>
              <p:nvPr/>
            </p:nvSpPr>
            <p:spPr>
              <a:xfrm>
                <a:off x="476250" y="171450"/>
                <a:ext cx="16383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Facility Overcrowding</a:t>
                </a:r>
                <a:endParaRPr sz="9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196" name="Google Shape;1196;p31"/>
              <p:cNvSpPr txBox="1"/>
              <p:nvPr/>
            </p:nvSpPr>
            <p:spPr>
              <a:xfrm>
                <a:off x="152400" y="476250"/>
                <a:ext cx="19623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4A5568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Key operational frustration during peak evening and weekend workout hours.</a:t>
                </a:r>
                <a:endParaRPr sz="750" b="0">
                  <a:solidFill>
                    <a:srgbClr val="4A5568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197" name="Google Shape;1197;p31"/>
            <p:cNvGrpSpPr/>
            <p:nvPr/>
          </p:nvGrpSpPr>
          <p:grpSpPr>
            <a:xfrm>
              <a:off x="152400" y="2647950"/>
              <a:ext cx="2247900" cy="1009800"/>
              <a:chOff x="0" y="0"/>
              <a:chExt cx="2247900" cy="1009800"/>
            </a:xfrm>
          </p:grpSpPr>
          <p:sp>
            <p:nvSpPr>
              <p:cNvPr id="1198" name="Google Shape;1198;p31"/>
              <p:cNvSpPr/>
              <p:nvPr/>
            </p:nvSpPr>
            <p:spPr>
              <a:xfrm>
                <a:off x="0" y="0"/>
                <a:ext cx="2247900" cy="1009800"/>
              </a:xfrm>
              <a:prstGeom prst="roundRect">
                <a:avLst>
                  <a:gd name="adj" fmla="val 5660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31"/>
              <p:cNvSpPr/>
              <p:nvPr/>
            </p:nvSpPr>
            <p:spPr>
              <a:xfrm>
                <a:off x="0" y="0"/>
                <a:ext cx="47700" cy="1009800"/>
              </a:xfrm>
              <a:prstGeom prst="roundRect">
                <a:avLst>
                  <a:gd name="adj" fmla="val 40000"/>
                </a:avLst>
              </a:prstGeom>
              <a:solidFill>
                <a:srgbClr val="7A86B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31"/>
              <p:cNvSpPr/>
              <p:nvPr/>
            </p:nvSpPr>
            <p:spPr>
              <a:xfrm>
                <a:off x="133350" y="133350"/>
                <a:ext cx="266700" cy="266700"/>
              </a:xfrm>
              <a:prstGeom prst="ellipse">
                <a:avLst/>
              </a:prstGeom>
              <a:solidFill>
                <a:srgbClr val="7A86B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31"/>
              <p:cNvSpPr txBox="1"/>
              <p:nvPr/>
            </p:nvSpPr>
            <p:spPr>
              <a:xfrm>
                <a:off x="133350" y="13335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3</a:t>
                </a:r>
                <a:endParaRPr sz="10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sp>
            <p:nvSpPr>
              <p:cNvPr id="1202" name="Google Shape;1202;p31"/>
              <p:cNvSpPr txBox="1"/>
              <p:nvPr/>
            </p:nvSpPr>
            <p:spPr>
              <a:xfrm>
                <a:off x="476250" y="171450"/>
                <a:ext cx="16383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Machine Wait Times</a:t>
                </a:r>
                <a:endParaRPr sz="9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03" name="Google Shape;1203;p31"/>
              <p:cNvSpPr txBox="1"/>
              <p:nvPr/>
            </p:nvSpPr>
            <p:spPr>
              <a:xfrm>
                <a:off x="152400" y="476250"/>
                <a:ext cx="19623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4A5568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Directly tied to overcrowding; impacts high-demand strength &amp; cardio zones.</a:t>
                </a:r>
                <a:endParaRPr sz="750" b="0">
                  <a:solidFill>
                    <a:srgbClr val="4A5568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1204" name="Google Shape;1204;p31"/>
          <p:cNvGrpSpPr/>
          <p:nvPr/>
        </p:nvGrpSpPr>
        <p:grpSpPr>
          <a:xfrm>
            <a:off x="6076950" y="952500"/>
            <a:ext cx="2552700" cy="3810000"/>
            <a:chOff x="0" y="0"/>
            <a:chExt cx="2552700" cy="3810000"/>
          </a:xfrm>
        </p:grpSpPr>
        <p:sp>
          <p:nvSpPr>
            <p:cNvPr id="1205" name="Google Shape;1205;p31"/>
            <p:cNvSpPr/>
            <p:nvPr/>
          </p:nvSpPr>
          <p:spPr>
            <a:xfrm>
              <a:off x="0" y="0"/>
              <a:ext cx="2552700" cy="3810000"/>
            </a:xfrm>
            <a:prstGeom prst="roundRect">
              <a:avLst>
                <a:gd name="adj" fmla="val 2238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1"/>
            <p:cNvSpPr/>
            <p:nvPr/>
          </p:nvSpPr>
          <p:spPr>
            <a:xfrm>
              <a:off x="0" y="0"/>
              <a:ext cx="2552700" cy="266700"/>
            </a:xfrm>
            <a:prstGeom prst="roundRect">
              <a:avLst>
                <a:gd name="adj" fmla="val 21428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1"/>
            <p:cNvSpPr/>
            <p:nvPr/>
          </p:nvSpPr>
          <p:spPr>
            <a:xfrm>
              <a:off x="0" y="228600"/>
              <a:ext cx="2552700" cy="381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1"/>
            <p:cNvSpPr txBox="1"/>
            <p:nvPr/>
          </p:nvSpPr>
          <p:spPr>
            <a:xfrm>
              <a:off x="133350" y="38100"/>
              <a:ext cx="2286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DESIRED RETENTION INITIATIVES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209" name="Google Shape;1209;p31"/>
            <p:cNvGrpSpPr/>
            <p:nvPr/>
          </p:nvGrpSpPr>
          <p:grpSpPr>
            <a:xfrm>
              <a:off x="152400" y="400050"/>
              <a:ext cx="2247900" cy="457350"/>
              <a:chOff x="0" y="0"/>
              <a:chExt cx="2247900" cy="457350"/>
            </a:xfrm>
          </p:grpSpPr>
          <p:sp>
            <p:nvSpPr>
              <p:cNvPr id="1210" name="Google Shape;1210;p31"/>
              <p:cNvSpPr txBox="1"/>
              <p:nvPr/>
            </p:nvSpPr>
            <p:spPr>
              <a:xfrm>
                <a:off x="0" y="0"/>
                <a:ext cx="2247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Specialized Equipment </a:t>
                </a:r>
                <a:r>
                  <a:rPr lang="en" sz="8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— Top Priority</a:t>
                </a:r>
                <a:endParaRPr sz="8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11" name="Google Shape;1211;p31"/>
              <p:cNvSpPr/>
              <p:nvPr/>
            </p:nvSpPr>
            <p:spPr>
              <a:xfrm>
                <a:off x="0" y="209550"/>
                <a:ext cx="2247900" cy="247800"/>
              </a:xfrm>
              <a:prstGeom prst="roundRect">
                <a:avLst>
                  <a:gd name="adj" fmla="val 15384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31"/>
              <p:cNvSpPr/>
              <p:nvPr/>
            </p:nvSpPr>
            <p:spPr>
              <a:xfrm>
                <a:off x="0" y="209550"/>
                <a:ext cx="1905000" cy="247800"/>
              </a:xfrm>
              <a:prstGeom prst="roundRect">
                <a:avLst>
                  <a:gd name="adj" fmla="val 15384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31"/>
              <p:cNvSpPr txBox="1"/>
              <p:nvPr/>
            </p:nvSpPr>
            <p:spPr>
              <a:xfrm>
                <a:off x="95250" y="209550"/>
                <a:ext cx="17145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Rank #1 Requested</a:t>
                </a:r>
                <a:endParaRPr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214" name="Google Shape;1214;p31"/>
            <p:cNvGrpSpPr/>
            <p:nvPr/>
          </p:nvGrpSpPr>
          <p:grpSpPr>
            <a:xfrm>
              <a:off x="152400" y="1047750"/>
              <a:ext cx="2247900" cy="457350"/>
              <a:chOff x="0" y="0"/>
              <a:chExt cx="2247900" cy="457350"/>
            </a:xfrm>
          </p:grpSpPr>
          <p:sp>
            <p:nvSpPr>
              <p:cNvPr id="1215" name="Google Shape;1215;p31"/>
              <p:cNvSpPr txBox="1"/>
              <p:nvPr/>
            </p:nvSpPr>
            <p:spPr>
              <a:xfrm>
                <a:off x="0" y="0"/>
                <a:ext cx="2247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4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Structured Progress Tracking </a:t>
                </a:r>
                <a:r>
                  <a:rPr lang="en" sz="74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— High Interest</a:t>
                </a:r>
                <a:endParaRPr sz="74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16" name="Google Shape;1216;p31"/>
              <p:cNvSpPr/>
              <p:nvPr/>
            </p:nvSpPr>
            <p:spPr>
              <a:xfrm>
                <a:off x="0" y="209550"/>
                <a:ext cx="2247900" cy="247800"/>
              </a:xfrm>
              <a:prstGeom prst="roundRect">
                <a:avLst>
                  <a:gd name="adj" fmla="val 15384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31"/>
              <p:cNvSpPr/>
              <p:nvPr/>
            </p:nvSpPr>
            <p:spPr>
              <a:xfrm>
                <a:off x="0" y="209550"/>
                <a:ext cx="1600200" cy="247800"/>
              </a:xfrm>
              <a:prstGeom prst="roundRect">
                <a:avLst>
                  <a:gd name="adj" fmla="val 15384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31"/>
              <p:cNvSpPr txBox="1"/>
              <p:nvPr/>
            </p:nvSpPr>
            <p:spPr>
              <a:xfrm>
                <a:off x="95250" y="209550"/>
                <a:ext cx="14097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Rank #2 Requested</a:t>
                </a:r>
                <a:endParaRPr sz="7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219" name="Google Shape;1219;p31"/>
            <p:cNvGrpSpPr/>
            <p:nvPr/>
          </p:nvGrpSpPr>
          <p:grpSpPr>
            <a:xfrm>
              <a:off x="152400" y="1828800"/>
              <a:ext cx="2247900" cy="1828800"/>
              <a:chOff x="0" y="0"/>
              <a:chExt cx="2247900" cy="1828800"/>
            </a:xfrm>
          </p:grpSpPr>
          <p:sp>
            <p:nvSpPr>
              <p:cNvPr id="1220" name="Google Shape;1220;p31"/>
              <p:cNvSpPr/>
              <p:nvPr/>
            </p:nvSpPr>
            <p:spPr>
              <a:xfrm>
                <a:off x="0" y="0"/>
                <a:ext cx="2247900" cy="1828800"/>
              </a:xfrm>
              <a:prstGeom prst="roundRect">
                <a:avLst>
                  <a:gd name="adj" fmla="val 3125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31"/>
              <p:cNvSpPr/>
              <p:nvPr/>
            </p:nvSpPr>
            <p:spPr>
              <a:xfrm>
                <a:off x="0" y="0"/>
                <a:ext cx="47700" cy="1828800"/>
              </a:xfrm>
              <a:prstGeom prst="roundRect">
                <a:avLst>
                  <a:gd name="adj" fmla="val 4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31"/>
              <p:cNvSpPr txBox="1"/>
              <p:nvPr/>
            </p:nvSpPr>
            <p:spPr>
              <a:xfrm>
                <a:off x="152400" y="152400"/>
                <a:ext cx="19431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FFFFFF"/>
                    </a:solidFill>
                    <a:latin typeface="Anton"/>
                    <a:ea typeface="Anton"/>
                    <a:cs typeface="Anton"/>
                    <a:sym typeface="Anton"/>
                  </a:rPr>
                  <a:t>ACTIONABLE FOCUS</a:t>
                </a:r>
                <a:endParaRPr sz="100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  <p:cxnSp>
            <p:nvCxnSpPr>
              <p:cNvPr id="1223" name="Google Shape;1223;p31"/>
              <p:cNvCxnSpPr/>
              <p:nvPr/>
            </p:nvCxnSpPr>
            <p:spPr>
              <a:xfrm>
                <a:off x="152400" y="419100"/>
                <a:ext cx="19431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224" name="Google Shape;1224;p31"/>
              <p:cNvSpPr txBox="1"/>
              <p:nvPr/>
            </p:nvSpPr>
            <p:spPr>
              <a:xfrm>
                <a:off x="152400" y="514350"/>
                <a:ext cx="1943100" cy="116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E2E8F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Member retention strategy must directly target overcrowding mitigation alongside introducing specialized machinery and digital progress tracking tools.</a:t>
                </a:r>
                <a:endParaRPr sz="750" b="0">
                  <a:solidFill>
                    <a:srgbClr val="E2E8F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0" name="Google Shape;1230;p32"/>
          <p:cNvSpPr txBox="1"/>
          <p:nvPr/>
        </p:nvSpPr>
        <p:spPr>
          <a:xfrm>
            <a:off x="514350" y="304800"/>
            <a:ext cx="8115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rPr>
              <a:t>SURVEY ANALYTICS </a:t>
            </a:r>
            <a:r>
              <a:rPr lang="en" sz="2200" b="0">
                <a:solidFill>
                  <a:srgbClr val="A60042"/>
                </a:solidFill>
                <a:latin typeface="Anton"/>
                <a:ea typeface="Anton"/>
                <a:cs typeface="Anton"/>
                <a:sym typeface="Anton"/>
              </a:rPr>
              <a:t>DASHBOARD</a:t>
            </a:r>
            <a:endParaRPr sz="2200" b="0">
              <a:solidFill>
                <a:srgbClr val="0E1C5D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231" name="Google Shape;1231;p32"/>
          <p:cNvGrpSpPr/>
          <p:nvPr/>
        </p:nvGrpSpPr>
        <p:grpSpPr>
          <a:xfrm>
            <a:off x="514350" y="723900"/>
            <a:ext cx="8115300" cy="381000"/>
            <a:chOff x="0" y="0"/>
            <a:chExt cx="8115300" cy="381000"/>
          </a:xfrm>
        </p:grpSpPr>
        <p:sp>
          <p:nvSpPr>
            <p:cNvPr id="1232" name="Google Shape;1232;p32"/>
            <p:cNvSpPr/>
            <p:nvPr/>
          </p:nvSpPr>
          <p:spPr>
            <a:xfrm>
              <a:off x="0" y="0"/>
              <a:ext cx="8115300" cy="381000"/>
            </a:xfrm>
            <a:prstGeom prst="roundRect">
              <a:avLst>
                <a:gd name="adj" fmla="val 15000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2"/>
            <p:cNvSpPr/>
            <p:nvPr/>
          </p:nvSpPr>
          <p:spPr>
            <a:xfrm>
              <a:off x="0" y="0"/>
              <a:ext cx="57300" cy="381000"/>
            </a:xfrm>
            <a:prstGeom prst="roundRect">
              <a:avLst>
                <a:gd name="adj" fmla="val 50000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2"/>
            <p:cNvSpPr txBox="1"/>
            <p:nvPr/>
          </p:nvSpPr>
          <p:spPr>
            <a:xfrm>
              <a:off x="152400" y="0"/>
              <a:ext cx="781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FFB3C6"/>
                  </a:solidFill>
                  <a:latin typeface="Work Sans"/>
                  <a:ea typeface="Work Sans"/>
                  <a:cs typeface="Work Sans"/>
                  <a:sym typeface="Work Sans"/>
                </a:rPr>
                <a:t>Key Takeaway</a:t>
              </a:r>
              <a:endParaRPr sz="750" b="1">
                <a:solidFill>
                  <a:srgbClr val="FFB3C6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F4F5F9"/>
                  </a:solidFill>
                  <a:latin typeface="Work Sans"/>
                  <a:ea typeface="Work Sans"/>
                  <a:cs typeface="Work Sans"/>
                  <a:sym typeface="Work Sans"/>
                </a:rPr>
                <a:t>Comprehensive survey analytics confirm that targeted satisfaction improvements directly influence members' intent to renew.</a:t>
              </a:r>
              <a:endParaRPr sz="850" b="0">
                <a:solidFill>
                  <a:srgbClr val="F4F5F9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235" name="Google Shape;1235;p32"/>
          <p:cNvGrpSpPr/>
          <p:nvPr/>
        </p:nvGrpSpPr>
        <p:grpSpPr>
          <a:xfrm>
            <a:off x="514350" y="1219200"/>
            <a:ext cx="2590800" cy="1638300"/>
            <a:chOff x="0" y="0"/>
            <a:chExt cx="2590800" cy="1638300"/>
          </a:xfrm>
        </p:grpSpPr>
        <p:sp>
          <p:nvSpPr>
            <p:cNvPr id="1236" name="Google Shape;1236;p32"/>
            <p:cNvSpPr/>
            <p:nvPr/>
          </p:nvSpPr>
          <p:spPr>
            <a:xfrm>
              <a:off x="0" y="0"/>
              <a:ext cx="2590800" cy="1638300"/>
            </a:xfrm>
            <a:prstGeom prst="roundRect">
              <a:avLst>
                <a:gd name="adj" fmla="val 3488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2"/>
            <p:cNvSpPr/>
            <p:nvPr/>
          </p:nvSpPr>
          <p:spPr>
            <a:xfrm>
              <a:off x="0" y="0"/>
              <a:ext cx="2590800" cy="247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7692"/>
                  </a:moveTo>
                  <a:cubicBezTo>
                    <a:pt x="0" y="12397"/>
                    <a:pt x="1185" y="0"/>
                    <a:pt x="2647" y="0"/>
                  </a:cubicBezTo>
                  <a:lnTo>
                    <a:pt x="117353" y="0"/>
                  </a:lnTo>
                  <a:cubicBezTo>
                    <a:pt x="118815" y="0"/>
                    <a:pt x="120000" y="12397"/>
                    <a:pt x="120000" y="2769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2"/>
            <p:cNvSpPr txBox="1"/>
            <p:nvPr/>
          </p:nvSpPr>
          <p:spPr>
            <a:xfrm>
              <a:off x="114300" y="0"/>
              <a:ext cx="23622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1. Member Satisfaction Box Plots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cxnSp>
          <p:nvCxnSpPr>
            <p:cNvPr id="1239" name="Google Shape;1239;p32"/>
            <p:cNvCxnSpPr/>
            <p:nvPr/>
          </p:nvCxnSpPr>
          <p:spPr>
            <a:xfrm>
              <a:off x="190500" y="1333500"/>
              <a:ext cx="22098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40" name="Google Shape;1240;p32"/>
            <p:cNvCxnSpPr/>
            <p:nvPr/>
          </p:nvCxnSpPr>
          <p:spPr>
            <a:xfrm>
              <a:off x="285750" y="381000"/>
              <a:ext cx="0" cy="95250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241" name="Google Shape;1241;p32"/>
            <p:cNvGrpSpPr/>
            <p:nvPr/>
          </p:nvGrpSpPr>
          <p:grpSpPr>
            <a:xfrm>
              <a:off x="542925" y="619125"/>
              <a:ext cx="342900" cy="571500"/>
              <a:chOff x="-171450" y="619125"/>
              <a:chExt cx="342900" cy="571500"/>
            </a:xfrm>
          </p:grpSpPr>
          <p:cxnSp>
            <p:nvCxnSpPr>
              <p:cNvPr id="1242" name="Google Shape;1242;p32"/>
              <p:cNvCxnSpPr/>
              <p:nvPr/>
            </p:nvCxnSpPr>
            <p:spPr>
              <a:xfrm>
                <a:off x="0" y="619125"/>
                <a:ext cx="0" cy="5715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43" name="Google Shape;1243;p32"/>
              <p:cNvCxnSpPr/>
              <p:nvPr/>
            </p:nvCxnSpPr>
            <p:spPr>
              <a:xfrm>
                <a:off x="-76200" y="619125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44" name="Google Shape;1244;p32"/>
              <p:cNvCxnSpPr/>
              <p:nvPr/>
            </p:nvCxnSpPr>
            <p:spPr>
              <a:xfrm>
                <a:off x="-76200" y="1190625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245" name="Google Shape;1245;p32"/>
              <p:cNvSpPr/>
              <p:nvPr/>
            </p:nvSpPr>
            <p:spPr>
              <a:xfrm>
                <a:off x="-171450" y="762000"/>
                <a:ext cx="342900" cy="285900"/>
              </a:xfrm>
              <a:prstGeom prst="rect">
                <a:avLst/>
              </a:prstGeom>
              <a:solidFill>
                <a:srgbClr val="A60042">
                  <a:alpha val="25000"/>
                </a:srgbClr>
              </a:solidFill>
              <a:ln w="14300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246" name="Google Shape;1246;p32"/>
              <p:cNvCxnSpPr/>
              <p:nvPr/>
            </p:nvCxnSpPr>
            <p:spPr>
              <a:xfrm>
                <a:off x="-171450" y="904875"/>
                <a:ext cx="342900" cy="0"/>
              </a:xfrm>
              <a:prstGeom prst="straightConnector1">
                <a:avLst/>
              </a:prstGeom>
              <a:solidFill>
                <a:srgbClr val="FFFFFF"/>
              </a:solidFill>
              <a:ln w="23825" cap="flat" cmpd="sng">
                <a:solidFill>
                  <a:srgbClr val="A6004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1247" name="Google Shape;1247;p32"/>
            <p:cNvSpPr txBox="1"/>
            <p:nvPr/>
          </p:nvSpPr>
          <p:spPr>
            <a:xfrm>
              <a:off x="333375" y="138112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1" b="0">
                  <a:solidFill>
                    <a:srgbClr val="475569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rPr>
                <a:t>Non-Renewers (Mean: 3.0)</a:t>
              </a:r>
              <a:endParaRPr sz="601" b="0">
                <a:solidFill>
                  <a:srgbClr val="475569"/>
                </a:solidFill>
                <a:latin typeface="Work Sans SemiBold"/>
                <a:ea typeface="Work Sans SemiBold"/>
                <a:cs typeface="Work Sans SemiBold"/>
                <a:sym typeface="Work Sans SemiBold"/>
              </a:endParaRPr>
            </a:p>
          </p:txBody>
        </p:sp>
        <p:grpSp>
          <p:nvGrpSpPr>
            <p:cNvPr id="1248" name="Google Shape;1248;p32"/>
            <p:cNvGrpSpPr/>
            <p:nvPr/>
          </p:nvGrpSpPr>
          <p:grpSpPr>
            <a:xfrm>
              <a:off x="1590675" y="457200"/>
              <a:ext cx="342900" cy="571500"/>
              <a:chOff x="-171450" y="457200"/>
              <a:chExt cx="342900" cy="571500"/>
            </a:xfrm>
          </p:grpSpPr>
          <p:cxnSp>
            <p:nvCxnSpPr>
              <p:cNvPr id="1249" name="Google Shape;1249;p32"/>
              <p:cNvCxnSpPr/>
              <p:nvPr/>
            </p:nvCxnSpPr>
            <p:spPr>
              <a:xfrm>
                <a:off x="0" y="457200"/>
                <a:ext cx="0" cy="5715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50" name="Google Shape;1250;p32"/>
              <p:cNvCxnSpPr/>
              <p:nvPr/>
            </p:nvCxnSpPr>
            <p:spPr>
              <a:xfrm>
                <a:off x="-76200" y="45720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51" name="Google Shape;1251;p32"/>
              <p:cNvCxnSpPr/>
              <p:nvPr/>
            </p:nvCxnSpPr>
            <p:spPr>
              <a:xfrm>
                <a:off x="-76200" y="1028700"/>
                <a:ext cx="1524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252" name="Google Shape;1252;p32"/>
              <p:cNvSpPr/>
              <p:nvPr/>
            </p:nvSpPr>
            <p:spPr>
              <a:xfrm>
                <a:off x="-171450" y="552450"/>
                <a:ext cx="342900" cy="304800"/>
              </a:xfrm>
              <a:prstGeom prst="rect">
                <a:avLst/>
              </a:prstGeom>
              <a:solidFill>
                <a:srgbClr val="0E1C5D">
                  <a:alpha val="25000"/>
                </a:srgbClr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253" name="Google Shape;1253;p32"/>
              <p:cNvCxnSpPr/>
              <p:nvPr/>
            </p:nvCxnSpPr>
            <p:spPr>
              <a:xfrm>
                <a:off x="-171450" y="685800"/>
                <a:ext cx="342900" cy="0"/>
              </a:xfrm>
              <a:prstGeom prst="straightConnector1">
                <a:avLst/>
              </a:prstGeom>
              <a:solidFill>
                <a:srgbClr val="FFFFFF"/>
              </a:solidFill>
              <a:ln w="23825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1254" name="Google Shape;1254;p32"/>
            <p:cNvSpPr txBox="1"/>
            <p:nvPr/>
          </p:nvSpPr>
          <p:spPr>
            <a:xfrm>
              <a:off x="1381125" y="138112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475569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rPr>
                <a:t>Likely Renewers (Mean: 4.9)</a:t>
              </a:r>
              <a:endParaRPr sz="650" b="0">
                <a:solidFill>
                  <a:srgbClr val="475569"/>
                </a:solidFill>
                <a:latin typeface="Work Sans SemiBold"/>
                <a:ea typeface="Work Sans SemiBold"/>
                <a:cs typeface="Work Sans SemiBold"/>
                <a:sym typeface="Work Sans SemiBold"/>
              </a:endParaRPr>
            </a:p>
          </p:txBody>
        </p:sp>
      </p:grpSp>
      <p:grpSp>
        <p:nvGrpSpPr>
          <p:cNvPr id="1255" name="Google Shape;1255;p32"/>
          <p:cNvGrpSpPr/>
          <p:nvPr/>
        </p:nvGrpSpPr>
        <p:grpSpPr>
          <a:xfrm>
            <a:off x="3276600" y="1219200"/>
            <a:ext cx="2590800" cy="1638300"/>
            <a:chOff x="0" y="0"/>
            <a:chExt cx="2590800" cy="1638300"/>
          </a:xfrm>
        </p:grpSpPr>
        <p:sp>
          <p:nvSpPr>
            <p:cNvPr id="1256" name="Google Shape;1256;p32"/>
            <p:cNvSpPr/>
            <p:nvPr/>
          </p:nvSpPr>
          <p:spPr>
            <a:xfrm>
              <a:off x="0" y="0"/>
              <a:ext cx="2590800" cy="1638300"/>
            </a:xfrm>
            <a:prstGeom prst="roundRect">
              <a:avLst>
                <a:gd name="adj" fmla="val 3488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2"/>
            <p:cNvSpPr/>
            <p:nvPr/>
          </p:nvSpPr>
          <p:spPr>
            <a:xfrm>
              <a:off x="0" y="0"/>
              <a:ext cx="2590800" cy="247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7692"/>
                  </a:moveTo>
                  <a:cubicBezTo>
                    <a:pt x="0" y="12397"/>
                    <a:pt x="1185" y="0"/>
                    <a:pt x="2647" y="0"/>
                  </a:cubicBezTo>
                  <a:lnTo>
                    <a:pt x="117353" y="0"/>
                  </a:lnTo>
                  <a:cubicBezTo>
                    <a:pt x="118815" y="0"/>
                    <a:pt x="120000" y="12397"/>
                    <a:pt x="120000" y="2769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2"/>
            <p:cNvSpPr txBox="1"/>
            <p:nvPr/>
          </p:nvSpPr>
          <p:spPr>
            <a:xfrm>
              <a:off x="114300" y="0"/>
              <a:ext cx="23622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2. T-Test Output (Satisfaction Scores)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59" name="Google Shape;1259;p32"/>
            <p:cNvSpPr txBox="1"/>
            <p:nvPr/>
          </p:nvSpPr>
          <p:spPr>
            <a:xfrm>
              <a:off x="114300" y="304800"/>
              <a:ext cx="2362200" cy="125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Statistically Significant Difference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475569"/>
                  </a:solidFill>
                  <a:latin typeface="Work Sans"/>
                  <a:ea typeface="Work Sans"/>
                  <a:cs typeface="Work Sans"/>
                  <a:sym typeface="Work Sans"/>
                </a:rPr>
                <a:t>Confirmed significant variance in satisfaction scores between likely and unlikely renewers.</a:t>
              </a:r>
              <a:endParaRPr sz="650" b="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• t-Statistic: 3.03 (Overall Sat.)</a:t>
              </a:r>
              <a:r>
                <a:rPr lang="en" sz="650">
                  <a:solidFill>
                    <a:srgbClr val="334155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/>
              </a:r>
              <a:endParaRPr sz="650">
                <a:solidFill>
                  <a:srgbClr val="334155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• p-Value: 0.008 (p &lt; 0.05 threshold)</a:t>
              </a:r>
              <a:r>
                <a:rPr lang="en" sz="650">
                  <a:solidFill>
                    <a:srgbClr val="334155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/>
              </a:r>
              <a:endParaRPr sz="650">
                <a:solidFill>
                  <a:srgbClr val="334155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• Degrees of Freedom (df): 48</a:t>
              </a:r>
              <a:r>
                <a:rPr lang="en" sz="650">
                  <a:solidFill>
                    <a:srgbClr val="334155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/>
              </a:r>
              <a:endParaRPr sz="650">
                <a:solidFill>
                  <a:srgbClr val="334155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A60042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• Conclusion:</a:t>
              </a:r>
              <a:r>
                <a:rPr lang="en" sz="650">
                  <a:solidFill>
                    <a:srgbClr val="334155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 Reject Null Hypothesis (H0)</a:t>
              </a:r>
              <a:endParaRPr sz="650">
                <a:solidFill>
                  <a:srgbClr val="334155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260" name="Google Shape;1260;p32"/>
          <p:cNvGrpSpPr/>
          <p:nvPr/>
        </p:nvGrpSpPr>
        <p:grpSpPr>
          <a:xfrm>
            <a:off x="6038850" y="1219200"/>
            <a:ext cx="2590800" cy="1638300"/>
            <a:chOff x="0" y="0"/>
            <a:chExt cx="2590800" cy="1638300"/>
          </a:xfrm>
        </p:grpSpPr>
        <p:sp>
          <p:nvSpPr>
            <p:cNvPr id="1261" name="Google Shape;1261;p32"/>
            <p:cNvSpPr/>
            <p:nvPr/>
          </p:nvSpPr>
          <p:spPr>
            <a:xfrm>
              <a:off x="0" y="0"/>
              <a:ext cx="2590800" cy="1638300"/>
            </a:xfrm>
            <a:prstGeom prst="roundRect">
              <a:avLst>
                <a:gd name="adj" fmla="val 3488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2"/>
            <p:cNvSpPr/>
            <p:nvPr/>
          </p:nvSpPr>
          <p:spPr>
            <a:xfrm>
              <a:off x="0" y="0"/>
              <a:ext cx="2590800" cy="247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7692"/>
                  </a:moveTo>
                  <a:cubicBezTo>
                    <a:pt x="0" y="12397"/>
                    <a:pt x="1185" y="0"/>
                    <a:pt x="2647" y="0"/>
                  </a:cubicBezTo>
                  <a:lnTo>
                    <a:pt x="117353" y="0"/>
                  </a:lnTo>
                  <a:cubicBezTo>
                    <a:pt x="118815" y="0"/>
                    <a:pt x="120000" y="12397"/>
                    <a:pt x="120000" y="2769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2"/>
            <p:cNvSpPr txBox="1"/>
            <p:nvPr/>
          </p:nvSpPr>
          <p:spPr>
            <a:xfrm>
              <a:off x="114300" y="0"/>
              <a:ext cx="23622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3. Chi-Square Results (Variables vs Renewal)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64" name="Google Shape;1264;p32"/>
            <p:cNvSpPr txBox="1"/>
            <p:nvPr/>
          </p:nvSpPr>
          <p:spPr>
            <a:xfrm>
              <a:off x="114300" y="304800"/>
              <a:ext cx="2362200" cy="125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Categorical Independence Testing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475569"/>
                  </a:solidFill>
                  <a:latin typeface="Work Sans"/>
                  <a:ea typeface="Work Sans"/>
                  <a:cs typeface="Work Sans"/>
                  <a:sym typeface="Work Sans"/>
                </a:rPr>
                <a:t>Validated strong relationship between operational variables and renewal intent groups.</a:t>
              </a:r>
              <a:endParaRPr sz="650" b="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• χ² Result: No categorical variable significant</a:t>
              </a:r>
              <a:r>
                <a:rPr lang="en" sz="650">
                  <a:solidFill>
                    <a:srgbClr val="334155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/>
              </a:r>
              <a:endParaRPr sz="650">
                <a:solidFill>
                  <a:srgbClr val="334155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• Best p-value: 0.147 (all &gt; 0.05)</a:t>
              </a:r>
              <a:r>
                <a:rPr lang="en" sz="650">
                  <a:solidFill>
                    <a:srgbClr val="334155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/>
              </a:r>
              <a:endParaRPr sz="650">
                <a:solidFill>
                  <a:srgbClr val="334155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• Finding: Renewal driven by satisfaction scores</a:t>
              </a:r>
              <a:r>
                <a:rPr lang="en" sz="650">
                  <a:solidFill>
                    <a:srgbClr val="334155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/>
              </a:r>
              <a:endParaRPr sz="650">
                <a:solidFill>
                  <a:srgbClr val="334155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A60042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• Key Driver: Equipment Satisfaction (t=2.83) &amp; Value (t=2.35)</a:t>
              </a:r>
              <a:r>
                <a:rPr lang="en" sz="650">
                  <a:solidFill>
                    <a:srgbClr val="334155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/>
              </a:r>
              <a:endParaRPr sz="650">
                <a:solidFill>
                  <a:srgbClr val="334155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265" name="Google Shape;1265;p32"/>
          <p:cNvGrpSpPr/>
          <p:nvPr/>
        </p:nvGrpSpPr>
        <p:grpSpPr>
          <a:xfrm>
            <a:off x="514350" y="3009900"/>
            <a:ext cx="2590800" cy="1638300"/>
            <a:chOff x="0" y="0"/>
            <a:chExt cx="2590800" cy="1638300"/>
          </a:xfrm>
        </p:grpSpPr>
        <p:sp>
          <p:nvSpPr>
            <p:cNvPr id="1266" name="Google Shape;1266;p32"/>
            <p:cNvSpPr/>
            <p:nvPr/>
          </p:nvSpPr>
          <p:spPr>
            <a:xfrm>
              <a:off x="0" y="0"/>
              <a:ext cx="2590800" cy="1638300"/>
            </a:xfrm>
            <a:prstGeom prst="roundRect">
              <a:avLst>
                <a:gd name="adj" fmla="val 3488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2"/>
            <p:cNvSpPr/>
            <p:nvPr/>
          </p:nvSpPr>
          <p:spPr>
            <a:xfrm>
              <a:off x="0" y="0"/>
              <a:ext cx="2590800" cy="247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7692"/>
                  </a:moveTo>
                  <a:cubicBezTo>
                    <a:pt x="0" y="12397"/>
                    <a:pt x="1185" y="0"/>
                    <a:pt x="2647" y="0"/>
                  </a:cubicBezTo>
                  <a:lnTo>
                    <a:pt x="117353" y="0"/>
                  </a:lnTo>
                  <a:cubicBezTo>
                    <a:pt x="118815" y="0"/>
                    <a:pt x="120000" y="12397"/>
                    <a:pt x="120000" y="2769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2"/>
            <p:cNvSpPr txBox="1"/>
            <p:nvPr/>
          </p:nvSpPr>
          <p:spPr>
            <a:xfrm>
              <a:off x="114300" y="0"/>
              <a:ext cx="23622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4. Renewal Intent Correlations (r)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269" name="Google Shape;1269;p32"/>
            <p:cNvGrpSpPr/>
            <p:nvPr/>
          </p:nvGrpSpPr>
          <p:grpSpPr>
            <a:xfrm>
              <a:off x="114300" y="323850"/>
              <a:ext cx="2429025" cy="1086000"/>
              <a:chOff x="0" y="-38100"/>
              <a:chExt cx="2429025" cy="1086000"/>
            </a:xfrm>
          </p:grpSpPr>
          <p:sp>
            <p:nvSpPr>
              <p:cNvPr id="1270" name="Google Shape;1270;p32"/>
              <p:cNvSpPr txBox="1"/>
              <p:nvPr/>
            </p:nvSpPr>
            <p:spPr>
              <a:xfrm>
                <a:off x="0" y="0"/>
                <a:ext cx="10002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0">
                    <a:solidFill>
                      <a:srgbClr val="334155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Equipment Availability</a:t>
                </a:r>
                <a:endParaRPr sz="600" b="0">
                  <a:solidFill>
                    <a:srgbClr val="334155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1271" name="Google Shape;1271;p32"/>
              <p:cNvSpPr/>
              <p:nvPr/>
            </p:nvSpPr>
            <p:spPr>
              <a:xfrm>
                <a:off x="1000125" y="9525"/>
                <a:ext cx="1095300" cy="114300"/>
              </a:xfrm>
              <a:prstGeom prst="roundRect">
                <a:avLst>
                  <a:gd name="adj" fmla="val 16666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32"/>
              <p:cNvSpPr txBox="1"/>
              <p:nvPr/>
            </p:nvSpPr>
            <p:spPr>
              <a:xfrm>
                <a:off x="2143125" y="0"/>
                <a:ext cx="2859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+0.78</a:t>
                </a:r>
                <a:endParaRPr sz="6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73" name="Google Shape;1273;p32"/>
              <p:cNvSpPr txBox="1"/>
              <p:nvPr/>
            </p:nvSpPr>
            <p:spPr>
              <a:xfrm>
                <a:off x="0" y="285750"/>
                <a:ext cx="10002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0">
                    <a:solidFill>
                      <a:srgbClr val="334155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Perceived Value</a:t>
                </a:r>
                <a:endParaRPr sz="600" b="0">
                  <a:solidFill>
                    <a:srgbClr val="334155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1274" name="Google Shape;1274;p32"/>
              <p:cNvSpPr/>
              <p:nvPr/>
            </p:nvSpPr>
            <p:spPr>
              <a:xfrm>
                <a:off x="1000125" y="295275"/>
                <a:ext cx="981000" cy="114300"/>
              </a:xfrm>
              <a:prstGeom prst="roundRect">
                <a:avLst>
                  <a:gd name="adj" fmla="val 16666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32"/>
              <p:cNvSpPr txBox="1"/>
              <p:nvPr/>
            </p:nvSpPr>
            <p:spPr>
              <a:xfrm>
                <a:off x="2028825" y="285750"/>
                <a:ext cx="2859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+0.70</a:t>
                </a:r>
                <a:endParaRPr sz="6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76" name="Google Shape;1276;p32"/>
              <p:cNvSpPr txBox="1"/>
              <p:nvPr/>
            </p:nvSpPr>
            <p:spPr>
              <a:xfrm>
                <a:off x="0" y="571500"/>
                <a:ext cx="10002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0">
                    <a:solidFill>
                      <a:srgbClr val="334155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Staff Interaction</a:t>
                </a:r>
                <a:endParaRPr sz="600" b="0">
                  <a:solidFill>
                    <a:srgbClr val="334155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1277" name="Google Shape;1277;p32"/>
              <p:cNvSpPr/>
              <p:nvPr/>
            </p:nvSpPr>
            <p:spPr>
              <a:xfrm>
                <a:off x="1000125" y="581025"/>
                <a:ext cx="723900" cy="1143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32"/>
              <p:cNvSpPr txBox="1"/>
              <p:nvPr/>
            </p:nvSpPr>
            <p:spPr>
              <a:xfrm>
                <a:off x="1771650" y="571500"/>
                <a:ext cx="2859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+0.52</a:t>
                </a:r>
                <a:endParaRPr sz="6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279" name="Google Shape;1279;p32"/>
              <p:cNvSpPr txBox="1"/>
              <p:nvPr/>
            </p:nvSpPr>
            <p:spPr>
              <a:xfrm>
                <a:off x="0" y="857250"/>
                <a:ext cx="10002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0">
                    <a:solidFill>
                      <a:srgbClr val="334155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Facility Cleanliness</a:t>
                </a:r>
                <a:endParaRPr sz="600" b="0">
                  <a:solidFill>
                    <a:srgbClr val="334155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1280" name="Google Shape;1280;p32"/>
              <p:cNvSpPr/>
              <p:nvPr/>
            </p:nvSpPr>
            <p:spPr>
              <a:xfrm>
                <a:off x="1000125" y="866775"/>
                <a:ext cx="628800" cy="114300"/>
              </a:xfrm>
              <a:prstGeom prst="roundRect">
                <a:avLst>
                  <a:gd name="adj" fmla="val 16666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32"/>
              <p:cNvSpPr txBox="1"/>
              <p:nvPr/>
            </p:nvSpPr>
            <p:spPr>
              <a:xfrm>
                <a:off x="1676400" y="857250"/>
                <a:ext cx="2859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+0.45</a:t>
                </a:r>
                <a:endParaRPr sz="6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pic>
            <p:nvPicPr>
              <p:cNvPr id="1282" name="Google Shape;1282;p32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995363" y="-38100"/>
                <a:ext cx="9600" cy="1086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283" name="Google Shape;1283;p32"/>
          <p:cNvGrpSpPr/>
          <p:nvPr/>
        </p:nvGrpSpPr>
        <p:grpSpPr>
          <a:xfrm>
            <a:off x="3276600" y="3009900"/>
            <a:ext cx="2590800" cy="1638300"/>
            <a:chOff x="0" y="0"/>
            <a:chExt cx="2590800" cy="1638300"/>
          </a:xfrm>
        </p:grpSpPr>
        <p:sp>
          <p:nvSpPr>
            <p:cNvPr id="1284" name="Google Shape;1284;p32"/>
            <p:cNvSpPr/>
            <p:nvPr/>
          </p:nvSpPr>
          <p:spPr>
            <a:xfrm>
              <a:off x="0" y="0"/>
              <a:ext cx="2590800" cy="1638300"/>
            </a:xfrm>
            <a:prstGeom prst="roundRect">
              <a:avLst>
                <a:gd name="adj" fmla="val 3488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2"/>
            <p:cNvSpPr/>
            <p:nvPr/>
          </p:nvSpPr>
          <p:spPr>
            <a:xfrm>
              <a:off x="0" y="0"/>
              <a:ext cx="2590800" cy="247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7692"/>
                  </a:moveTo>
                  <a:cubicBezTo>
                    <a:pt x="0" y="12397"/>
                    <a:pt x="1185" y="0"/>
                    <a:pt x="2647" y="0"/>
                  </a:cubicBezTo>
                  <a:lnTo>
                    <a:pt x="117353" y="0"/>
                  </a:lnTo>
                  <a:cubicBezTo>
                    <a:pt x="118815" y="0"/>
                    <a:pt x="120000" y="12397"/>
                    <a:pt x="120000" y="2769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2"/>
            <p:cNvSpPr txBox="1"/>
            <p:nvPr/>
          </p:nvSpPr>
          <p:spPr>
            <a:xfrm>
              <a:off x="114300" y="0"/>
              <a:ext cx="23622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5. Key Operational Drivers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87" name="Google Shape;1287;p32"/>
            <p:cNvSpPr txBox="1"/>
            <p:nvPr/>
          </p:nvSpPr>
          <p:spPr>
            <a:xfrm>
              <a:off x="114300" y="304800"/>
              <a:ext cx="2362200" cy="125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Equipment Availability &amp; Value Perception</a:t>
              </a:r>
              <a:endParaRPr sz="7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650" b="0">
                  <a:solidFill>
                    <a:srgbClr val="475569"/>
                  </a:solidFill>
                  <a:latin typeface="Work Sans"/>
                  <a:ea typeface="Work Sans"/>
                  <a:cs typeface="Work Sans"/>
                  <a:sym typeface="Work Sans"/>
                </a:rPr>
                <a:t>Statistical regression isolated two critical operational levers driving 68% of renewal decision variance:</a:t>
              </a:r>
              <a:endParaRPr sz="650" b="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1. Equipment Peak Access:</a:t>
              </a:r>
              <a:r>
                <a:rPr lang="en" sz="650">
                  <a:solidFill>
                    <a:srgbClr val="334155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 Direct contributor to immediate member frustration.</a:t>
              </a:r>
              <a:endParaRPr sz="650">
                <a:solidFill>
                  <a:srgbClr val="334155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 b="1">
                  <a:solidFill>
                    <a:srgbClr val="0E1C5D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2. Price-to-Quality Ratio:</a:t>
              </a:r>
              <a:r>
                <a:rPr lang="en" sz="650">
                  <a:solidFill>
                    <a:srgbClr val="334155"/>
                  </a:solidFill>
                  <a:highlight>
                    <a:srgbClr val="FFFFFF"/>
                  </a:highlight>
                  <a:latin typeface="Work Sans"/>
                  <a:ea typeface="Work Sans"/>
                  <a:cs typeface="Work Sans"/>
                  <a:sym typeface="Work Sans"/>
                </a:rPr>
                <a:t> Strongest predictor of long-term retention.</a:t>
              </a:r>
              <a:endParaRPr sz="650">
                <a:solidFill>
                  <a:srgbClr val="334155"/>
                </a:solidFill>
                <a:highlight>
                  <a:srgbClr val="FFFFFF"/>
                </a:highlight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288" name="Google Shape;1288;p32"/>
          <p:cNvGrpSpPr/>
          <p:nvPr/>
        </p:nvGrpSpPr>
        <p:grpSpPr>
          <a:xfrm>
            <a:off x="6038850" y="3009900"/>
            <a:ext cx="2590800" cy="1638300"/>
            <a:chOff x="0" y="0"/>
            <a:chExt cx="2590800" cy="1638300"/>
          </a:xfrm>
        </p:grpSpPr>
        <p:sp>
          <p:nvSpPr>
            <p:cNvPr id="1289" name="Google Shape;1289;p32"/>
            <p:cNvSpPr/>
            <p:nvPr/>
          </p:nvSpPr>
          <p:spPr>
            <a:xfrm>
              <a:off x="0" y="0"/>
              <a:ext cx="2590800" cy="1638300"/>
            </a:xfrm>
            <a:prstGeom prst="roundRect">
              <a:avLst>
                <a:gd name="adj" fmla="val 3488"/>
              </a:avLst>
            </a:prstGeom>
            <a:solidFill>
              <a:srgbClr val="0E1C5D"/>
            </a:solidFill>
            <a:ln w="9525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2"/>
            <p:cNvSpPr/>
            <p:nvPr/>
          </p:nvSpPr>
          <p:spPr>
            <a:xfrm>
              <a:off x="0" y="0"/>
              <a:ext cx="2590800" cy="247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7692"/>
                  </a:moveTo>
                  <a:cubicBezTo>
                    <a:pt x="0" y="12397"/>
                    <a:pt x="1185" y="0"/>
                    <a:pt x="2647" y="0"/>
                  </a:cubicBezTo>
                  <a:lnTo>
                    <a:pt x="117353" y="0"/>
                  </a:lnTo>
                  <a:cubicBezTo>
                    <a:pt x="118815" y="0"/>
                    <a:pt x="120000" y="12397"/>
                    <a:pt x="120000" y="2769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2"/>
            <p:cNvSpPr txBox="1"/>
            <p:nvPr/>
          </p:nvSpPr>
          <p:spPr>
            <a:xfrm>
              <a:off x="114300" y="0"/>
              <a:ext cx="23622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6. Synthesis &amp; Renewal Translation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292" name="Google Shape;1292;p32"/>
            <p:cNvSpPr txBox="1"/>
            <p:nvPr/>
          </p:nvSpPr>
          <p:spPr>
            <a:xfrm>
              <a:off x="114300" y="304800"/>
              <a:ext cx="2362200" cy="125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B3C6"/>
                  </a:solidFill>
                  <a:latin typeface="Work Sans"/>
                  <a:ea typeface="Work Sans"/>
                  <a:cs typeface="Work Sans"/>
                  <a:sym typeface="Work Sans"/>
                </a:rPr>
                <a:t>Actionable Outcome:</a:t>
              </a:r>
              <a:endParaRPr sz="800" b="1">
                <a:solidFill>
                  <a:srgbClr val="FFB3C6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700" b="0">
                  <a:solidFill>
                    <a:srgbClr val="F4F5F9"/>
                  </a:solidFill>
                  <a:latin typeface="Work Sans"/>
                  <a:ea typeface="Work Sans"/>
                  <a:cs typeface="Work Sans"/>
                  <a:sym typeface="Work Sans"/>
                </a:rPr>
                <a:t>These integrated findings prove that operational improvements in equipment availability and value perception will directly translate to higher renewal intent.</a:t>
              </a:r>
              <a:endParaRPr sz="700" b="0">
                <a:solidFill>
                  <a:srgbClr val="F4F5F9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solidFill>
                    <a:srgbClr val="FFB3C6"/>
                  </a:solidFill>
                  <a:latin typeface="Work Sans"/>
                  <a:ea typeface="Work Sans"/>
                  <a:cs typeface="Work Sans"/>
                  <a:sym typeface="Work Sans"/>
                </a:rPr>
                <a:t>Targeted Focus: Operational DMAIC Improvements</a:t>
              </a:r>
              <a:endParaRPr sz="700" b="1">
                <a:solidFill>
                  <a:srgbClr val="FFB3C6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8" name="Google Shape;1298;p33"/>
          <p:cNvGrpSpPr/>
          <p:nvPr/>
        </p:nvGrpSpPr>
        <p:grpSpPr>
          <a:xfrm>
            <a:off x="514350" y="266700"/>
            <a:ext cx="8115300" cy="705000"/>
            <a:chOff x="0" y="0"/>
            <a:chExt cx="8115300" cy="705000"/>
          </a:xfrm>
        </p:grpSpPr>
        <p:sp>
          <p:nvSpPr>
            <p:cNvPr id="1299" name="Google Shape;1299;p33"/>
            <p:cNvSpPr txBox="1"/>
            <p:nvPr/>
          </p:nvSpPr>
          <p:spPr>
            <a:xfrm>
              <a:off x="0" y="0"/>
              <a:ext cx="8115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IMPROVE PHASE — FMEA RISK PRIORITIZATION</a:t>
              </a:r>
              <a:endParaRPr sz="90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00" name="Google Shape;1300;p33"/>
            <p:cNvSpPr txBox="1"/>
            <p:nvPr/>
          </p:nvSpPr>
          <p:spPr>
            <a:xfrm>
              <a:off x="0" y="171450"/>
              <a:ext cx="811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 b="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FAILURE MODE &amp; EFFECTS ANALYSIS (CRITICAL RISKS)</a:t>
              </a:r>
              <a:endParaRPr sz="210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301" name="Google Shape;1301;p33"/>
            <p:cNvSpPr txBox="1"/>
            <p:nvPr/>
          </p:nvSpPr>
          <p:spPr>
            <a:xfrm>
              <a:off x="0" y="495300"/>
              <a:ext cx="81153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86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rPr>
                <a:t>Formula:</a:t>
              </a:r>
              <a:r>
                <a:rPr lang="en" sz="786">
                  <a:solidFill>
                    <a:srgbClr val="475569"/>
                  </a:solidFill>
                  <a:latin typeface="Work Sans"/>
                  <a:ea typeface="Work Sans"/>
                  <a:cs typeface="Work Sans"/>
                  <a:sym typeface="Work Sans"/>
                </a:rPr>
                <a:t> RPN = Severity × Occurrence × Detection  |  </a:t>
              </a:r>
              <a:r>
                <a:rPr lang="en" sz="786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Threshold: RPN &gt; 200</a:t>
              </a:r>
              <a:r>
                <a:rPr lang="en" sz="786">
                  <a:solidFill>
                    <a:srgbClr val="475569"/>
                  </a:solidFill>
                  <a:latin typeface="Work Sans"/>
                  <a:ea typeface="Work Sans"/>
                  <a:cs typeface="Work Sans"/>
                  <a:sym typeface="Work Sans"/>
                </a:rPr>
                <a:t> (7 Failure Modes Identified, Led by Absence of Automated Renewal Reminders)</a:t>
              </a:r>
              <a:endParaRPr sz="786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302" name="Google Shape;1302;p33"/>
          <p:cNvGrpSpPr/>
          <p:nvPr/>
        </p:nvGrpSpPr>
        <p:grpSpPr>
          <a:xfrm>
            <a:off x="514350" y="1066800"/>
            <a:ext cx="3943200" cy="3029100"/>
            <a:chOff x="0" y="0"/>
            <a:chExt cx="3943200" cy="3029100"/>
          </a:xfrm>
        </p:grpSpPr>
        <p:sp>
          <p:nvSpPr>
            <p:cNvPr id="1303" name="Google Shape;1303;p33"/>
            <p:cNvSpPr/>
            <p:nvPr/>
          </p:nvSpPr>
          <p:spPr>
            <a:xfrm>
              <a:off x="0" y="0"/>
              <a:ext cx="3943200" cy="3029100"/>
            </a:xfrm>
            <a:prstGeom prst="roundRect">
              <a:avLst>
                <a:gd name="adj" fmla="val 1886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3"/>
            <p:cNvSpPr/>
            <p:nvPr/>
          </p:nvSpPr>
          <p:spPr>
            <a:xfrm>
              <a:off x="0" y="0"/>
              <a:ext cx="3943200" cy="266700"/>
            </a:xfrm>
            <a:prstGeom prst="roundRect">
              <a:avLst>
                <a:gd name="adj" fmla="val 21428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3"/>
            <p:cNvSpPr/>
            <p:nvPr/>
          </p:nvSpPr>
          <p:spPr>
            <a:xfrm>
              <a:off x="0" y="209550"/>
              <a:ext cx="3943200" cy="573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3"/>
            <p:cNvSpPr txBox="1"/>
            <p:nvPr/>
          </p:nvSpPr>
          <p:spPr>
            <a:xfrm>
              <a:off x="133350" y="0"/>
              <a:ext cx="36768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FAILURE MODES RANKED BY RPN SCORE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pic>
          <p:nvPicPr>
            <p:cNvPr id="1307" name="Google Shape;1307;p3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419350" y="342900"/>
              <a:ext cx="19200" cy="254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8" name="Google Shape;1308;p33"/>
            <p:cNvSpPr txBox="1"/>
            <p:nvPr/>
          </p:nvSpPr>
          <p:spPr>
            <a:xfrm>
              <a:off x="2000250" y="304800"/>
              <a:ext cx="8574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A60042"/>
                  </a:solidFill>
                  <a:highlight>
                    <a:srgbClr val="F8F9FA"/>
                  </a:highlight>
                  <a:latin typeface="Work Sans"/>
                  <a:ea typeface="Work Sans"/>
                  <a:cs typeface="Work Sans"/>
                  <a:sym typeface="Work Sans"/>
                </a:rPr>
                <a:t>THRESHOLD (200)</a:t>
              </a:r>
              <a:endParaRPr sz="600" b="1">
                <a:solidFill>
                  <a:srgbClr val="A60042"/>
                </a:solidFill>
                <a:highlight>
                  <a:srgbClr val="F8F9FA"/>
                </a:highlight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309" name="Google Shape;1309;p33"/>
            <p:cNvGrpSpPr/>
            <p:nvPr/>
          </p:nvGrpSpPr>
          <p:grpSpPr>
            <a:xfrm>
              <a:off x="114300" y="495300"/>
              <a:ext cx="3495600" cy="152400"/>
              <a:chOff x="0" y="0"/>
              <a:chExt cx="3495600" cy="152400"/>
            </a:xfrm>
          </p:grpSpPr>
          <p:sp>
            <p:nvSpPr>
              <p:cNvPr id="1310" name="Google Shape;1310;p33"/>
              <p:cNvSpPr txBox="1"/>
              <p:nvPr/>
            </p:nvSpPr>
            <p:spPr>
              <a:xfrm>
                <a:off x="0" y="0"/>
                <a:ext cx="1371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1. No renewal reminders sent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311" name="Google Shape;1311;p33"/>
              <p:cNvSpPr/>
              <p:nvPr/>
            </p:nvSpPr>
            <p:spPr>
              <a:xfrm>
                <a:off x="1409700" y="9525"/>
                <a:ext cx="1704900" cy="133500"/>
              </a:xfrm>
              <a:prstGeom prst="roundRect">
                <a:avLst>
                  <a:gd name="adj" fmla="val 14285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33"/>
              <p:cNvSpPr txBox="1"/>
              <p:nvPr/>
            </p:nvSpPr>
            <p:spPr>
              <a:xfrm>
                <a:off x="3162300" y="0"/>
                <a:ext cx="333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378</a:t>
                </a:r>
                <a:endParaRPr sz="8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313" name="Google Shape;1313;p33"/>
            <p:cNvGrpSpPr/>
            <p:nvPr/>
          </p:nvGrpSpPr>
          <p:grpSpPr>
            <a:xfrm>
              <a:off x="114300" y="838200"/>
              <a:ext cx="3305100" cy="152400"/>
              <a:chOff x="0" y="0"/>
              <a:chExt cx="3305100" cy="152400"/>
            </a:xfrm>
          </p:grpSpPr>
          <p:sp>
            <p:nvSpPr>
              <p:cNvPr id="1314" name="Google Shape;1314;p33"/>
              <p:cNvSpPr txBox="1"/>
              <p:nvPr/>
            </p:nvSpPr>
            <p:spPr>
              <a:xfrm>
                <a:off x="0" y="0"/>
                <a:ext cx="1371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94" b="0">
                    <a:solidFill>
                      <a:srgbClr val="1E293B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2. No progress tracking system</a:t>
                </a:r>
                <a:endParaRPr sz="694" b="0">
                  <a:solidFill>
                    <a:srgbClr val="1E293B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1315" name="Google Shape;1315;p33"/>
              <p:cNvSpPr/>
              <p:nvPr/>
            </p:nvSpPr>
            <p:spPr>
              <a:xfrm>
                <a:off x="1409700" y="9525"/>
                <a:ext cx="1514400" cy="133500"/>
              </a:xfrm>
              <a:prstGeom prst="roundRect">
                <a:avLst>
                  <a:gd name="adj" fmla="val 14285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33"/>
              <p:cNvSpPr txBox="1"/>
              <p:nvPr/>
            </p:nvSpPr>
            <p:spPr>
              <a:xfrm>
                <a:off x="2971800" y="0"/>
                <a:ext cx="333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336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317" name="Google Shape;1317;p33"/>
            <p:cNvGrpSpPr/>
            <p:nvPr/>
          </p:nvGrpSpPr>
          <p:grpSpPr>
            <a:xfrm>
              <a:off x="114300" y="1181100"/>
              <a:ext cx="3305100" cy="152400"/>
              <a:chOff x="0" y="0"/>
              <a:chExt cx="3305100" cy="152400"/>
            </a:xfrm>
          </p:grpSpPr>
          <p:sp>
            <p:nvSpPr>
              <p:cNvPr id="1318" name="Google Shape;1318;p33"/>
              <p:cNvSpPr txBox="1"/>
              <p:nvPr/>
            </p:nvSpPr>
            <p:spPr>
              <a:xfrm>
                <a:off x="0" y="0"/>
                <a:ext cx="1371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94" b="0">
                    <a:solidFill>
                      <a:srgbClr val="1E293B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3. No upsell/upgrade prompts</a:t>
                </a:r>
                <a:endParaRPr sz="694" b="0">
                  <a:solidFill>
                    <a:srgbClr val="1E293B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1319" name="Google Shape;1319;p33"/>
              <p:cNvSpPr/>
              <p:nvPr/>
            </p:nvSpPr>
            <p:spPr>
              <a:xfrm>
                <a:off x="1409700" y="9525"/>
                <a:ext cx="1514400" cy="133500"/>
              </a:xfrm>
              <a:prstGeom prst="roundRect">
                <a:avLst>
                  <a:gd name="adj" fmla="val 14285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33"/>
              <p:cNvSpPr txBox="1"/>
              <p:nvPr/>
            </p:nvSpPr>
            <p:spPr>
              <a:xfrm>
                <a:off x="2971800" y="0"/>
                <a:ext cx="333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336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321" name="Google Shape;1321;p33"/>
            <p:cNvGrpSpPr/>
            <p:nvPr/>
          </p:nvGrpSpPr>
          <p:grpSpPr>
            <a:xfrm>
              <a:off x="114300" y="1524000"/>
              <a:ext cx="3238425" cy="152400"/>
              <a:chOff x="0" y="0"/>
              <a:chExt cx="3238425" cy="152400"/>
            </a:xfrm>
          </p:grpSpPr>
          <p:sp>
            <p:nvSpPr>
              <p:cNvPr id="1322" name="Google Shape;1322;p33"/>
              <p:cNvSpPr txBox="1"/>
              <p:nvPr/>
            </p:nvSpPr>
            <p:spPr>
              <a:xfrm>
                <a:off x="0" y="0"/>
                <a:ext cx="1371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94" b="0">
                    <a:solidFill>
                      <a:srgbClr val="1E293B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4. Only monthly plans chosen</a:t>
                </a:r>
                <a:endParaRPr sz="694" b="0">
                  <a:solidFill>
                    <a:srgbClr val="1E293B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1323" name="Google Shape;1323;p33"/>
              <p:cNvSpPr/>
              <p:nvPr/>
            </p:nvSpPr>
            <p:spPr>
              <a:xfrm>
                <a:off x="1409700" y="9525"/>
                <a:ext cx="1447800" cy="133500"/>
              </a:xfrm>
              <a:prstGeom prst="roundRect">
                <a:avLst>
                  <a:gd name="adj" fmla="val 14285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33"/>
              <p:cNvSpPr txBox="1"/>
              <p:nvPr/>
            </p:nvSpPr>
            <p:spPr>
              <a:xfrm>
                <a:off x="2905125" y="0"/>
                <a:ext cx="333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320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325" name="Google Shape;1325;p33"/>
            <p:cNvGrpSpPr/>
            <p:nvPr/>
          </p:nvGrpSpPr>
          <p:grpSpPr>
            <a:xfrm>
              <a:off x="114300" y="1866900"/>
              <a:ext cx="3086025" cy="152400"/>
              <a:chOff x="0" y="0"/>
              <a:chExt cx="3086025" cy="152400"/>
            </a:xfrm>
          </p:grpSpPr>
          <p:sp>
            <p:nvSpPr>
              <p:cNvPr id="1326" name="Google Shape;1326;p33"/>
              <p:cNvSpPr txBox="1"/>
              <p:nvPr/>
            </p:nvSpPr>
            <p:spPr>
              <a:xfrm>
                <a:off x="0" y="0"/>
                <a:ext cx="1371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94" b="0">
                    <a:solidFill>
                      <a:srgbClr val="1E293B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5. Peak machine unavailability</a:t>
                </a:r>
                <a:endParaRPr sz="694" b="0">
                  <a:solidFill>
                    <a:srgbClr val="1E293B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1327" name="Google Shape;1327;p33"/>
              <p:cNvSpPr/>
              <p:nvPr/>
            </p:nvSpPr>
            <p:spPr>
              <a:xfrm>
                <a:off x="1409700" y="9525"/>
                <a:ext cx="1295400" cy="133500"/>
              </a:xfrm>
              <a:prstGeom prst="roundRect">
                <a:avLst>
                  <a:gd name="adj" fmla="val 14285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33"/>
              <p:cNvSpPr txBox="1"/>
              <p:nvPr/>
            </p:nvSpPr>
            <p:spPr>
              <a:xfrm>
                <a:off x="2752725" y="0"/>
                <a:ext cx="333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288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329" name="Google Shape;1329;p33"/>
            <p:cNvGrpSpPr/>
            <p:nvPr/>
          </p:nvGrpSpPr>
          <p:grpSpPr>
            <a:xfrm>
              <a:off x="114300" y="2209800"/>
              <a:ext cx="2876475" cy="152400"/>
              <a:chOff x="0" y="0"/>
              <a:chExt cx="2876475" cy="152400"/>
            </a:xfrm>
          </p:grpSpPr>
          <p:sp>
            <p:nvSpPr>
              <p:cNvPr id="1330" name="Google Shape;1330;p33"/>
              <p:cNvSpPr txBox="1"/>
              <p:nvPr/>
            </p:nvSpPr>
            <p:spPr>
              <a:xfrm>
                <a:off x="0" y="0"/>
                <a:ext cx="1371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1E293B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6. No orientation/onboarding</a:t>
                </a:r>
                <a:endParaRPr sz="750" b="0">
                  <a:solidFill>
                    <a:srgbClr val="1E293B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1331" name="Google Shape;1331;p33"/>
              <p:cNvSpPr/>
              <p:nvPr/>
            </p:nvSpPr>
            <p:spPr>
              <a:xfrm>
                <a:off x="1409700" y="9525"/>
                <a:ext cx="1086000" cy="133500"/>
              </a:xfrm>
              <a:prstGeom prst="roundRect">
                <a:avLst>
                  <a:gd name="adj" fmla="val 14285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33"/>
              <p:cNvSpPr txBox="1"/>
              <p:nvPr/>
            </p:nvSpPr>
            <p:spPr>
              <a:xfrm>
                <a:off x="2543175" y="0"/>
                <a:ext cx="333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240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333" name="Google Shape;1333;p33"/>
            <p:cNvGrpSpPr/>
            <p:nvPr/>
          </p:nvGrpSpPr>
          <p:grpSpPr>
            <a:xfrm>
              <a:off x="114300" y="2552700"/>
              <a:ext cx="2743125" cy="152400"/>
              <a:chOff x="0" y="0"/>
              <a:chExt cx="2743125" cy="152400"/>
            </a:xfrm>
          </p:grpSpPr>
          <p:sp>
            <p:nvSpPr>
              <p:cNvPr id="1334" name="Google Shape;1334;p33"/>
              <p:cNvSpPr txBox="1"/>
              <p:nvPr/>
            </p:nvSpPr>
            <p:spPr>
              <a:xfrm>
                <a:off x="0" y="0"/>
                <a:ext cx="13716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1E293B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7. Trainer ignores non-PT</a:t>
                </a:r>
                <a:endParaRPr sz="750" b="0">
                  <a:solidFill>
                    <a:srgbClr val="1E293B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</p:txBody>
          </p:sp>
          <p:sp>
            <p:nvSpPr>
              <p:cNvPr id="1335" name="Google Shape;1335;p33"/>
              <p:cNvSpPr/>
              <p:nvPr/>
            </p:nvSpPr>
            <p:spPr>
              <a:xfrm>
                <a:off x="1409700" y="9525"/>
                <a:ext cx="952500" cy="133500"/>
              </a:xfrm>
              <a:prstGeom prst="roundRect">
                <a:avLst>
                  <a:gd name="adj" fmla="val 14285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33"/>
              <p:cNvSpPr txBox="1"/>
              <p:nvPr/>
            </p:nvSpPr>
            <p:spPr>
              <a:xfrm>
                <a:off x="2409825" y="0"/>
                <a:ext cx="333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210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1337" name="Google Shape;1337;p33"/>
          <p:cNvGrpSpPr/>
          <p:nvPr/>
        </p:nvGrpSpPr>
        <p:grpSpPr>
          <a:xfrm>
            <a:off x="4686300" y="1066800"/>
            <a:ext cx="3943200" cy="3029100"/>
            <a:chOff x="0" y="0"/>
            <a:chExt cx="3943200" cy="3029100"/>
          </a:xfrm>
        </p:grpSpPr>
        <p:sp>
          <p:nvSpPr>
            <p:cNvPr id="1338" name="Google Shape;1338;p33"/>
            <p:cNvSpPr/>
            <p:nvPr/>
          </p:nvSpPr>
          <p:spPr>
            <a:xfrm>
              <a:off x="0" y="0"/>
              <a:ext cx="3943200" cy="3029100"/>
            </a:xfrm>
            <a:prstGeom prst="roundRect">
              <a:avLst>
                <a:gd name="adj" fmla="val 1886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3"/>
            <p:cNvSpPr/>
            <p:nvPr/>
          </p:nvSpPr>
          <p:spPr>
            <a:xfrm>
              <a:off x="0" y="0"/>
              <a:ext cx="3943200" cy="266700"/>
            </a:xfrm>
            <a:prstGeom prst="roundRect">
              <a:avLst>
                <a:gd name="adj" fmla="val 21428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3"/>
            <p:cNvSpPr/>
            <p:nvPr/>
          </p:nvSpPr>
          <p:spPr>
            <a:xfrm>
              <a:off x="0" y="209550"/>
              <a:ext cx="3943200" cy="57300"/>
            </a:xfrm>
            <a:prstGeom prst="rect">
              <a:avLst/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3"/>
            <p:cNvSpPr txBox="1"/>
            <p:nvPr/>
          </p:nvSpPr>
          <p:spPr>
            <a:xfrm>
              <a:off x="133350" y="0"/>
              <a:ext cx="36768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SEVERITY VS OCCURRENCE RISK MATRIX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342" name="Google Shape;1342;p33"/>
            <p:cNvGrpSpPr/>
            <p:nvPr/>
          </p:nvGrpSpPr>
          <p:grpSpPr>
            <a:xfrm>
              <a:off x="152400" y="419100"/>
              <a:ext cx="3457500" cy="2400300"/>
              <a:chOff x="-304800" y="38100"/>
              <a:chExt cx="3457500" cy="2400300"/>
            </a:xfrm>
          </p:grpSpPr>
          <p:sp>
            <p:nvSpPr>
              <p:cNvPr id="1343" name="Google Shape;1343;p33"/>
              <p:cNvSpPr/>
              <p:nvPr/>
            </p:nvSpPr>
            <p:spPr>
              <a:xfrm>
                <a:off x="0" y="1143000"/>
                <a:ext cx="1571700" cy="1095300"/>
              </a:xfrm>
              <a:prstGeom prst="rect">
                <a:avLst/>
              </a:prstGeom>
              <a:solidFill>
                <a:srgbClr val="F1F5F9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3"/>
              <p:cNvSpPr/>
              <p:nvPr/>
            </p:nvSpPr>
            <p:spPr>
              <a:xfrm>
                <a:off x="0" y="47625"/>
                <a:ext cx="1571700" cy="1095300"/>
              </a:xfrm>
              <a:prstGeom prst="rect">
                <a:avLst/>
              </a:prstGeom>
              <a:solidFill>
                <a:srgbClr val="E2E8F0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3"/>
              <p:cNvSpPr/>
              <p:nvPr/>
            </p:nvSpPr>
            <p:spPr>
              <a:xfrm>
                <a:off x="1571625" y="1143000"/>
                <a:ext cx="1571700" cy="1095300"/>
              </a:xfrm>
              <a:prstGeom prst="rect">
                <a:avLst/>
              </a:prstGeom>
              <a:solidFill>
                <a:srgbClr val="E2E8F0"/>
              </a:solidFill>
              <a:ln w="1905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346" name="Google Shape;1346;p33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562100" y="38100"/>
                <a:ext cx="1590600" cy="1114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47" name="Google Shape;1347;p33"/>
              <p:cNvSpPr/>
              <p:nvPr/>
            </p:nvSpPr>
            <p:spPr>
              <a:xfrm>
                <a:off x="1666875" y="114300"/>
                <a:ext cx="1381200" cy="152400"/>
              </a:xfrm>
              <a:prstGeom prst="roundRect">
                <a:avLst>
                  <a:gd name="adj" fmla="val 1875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33"/>
              <p:cNvSpPr txBox="1"/>
              <p:nvPr/>
            </p:nvSpPr>
            <p:spPr>
              <a:xfrm>
                <a:off x="1666875" y="114300"/>
                <a:ext cx="13812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CRITICAL ZONE (RPN &gt; 200)</a:t>
                </a:r>
                <a:endParaRPr sz="6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1349" name="Google Shape;1349;p33"/>
              <p:cNvCxnSpPr/>
              <p:nvPr/>
            </p:nvCxnSpPr>
            <p:spPr>
              <a:xfrm>
                <a:off x="0" y="2238375"/>
                <a:ext cx="3143400" cy="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50" name="Google Shape;1350;p33"/>
              <p:cNvCxnSpPr/>
              <p:nvPr/>
            </p:nvCxnSpPr>
            <p:spPr>
              <a:xfrm>
                <a:off x="0" y="47625"/>
                <a:ext cx="0" cy="2190900"/>
              </a:xfrm>
              <a:prstGeom prst="straightConnector1">
                <a:avLst/>
              </a:prstGeom>
              <a:solidFill>
                <a:srgbClr val="FFFFFF"/>
              </a:solidFill>
              <a:ln w="1905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351" name="Google Shape;1351;p33"/>
              <p:cNvSpPr txBox="1"/>
              <p:nvPr/>
            </p:nvSpPr>
            <p:spPr>
              <a:xfrm>
                <a:off x="762000" y="2286000"/>
                <a:ext cx="1619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OCCURRENCE →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352" name="Google Shape;1352;p33"/>
              <p:cNvSpPr txBox="1"/>
              <p:nvPr/>
            </p:nvSpPr>
            <p:spPr>
              <a:xfrm rot="-5400000">
                <a:off x="-800100" y="876300"/>
                <a:ext cx="11430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SEVERITY →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grpSp>
            <p:nvGrpSpPr>
              <p:cNvPr id="1353" name="Google Shape;1353;p33"/>
              <p:cNvGrpSpPr/>
              <p:nvPr/>
            </p:nvGrpSpPr>
            <p:grpSpPr>
              <a:xfrm>
                <a:off x="1905000" y="323850"/>
                <a:ext cx="1143000" cy="228600"/>
                <a:chOff x="0" y="0"/>
                <a:chExt cx="1143000" cy="228600"/>
              </a:xfrm>
            </p:grpSpPr>
            <p:sp>
              <p:nvSpPr>
                <p:cNvPr id="1354" name="Google Shape;1354;p33"/>
                <p:cNvSpPr/>
                <p:nvPr/>
              </p:nvSpPr>
              <p:spPr>
                <a:xfrm>
                  <a:off x="0" y="0"/>
                  <a:ext cx="1143000" cy="228600"/>
                </a:xfrm>
                <a:prstGeom prst="roundRect">
                  <a:avLst>
                    <a:gd name="adj" fmla="val 16666"/>
                  </a:avLst>
                </a:prstGeom>
                <a:solidFill>
                  <a:srgbClr val="FFFFFF"/>
                </a:solidFill>
                <a:ln w="14300" cap="flat" cmpd="sng">
                  <a:solidFill>
                    <a:srgbClr val="A6004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5" name="Google Shape;1355;p33"/>
                <p:cNvSpPr txBox="1"/>
                <p:nvPr/>
              </p:nvSpPr>
              <p:spPr>
                <a:xfrm>
                  <a:off x="0" y="0"/>
                  <a:ext cx="114300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650" b="1">
                      <a:solidFill>
                        <a:srgbClr val="A60042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LEAD RISK #1 (RPN 378)</a:t>
                  </a:r>
                  <a:endParaRPr sz="6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sp>
            <p:nvSpPr>
              <p:cNvPr id="1356" name="Google Shape;1356;p33"/>
              <p:cNvSpPr/>
              <p:nvPr/>
            </p:nvSpPr>
            <p:spPr>
              <a:xfrm>
                <a:off x="1800225" y="561975"/>
                <a:ext cx="209700" cy="2097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33"/>
              <p:cNvSpPr txBox="1"/>
              <p:nvPr/>
            </p:nvSpPr>
            <p:spPr>
              <a:xfrm>
                <a:off x="1800225" y="56197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#3</a:t>
                </a:r>
                <a:endParaRPr sz="7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358" name="Google Shape;1358;p33"/>
              <p:cNvSpPr/>
              <p:nvPr/>
            </p:nvSpPr>
            <p:spPr>
              <a:xfrm>
                <a:off x="2419350" y="561975"/>
                <a:ext cx="209700" cy="2097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33"/>
              <p:cNvSpPr txBox="1"/>
              <p:nvPr/>
            </p:nvSpPr>
            <p:spPr>
              <a:xfrm>
                <a:off x="2419350" y="56197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#2</a:t>
                </a:r>
                <a:endParaRPr sz="7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360" name="Google Shape;1360;p33"/>
              <p:cNvSpPr/>
              <p:nvPr/>
            </p:nvSpPr>
            <p:spPr>
              <a:xfrm>
                <a:off x="1800225" y="828675"/>
                <a:ext cx="209700" cy="2097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3"/>
              <p:cNvSpPr txBox="1"/>
              <p:nvPr/>
            </p:nvSpPr>
            <p:spPr>
              <a:xfrm>
                <a:off x="1800225" y="82867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#5</a:t>
                </a:r>
                <a:endParaRPr sz="7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362" name="Google Shape;1362;p33"/>
              <p:cNvSpPr/>
              <p:nvPr/>
            </p:nvSpPr>
            <p:spPr>
              <a:xfrm>
                <a:off x="2419350" y="828675"/>
                <a:ext cx="209700" cy="2097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3"/>
              <p:cNvSpPr txBox="1"/>
              <p:nvPr/>
            </p:nvSpPr>
            <p:spPr>
              <a:xfrm>
                <a:off x="2419350" y="82867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#4</a:t>
                </a:r>
                <a:endParaRPr sz="7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364" name="Google Shape;1364;p33"/>
              <p:cNvSpPr/>
              <p:nvPr/>
            </p:nvSpPr>
            <p:spPr>
              <a:xfrm>
                <a:off x="1323975" y="990600"/>
                <a:ext cx="209700" cy="2097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3"/>
              <p:cNvSpPr txBox="1"/>
              <p:nvPr/>
            </p:nvSpPr>
            <p:spPr>
              <a:xfrm>
                <a:off x="1323975" y="990600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#7</a:t>
                </a:r>
                <a:endParaRPr sz="7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366" name="Google Shape;1366;p33"/>
              <p:cNvSpPr/>
              <p:nvPr/>
            </p:nvSpPr>
            <p:spPr>
              <a:xfrm>
                <a:off x="2419350" y="1057275"/>
                <a:ext cx="209700" cy="2097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33"/>
              <p:cNvSpPr txBox="1"/>
              <p:nvPr/>
            </p:nvSpPr>
            <p:spPr>
              <a:xfrm>
                <a:off x="2419350" y="1057275"/>
                <a:ext cx="2097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#6</a:t>
                </a:r>
                <a:endParaRPr sz="7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1368" name="Google Shape;1368;p33"/>
          <p:cNvGrpSpPr/>
          <p:nvPr/>
        </p:nvGrpSpPr>
        <p:grpSpPr>
          <a:xfrm>
            <a:off x="514350" y="4210050"/>
            <a:ext cx="8115300" cy="514500"/>
            <a:chOff x="0" y="0"/>
            <a:chExt cx="8115300" cy="514500"/>
          </a:xfrm>
        </p:grpSpPr>
        <p:sp>
          <p:nvSpPr>
            <p:cNvPr id="1369" name="Google Shape;1369;p33"/>
            <p:cNvSpPr/>
            <p:nvPr/>
          </p:nvSpPr>
          <p:spPr>
            <a:xfrm>
              <a:off x="0" y="0"/>
              <a:ext cx="8115300" cy="514500"/>
            </a:xfrm>
            <a:prstGeom prst="roundRect">
              <a:avLst>
                <a:gd name="adj" fmla="val 11111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3"/>
            <p:cNvSpPr/>
            <p:nvPr/>
          </p:nvSpPr>
          <p:spPr>
            <a:xfrm>
              <a:off x="0" y="0"/>
              <a:ext cx="95400" cy="514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3333"/>
                  </a:moveTo>
                  <a:cubicBezTo>
                    <a:pt x="0" y="5956"/>
                    <a:pt x="32160" y="0"/>
                    <a:pt x="72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72000" y="120000"/>
                  </a:lnTo>
                  <a:cubicBezTo>
                    <a:pt x="32160" y="120000"/>
                    <a:pt x="0" y="114044"/>
                    <a:pt x="0" y="106667"/>
                  </a:cubicBezTo>
                  <a:close/>
                </a:path>
              </a:pathLst>
            </a:cu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3"/>
            <p:cNvSpPr txBox="1"/>
            <p:nvPr/>
          </p:nvSpPr>
          <p:spPr>
            <a:xfrm>
              <a:off x="228600" y="0"/>
              <a:ext cx="77343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FFB3C6"/>
                  </a:solidFill>
                  <a:latin typeface="Work Sans"/>
                  <a:ea typeface="Work Sans"/>
                  <a:cs typeface="Work Sans"/>
                  <a:sym typeface="Work Sans"/>
                </a:rPr>
                <a:t>Key Strategic Focus:</a:t>
              </a:r>
              <a:r>
                <a:rPr lang="en" sz="9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Failure Mode #1 (No renewal reminders sent) scores the maximum RPN (378) due to extreme Occurrence &amp; Severity, requiring immediate automation intervention.</a:t>
              </a:r>
              <a:endParaRPr sz="9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6" name="Google Shape;1376;p34"/>
          <p:cNvGrpSpPr/>
          <p:nvPr/>
        </p:nvGrpSpPr>
        <p:grpSpPr>
          <a:xfrm>
            <a:off x="514350" y="266700"/>
            <a:ext cx="8115300" cy="705000"/>
            <a:chOff x="0" y="0"/>
            <a:chExt cx="8115300" cy="705000"/>
          </a:xfrm>
        </p:grpSpPr>
        <p:sp>
          <p:nvSpPr>
            <p:cNvPr id="1377" name="Google Shape;1377;p34"/>
            <p:cNvSpPr txBox="1"/>
            <p:nvPr/>
          </p:nvSpPr>
          <p:spPr>
            <a:xfrm>
              <a:off x="0" y="0"/>
              <a:ext cx="81153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IMPROVE PHASE — ACTION PLAN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78" name="Google Shape;1378;p34"/>
            <p:cNvSpPr txBox="1"/>
            <p:nvPr/>
          </p:nvSpPr>
          <p:spPr>
            <a:xfrm>
              <a:off x="0" y="171450"/>
              <a:ext cx="811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 b="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PRIORITIZED IMPROVEMENT ACTION PLAN</a:t>
              </a:r>
              <a:endParaRPr sz="210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379" name="Google Shape;1379;p34"/>
            <p:cNvSpPr txBox="1"/>
            <p:nvPr/>
          </p:nvSpPr>
          <p:spPr>
            <a:xfrm>
              <a:off x="0" y="495300"/>
              <a:ext cx="81153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40" b="0">
                  <a:solidFill>
                    <a:srgbClr val="475569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Based on FMEA RPN rankings, a targeted action plan deploys automated communications, crowd tracking, and structured onboarding to neutralize critical failure modes.</a:t>
              </a:r>
              <a:endParaRPr sz="740" b="0">
                <a:solidFill>
                  <a:srgbClr val="475569"/>
                </a:solidFill>
                <a:latin typeface="Work Sans Medium"/>
                <a:ea typeface="Work Sans Medium"/>
                <a:cs typeface="Work Sans Medium"/>
                <a:sym typeface="Work Sans Medium"/>
              </a:endParaRPr>
            </a:p>
          </p:txBody>
        </p:sp>
      </p:grpSp>
      <p:grpSp>
        <p:nvGrpSpPr>
          <p:cNvPr id="1380" name="Google Shape;1380;p34"/>
          <p:cNvGrpSpPr/>
          <p:nvPr/>
        </p:nvGrpSpPr>
        <p:grpSpPr>
          <a:xfrm>
            <a:off x="514350" y="1143000"/>
            <a:ext cx="2571900" cy="1571700"/>
            <a:chOff x="0" y="0"/>
            <a:chExt cx="2571900" cy="1571700"/>
          </a:xfrm>
        </p:grpSpPr>
        <p:sp>
          <p:nvSpPr>
            <p:cNvPr id="1381" name="Google Shape;1381;p34"/>
            <p:cNvSpPr/>
            <p:nvPr/>
          </p:nvSpPr>
          <p:spPr>
            <a:xfrm>
              <a:off x="0" y="0"/>
              <a:ext cx="2571900" cy="1571700"/>
            </a:xfrm>
            <a:prstGeom prst="roundRect">
              <a:avLst>
                <a:gd name="adj" fmla="val 3636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4"/>
            <p:cNvSpPr/>
            <p:nvPr/>
          </p:nvSpPr>
          <p:spPr>
            <a:xfrm>
              <a:off x="0" y="0"/>
              <a:ext cx="2571900" cy="342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0000"/>
                  </a:moveTo>
                  <a:cubicBezTo>
                    <a:pt x="0" y="8933"/>
                    <a:pt x="1191" y="0"/>
                    <a:pt x="2667" y="0"/>
                  </a:cubicBezTo>
                  <a:lnTo>
                    <a:pt x="117333" y="0"/>
                  </a:lnTo>
                  <a:cubicBezTo>
                    <a:pt x="118809" y="0"/>
                    <a:pt x="120000" y="8933"/>
                    <a:pt x="120000" y="2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4"/>
            <p:cNvSpPr/>
            <p:nvPr/>
          </p:nvSpPr>
          <p:spPr>
            <a:xfrm>
              <a:off x="95250" y="66675"/>
              <a:ext cx="209700" cy="209700"/>
            </a:xfrm>
            <a:prstGeom prst="roundRect">
              <a:avLst>
                <a:gd name="adj" fmla="val 18181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4"/>
            <p:cNvSpPr txBox="1"/>
            <p:nvPr/>
          </p:nvSpPr>
          <p:spPr>
            <a:xfrm>
              <a:off x="95250" y="66675"/>
              <a:ext cx="209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01</a:t>
              </a:r>
              <a:endParaRPr sz="95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385" name="Google Shape;1385;p34"/>
            <p:cNvSpPr txBox="1"/>
            <p:nvPr/>
          </p:nvSpPr>
          <p:spPr>
            <a:xfrm>
              <a:off x="381000" y="66675"/>
              <a:ext cx="2095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Automated Reminders</a:t>
              </a:r>
              <a:endParaRPr sz="9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386" name="Google Shape;1386;p34"/>
            <p:cNvGrpSpPr/>
            <p:nvPr/>
          </p:nvGrpSpPr>
          <p:grpSpPr>
            <a:xfrm>
              <a:off x="152400" y="495300"/>
              <a:ext cx="2266950" cy="369189"/>
              <a:chOff x="0" y="0"/>
              <a:chExt cx="2266950" cy="369189"/>
            </a:xfrm>
          </p:grpSpPr>
          <p:sp>
            <p:nvSpPr>
              <p:cNvPr id="1387" name="Google Shape;1387;p34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name="adj" fmla="val 16666"/>
                </a:avLst>
              </a:prstGeom>
              <a:solidFill>
                <a:srgbClr val="0E1C5D">
                  <a:alpha val="6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34"/>
              <p:cNvSpPr txBox="1"/>
              <p:nvPr/>
            </p:nvSpPr>
            <p:spPr>
              <a:xfrm>
                <a:off x="0" y="26289"/>
                <a:ext cx="226695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solidFill>
                      <a:srgbClr val="A60042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notifications_active</a:t>
                </a:r>
                <a:endParaRPr sz="1800" dirty="0">
                  <a:solidFill>
                    <a:srgbClr val="A60042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389" name="Google Shape;1389;p34"/>
            <p:cNvSpPr txBox="1"/>
            <p:nvPr/>
          </p:nvSpPr>
          <p:spPr>
            <a:xfrm>
              <a:off x="590550" y="457200"/>
              <a:ext cx="18288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334155"/>
                  </a:solidFill>
                  <a:latin typeface="Work Sans"/>
                  <a:ea typeface="Work Sans"/>
                  <a:cs typeface="Work Sans"/>
                  <a:sym typeface="Work Sans"/>
                </a:rPr>
                <a:t>SMS and email alerts sent at 30, 15, and 7 days pre-expiry.</a:t>
              </a:r>
              <a:endParaRPr sz="850" b="0">
                <a:solidFill>
                  <a:srgbClr val="3341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390" name="Google Shape;1390;p34"/>
          <p:cNvGrpSpPr/>
          <p:nvPr/>
        </p:nvGrpSpPr>
        <p:grpSpPr>
          <a:xfrm>
            <a:off x="3286125" y="1143000"/>
            <a:ext cx="2571900" cy="1571700"/>
            <a:chOff x="0" y="0"/>
            <a:chExt cx="2571900" cy="1571700"/>
          </a:xfrm>
        </p:grpSpPr>
        <p:sp>
          <p:nvSpPr>
            <p:cNvPr id="1391" name="Google Shape;1391;p34"/>
            <p:cNvSpPr/>
            <p:nvPr/>
          </p:nvSpPr>
          <p:spPr>
            <a:xfrm>
              <a:off x="0" y="0"/>
              <a:ext cx="2571900" cy="1571700"/>
            </a:xfrm>
            <a:prstGeom prst="roundRect">
              <a:avLst>
                <a:gd name="adj" fmla="val 3636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4"/>
            <p:cNvSpPr/>
            <p:nvPr/>
          </p:nvSpPr>
          <p:spPr>
            <a:xfrm>
              <a:off x="0" y="0"/>
              <a:ext cx="2571900" cy="342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0000"/>
                  </a:moveTo>
                  <a:cubicBezTo>
                    <a:pt x="0" y="8933"/>
                    <a:pt x="1191" y="0"/>
                    <a:pt x="2667" y="0"/>
                  </a:cubicBezTo>
                  <a:lnTo>
                    <a:pt x="117333" y="0"/>
                  </a:lnTo>
                  <a:cubicBezTo>
                    <a:pt x="118809" y="0"/>
                    <a:pt x="120000" y="8933"/>
                    <a:pt x="120000" y="2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4"/>
            <p:cNvSpPr/>
            <p:nvPr/>
          </p:nvSpPr>
          <p:spPr>
            <a:xfrm>
              <a:off x="95250" y="66675"/>
              <a:ext cx="209700" cy="209700"/>
            </a:xfrm>
            <a:prstGeom prst="roundRect">
              <a:avLst>
                <a:gd name="adj" fmla="val 18181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4"/>
            <p:cNvSpPr txBox="1"/>
            <p:nvPr/>
          </p:nvSpPr>
          <p:spPr>
            <a:xfrm>
              <a:off x="95250" y="66675"/>
              <a:ext cx="209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02</a:t>
              </a:r>
              <a:endParaRPr sz="95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395" name="Google Shape;1395;p34"/>
            <p:cNvSpPr txBox="1"/>
            <p:nvPr/>
          </p:nvSpPr>
          <p:spPr>
            <a:xfrm>
              <a:off x="381000" y="66675"/>
              <a:ext cx="2095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Progress Tracking</a:t>
              </a:r>
              <a:endParaRPr sz="9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396" name="Google Shape;1396;p34"/>
            <p:cNvGrpSpPr/>
            <p:nvPr/>
          </p:nvGrpSpPr>
          <p:grpSpPr>
            <a:xfrm>
              <a:off x="152400" y="495300"/>
              <a:ext cx="2324100" cy="369189"/>
              <a:chOff x="0" y="0"/>
              <a:chExt cx="2324100" cy="369189"/>
            </a:xfrm>
          </p:grpSpPr>
          <p:sp>
            <p:nvSpPr>
              <p:cNvPr id="1397" name="Google Shape;1397;p34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name="adj" fmla="val 16666"/>
                </a:avLst>
              </a:prstGeom>
              <a:solidFill>
                <a:srgbClr val="0E1C5D">
                  <a:alpha val="6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34"/>
              <p:cNvSpPr txBox="1"/>
              <p:nvPr/>
            </p:nvSpPr>
            <p:spPr>
              <a:xfrm>
                <a:off x="0" y="26289"/>
                <a:ext cx="23241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solidFill>
                      <a:srgbClr val="0E1C5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analytics</a:t>
                </a:r>
                <a:endParaRPr sz="1800" dirty="0">
                  <a:solidFill>
                    <a:srgbClr val="0E1C5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399" name="Google Shape;1399;p34"/>
            <p:cNvSpPr txBox="1"/>
            <p:nvPr/>
          </p:nvSpPr>
          <p:spPr>
            <a:xfrm>
              <a:off x="590550" y="457200"/>
              <a:ext cx="18288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334155"/>
                  </a:solidFill>
                  <a:latin typeface="Work Sans"/>
                  <a:ea typeface="Work Sans"/>
                  <a:cs typeface="Work Sans"/>
                  <a:sym typeface="Work Sans"/>
                </a:rPr>
                <a:t>Implementation of monthly fitness assessments.</a:t>
              </a:r>
              <a:endParaRPr sz="850" b="0">
                <a:solidFill>
                  <a:srgbClr val="3341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400" name="Google Shape;1400;p34"/>
          <p:cNvGrpSpPr/>
          <p:nvPr/>
        </p:nvGrpSpPr>
        <p:grpSpPr>
          <a:xfrm>
            <a:off x="6057900" y="1143000"/>
            <a:ext cx="2571900" cy="1571700"/>
            <a:chOff x="0" y="0"/>
            <a:chExt cx="2571900" cy="1571700"/>
          </a:xfrm>
        </p:grpSpPr>
        <p:sp>
          <p:nvSpPr>
            <p:cNvPr id="1401" name="Google Shape;1401;p34"/>
            <p:cNvSpPr/>
            <p:nvPr/>
          </p:nvSpPr>
          <p:spPr>
            <a:xfrm>
              <a:off x="0" y="0"/>
              <a:ext cx="2571900" cy="1571700"/>
            </a:xfrm>
            <a:prstGeom prst="roundRect">
              <a:avLst>
                <a:gd name="adj" fmla="val 3636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4"/>
            <p:cNvSpPr/>
            <p:nvPr/>
          </p:nvSpPr>
          <p:spPr>
            <a:xfrm>
              <a:off x="0" y="0"/>
              <a:ext cx="2571900" cy="342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0000"/>
                  </a:moveTo>
                  <a:cubicBezTo>
                    <a:pt x="0" y="8933"/>
                    <a:pt x="1191" y="0"/>
                    <a:pt x="2667" y="0"/>
                  </a:cubicBezTo>
                  <a:lnTo>
                    <a:pt x="117333" y="0"/>
                  </a:lnTo>
                  <a:cubicBezTo>
                    <a:pt x="118809" y="0"/>
                    <a:pt x="120000" y="8933"/>
                    <a:pt x="120000" y="2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4"/>
            <p:cNvSpPr/>
            <p:nvPr/>
          </p:nvSpPr>
          <p:spPr>
            <a:xfrm>
              <a:off x="95250" y="66675"/>
              <a:ext cx="209700" cy="209700"/>
            </a:xfrm>
            <a:prstGeom prst="roundRect">
              <a:avLst>
                <a:gd name="adj" fmla="val 18181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4"/>
            <p:cNvSpPr txBox="1"/>
            <p:nvPr/>
          </p:nvSpPr>
          <p:spPr>
            <a:xfrm>
              <a:off x="95250" y="66675"/>
              <a:ext cx="209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03</a:t>
              </a:r>
              <a:endParaRPr sz="95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405" name="Google Shape;1405;p34"/>
            <p:cNvSpPr txBox="1"/>
            <p:nvPr/>
          </p:nvSpPr>
          <p:spPr>
            <a:xfrm>
              <a:off x="381000" y="66675"/>
              <a:ext cx="2095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Upgrades</a:t>
              </a:r>
              <a:endParaRPr sz="9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406" name="Google Shape;1406;p34"/>
            <p:cNvGrpSpPr/>
            <p:nvPr/>
          </p:nvGrpSpPr>
          <p:grpSpPr>
            <a:xfrm>
              <a:off x="152400" y="495300"/>
              <a:ext cx="2324100" cy="369189"/>
              <a:chOff x="0" y="0"/>
              <a:chExt cx="2324100" cy="369189"/>
            </a:xfrm>
          </p:grpSpPr>
          <p:sp>
            <p:nvSpPr>
              <p:cNvPr id="1407" name="Google Shape;1407;p34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name="adj" fmla="val 16666"/>
                </a:avLst>
              </a:prstGeom>
              <a:solidFill>
                <a:srgbClr val="0E1C5D">
                  <a:alpha val="6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34"/>
              <p:cNvSpPr txBox="1"/>
              <p:nvPr/>
            </p:nvSpPr>
            <p:spPr>
              <a:xfrm>
                <a:off x="0" y="26289"/>
                <a:ext cx="23241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solidFill>
                      <a:srgbClr val="0E1C5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workspace_premium</a:t>
                </a:r>
                <a:endParaRPr sz="1800" dirty="0">
                  <a:solidFill>
                    <a:srgbClr val="0E1C5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409" name="Google Shape;1409;p34"/>
            <p:cNvSpPr txBox="1"/>
            <p:nvPr/>
          </p:nvSpPr>
          <p:spPr>
            <a:xfrm>
              <a:off x="590550" y="457200"/>
              <a:ext cx="18288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334155"/>
                  </a:solidFill>
                  <a:latin typeface="Work Sans"/>
                  <a:ea typeface="Work Sans"/>
                  <a:cs typeface="Work Sans"/>
                  <a:sym typeface="Work Sans"/>
                </a:rPr>
                <a:t>Loyalty upgrade incentives to convert monthly members.</a:t>
              </a:r>
              <a:endParaRPr sz="850" b="0">
                <a:solidFill>
                  <a:srgbClr val="3341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410" name="Google Shape;1410;p34"/>
          <p:cNvGrpSpPr/>
          <p:nvPr/>
        </p:nvGrpSpPr>
        <p:grpSpPr>
          <a:xfrm>
            <a:off x="514350" y="2876550"/>
            <a:ext cx="2571900" cy="1571700"/>
            <a:chOff x="0" y="0"/>
            <a:chExt cx="2571900" cy="1571700"/>
          </a:xfrm>
        </p:grpSpPr>
        <p:sp>
          <p:nvSpPr>
            <p:cNvPr id="1411" name="Google Shape;1411;p34"/>
            <p:cNvSpPr/>
            <p:nvPr/>
          </p:nvSpPr>
          <p:spPr>
            <a:xfrm>
              <a:off x="0" y="0"/>
              <a:ext cx="2571900" cy="1571700"/>
            </a:xfrm>
            <a:prstGeom prst="roundRect">
              <a:avLst>
                <a:gd name="adj" fmla="val 3636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4"/>
            <p:cNvSpPr/>
            <p:nvPr/>
          </p:nvSpPr>
          <p:spPr>
            <a:xfrm>
              <a:off x="0" y="0"/>
              <a:ext cx="2571900" cy="342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0000"/>
                  </a:moveTo>
                  <a:cubicBezTo>
                    <a:pt x="0" y="8933"/>
                    <a:pt x="1191" y="0"/>
                    <a:pt x="2667" y="0"/>
                  </a:cubicBezTo>
                  <a:lnTo>
                    <a:pt x="117333" y="0"/>
                  </a:lnTo>
                  <a:cubicBezTo>
                    <a:pt x="118809" y="0"/>
                    <a:pt x="120000" y="8933"/>
                    <a:pt x="120000" y="2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4"/>
            <p:cNvSpPr/>
            <p:nvPr/>
          </p:nvSpPr>
          <p:spPr>
            <a:xfrm>
              <a:off x="95250" y="66675"/>
              <a:ext cx="209700" cy="209700"/>
            </a:xfrm>
            <a:prstGeom prst="roundRect">
              <a:avLst>
                <a:gd name="adj" fmla="val 18181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4"/>
            <p:cNvSpPr txBox="1"/>
            <p:nvPr/>
          </p:nvSpPr>
          <p:spPr>
            <a:xfrm>
              <a:off x="95250" y="66675"/>
              <a:ext cx="209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04</a:t>
              </a:r>
              <a:endParaRPr sz="95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415" name="Google Shape;1415;p34"/>
            <p:cNvSpPr txBox="1"/>
            <p:nvPr/>
          </p:nvSpPr>
          <p:spPr>
            <a:xfrm>
              <a:off x="381000" y="66675"/>
              <a:ext cx="2095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Congestion</a:t>
              </a:r>
              <a:endParaRPr sz="9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416" name="Google Shape;1416;p34"/>
            <p:cNvGrpSpPr/>
            <p:nvPr/>
          </p:nvGrpSpPr>
          <p:grpSpPr>
            <a:xfrm>
              <a:off x="152400" y="495300"/>
              <a:ext cx="2419500" cy="369189"/>
              <a:chOff x="0" y="0"/>
              <a:chExt cx="2419500" cy="369189"/>
            </a:xfrm>
          </p:grpSpPr>
          <p:sp>
            <p:nvSpPr>
              <p:cNvPr id="1417" name="Google Shape;1417;p34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name="adj" fmla="val 16666"/>
                </a:avLst>
              </a:prstGeom>
              <a:solidFill>
                <a:srgbClr val="0E1C5D">
                  <a:alpha val="6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34"/>
              <p:cNvSpPr txBox="1"/>
              <p:nvPr/>
            </p:nvSpPr>
            <p:spPr>
              <a:xfrm>
                <a:off x="0" y="26289"/>
                <a:ext cx="24195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solidFill>
                      <a:srgbClr val="0E1C5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groups</a:t>
                </a:r>
                <a:endParaRPr sz="1800" dirty="0">
                  <a:solidFill>
                    <a:srgbClr val="0E1C5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419" name="Google Shape;1419;p34"/>
            <p:cNvSpPr txBox="1"/>
            <p:nvPr/>
          </p:nvSpPr>
          <p:spPr>
            <a:xfrm>
              <a:off x="590550" y="457200"/>
              <a:ext cx="18288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334155"/>
                  </a:solidFill>
                  <a:latin typeface="Work Sans"/>
                  <a:ea typeface="Work Sans"/>
                  <a:cs typeface="Work Sans"/>
                  <a:sym typeface="Work Sans"/>
                </a:rPr>
                <a:t>Live crowd tracking and staggered peak slots.</a:t>
              </a:r>
              <a:endParaRPr sz="850" b="0">
                <a:solidFill>
                  <a:srgbClr val="3341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420" name="Google Shape;1420;p34"/>
          <p:cNvGrpSpPr/>
          <p:nvPr/>
        </p:nvGrpSpPr>
        <p:grpSpPr>
          <a:xfrm>
            <a:off x="3286125" y="2876550"/>
            <a:ext cx="2571900" cy="1571700"/>
            <a:chOff x="0" y="0"/>
            <a:chExt cx="2571900" cy="1571700"/>
          </a:xfrm>
        </p:grpSpPr>
        <p:sp>
          <p:nvSpPr>
            <p:cNvPr id="1421" name="Google Shape;1421;p34"/>
            <p:cNvSpPr/>
            <p:nvPr/>
          </p:nvSpPr>
          <p:spPr>
            <a:xfrm>
              <a:off x="0" y="0"/>
              <a:ext cx="2571900" cy="1571700"/>
            </a:xfrm>
            <a:prstGeom prst="roundRect">
              <a:avLst>
                <a:gd name="adj" fmla="val 3636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4"/>
            <p:cNvSpPr/>
            <p:nvPr/>
          </p:nvSpPr>
          <p:spPr>
            <a:xfrm>
              <a:off x="0" y="0"/>
              <a:ext cx="2571900" cy="342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0000"/>
                  </a:moveTo>
                  <a:cubicBezTo>
                    <a:pt x="0" y="8933"/>
                    <a:pt x="1191" y="0"/>
                    <a:pt x="2667" y="0"/>
                  </a:cubicBezTo>
                  <a:lnTo>
                    <a:pt x="117333" y="0"/>
                  </a:lnTo>
                  <a:cubicBezTo>
                    <a:pt x="118809" y="0"/>
                    <a:pt x="120000" y="8933"/>
                    <a:pt x="120000" y="2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4"/>
            <p:cNvSpPr/>
            <p:nvPr/>
          </p:nvSpPr>
          <p:spPr>
            <a:xfrm>
              <a:off x="95250" y="66675"/>
              <a:ext cx="209700" cy="209700"/>
            </a:xfrm>
            <a:prstGeom prst="roundRect">
              <a:avLst>
                <a:gd name="adj" fmla="val 18181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4"/>
            <p:cNvSpPr txBox="1"/>
            <p:nvPr/>
          </p:nvSpPr>
          <p:spPr>
            <a:xfrm>
              <a:off x="95250" y="66675"/>
              <a:ext cx="209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05</a:t>
              </a:r>
              <a:endParaRPr sz="95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425" name="Google Shape;1425;p34"/>
            <p:cNvSpPr txBox="1"/>
            <p:nvPr/>
          </p:nvSpPr>
          <p:spPr>
            <a:xfrm>
              <a:off x="381000" y="66675"/>
              <a:ext cx="2095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Onboarding</a:t>
              </a:r>
              <a:endParaRPr sz="9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426" name="Google Shape;1426;p34"/>
            <p:cNvGrpSpPr/>
            <p:nvPr/>
          </p:nvGrpSpPr>
          <p:grpSpPr>
            <a:xfrm>
              <a:off x="152400" y="495300"/>
              <a:ext cx="2266950" cy="369189"/>
              <a:chOff x="0" y="0"/>
              <a:chExt cx="2266950" cy="369189"/>
            </a:xfrm>
          </p:grpSpPr>
          <p:sp>
            <p:nvSpPr>
              <p:cNvPr id="1427" name="Google Shape;1427;p34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name="adj" fmla="val 16666"/>
                </a:avLst>
              </a:prstGeom>
              <a:solidFill>
                <a:srgbClr val="0E1C5D">
                  <a:alpha val="6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34"/>
              <p:cNvSpPr txBox="1"/>
              <p:nvPr/>
            </p:nvSpPr>
            <p:spPr>
              <a:xfrm>
                <a:off x="0" y="26289"/>
                <a:ext cx="226695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solidFill>
                      <a:srgbClr val="0E1C5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badge</a:t>
                </a:r>
                <a:endParaRPr sz="1800" dirty="0">
                  <a:solidFill>
                    <a:srgbClr val="0E1C5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429" name="Google Shape;1429;p34"/>
            <p:cNvSpPr txBox="1"/>
            <p:nvPr/>
          </p:nvSpPr>
          <p:spPr>
            <a:xfrm>
              <a:off x="590550" y="457200"/>
              <a:ext cx="18288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334155"/>
                  </a:solidFill>
                  <a:latin typeface="Work Sans"/>
                  <a:ea typeface="Work Sans"/>
                  <a:cs typeface="Work Sans"/>
                  <a:sym typeface="Work Sans"/>
                </a:rPr>
                <a:t>A structured 7-day orientation program.</a:t>
              </a:r>
              <a:endParaRPr sz="850" b="0">
                <a:solidFill>
                  <a:srgbClr val="3341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430" name="Google Shape;1430;p34"/>
          <p:cNvGrpSpPr/>
          <p:nvPr/>
        </p:nvGrpSpPr>
        <p:grpSpPr>
          <a:xfrm>
            <a:off x="6057900" y="2876550"/>
            <a:ext cx="2571900" cy="1571700"/>
            <a:chOff x="0" y="0"/>
            <a:chExt cx="2571900" cy="1571700"/>
          </a:xfrm>
        </p:grpSpPr>
        <p:sp>
          <p:nvSpPr>
            <p:cNvPr id="1431" name="Google Shape;1431;p34"/>
            <p:cNvSpPr/>
            <p:nvPr/>
          </p:nvSpPr>
          <p:spPr>
            <a:xfrm>
              <a:off x="0" y="0"/>
              <a:ext cx="2571900" cy="1571700"/>
            </a:xfrm>
            <a:prstGeom prst="roundRect">
              <a:avLst>
                <a:gd name="adj" fmla="val 3636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4"/>
            <p:cNvSpPr/>
            <p:nvPr/>
          </p:nvSpPr>
          <p:spPr>
            <a:xfrm>
              <a:off x="0" y="0"/>
              <a:ext cx="2571900" cy="342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0000"/>
                  </a:moveTo>
                  <a:cubicBezTo>
                    <a:pt x="0" y="8933"/>
                    <a:pt x="1191" y="0"/>
                    <a:pt x="2667" y="0"/>
                  </a:cubicBezTo>
                  <a:lnTo>
                    <a:pt x="117333" y="0"/>
                  </a:lnTo>
                  <a:cubicBezTo>
                    <a:pt x="118809" y="0"/>
                    <a:pt x="120000" y="8933"/>
                    <a:pt x="120000" y="2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4"/>
            <p:cNvSpPr/>
            <p:nvPr/>
          </p:nvSpPr>
          <p:spPr>
            <a:xfrm>
              <a:off x="95250" y="66675"/>
              <a:ext cx="209700" cy="209700"/>
            </a:xfrm>
            <a:prstGeom prst="roundRect">
              <a:avLst>
                <a:gd name="adj" fmla="val 18181"/>
              </a:avLst>
            </a:pr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4"/>
            <p:cNvSpPr txBox="1"/>
            <p:nvPr/>
          </p:nvSpPr>
          <p:spPr>
            <a:xfrm>
              <a:off x="95250" y="66675"/>
              <a:ext cx="209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06</a:t>
              </a:r>
              <a:endParaRPr sz="95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435" name="Google Shape;1435;p34"/>
            <p:cNvSpPr txBox="1"/>
            <p:nvPr/>
          </p:nvSpPr>
          <p:spPr>
            <a:xfrm>
              <a:off x="381000" y="66675"/>
              <a:ext cx="2095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Engagement</a:t>
              </a:r>
              <a:endParaRPr sz="95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436" name="Google Shape;1436;p34"/>
            <p:cNvGrpSpPr/>
            <p:nvPr/>
          </p:nvGrpSpPr>
          <p:grpSpPr>
            <a:xfrm>
              <a:off x="152400" y="495300"/>
              <a:ext cx="2286000" cy="369189"/>
              <a:chOff x="0" y="0"/>
              <a:chExt cx="2286000" cy="369189"/>
            </a:xfrm>
          </p:grpSpPr>
          <p:sp>
            <p:nvSpPr>
              <p:cNvPr id="1437" name="Google Shape;1437;p34"/>
              <p:cNvSpPr/>
              <p:nvPr/>
            </p:nvSpPr>
            <p:spPr>
              <a:xfrm>
                <a:off x="0" y="0"/>
                <a:ext cx="342900" cy="342900"/>
              </a:xfrm>
              <a:prstGeom prst="roundRect">
                <a:avLst>
                  <a:gd name="adj" fmla="val 16666"/>
                </a:avLst>
              </a:prstGeom>
              <a:solidFill>
                <a:srgbClr val="0E1C5D">
                  <a:alpha val="6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34"/>
              <p:cNvSpPr txBox="1"/>
              <p:nvPr/>
            </p:nvSpPr>
            <p:spPr>
              <a:xfrm>
                <a:off x="0" y="26289"/>
                <a:ext cx="22860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dirty="0">
                    <a:solidFill>
                      <a:srgbClr val="0E1C5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fitness_center</a:t>
                </a:r>
                <a:endParaRPr sz="1800" dirty="0">
                  <a:solidFill>
                    <a:srgbClr val="0E1C5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439" name="Google Shape;1439;p34"/>
            <p:cNvSpPr txBox="1"/>
            <p:nvPr/>
          </p:nvSpPr>
          <p:spPr>
            <a:xfrm>
              <a:off x="590550" y="457200"/>
              <a:ext cx="18288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334155"/>
                  </a:solidFill>
                  <a:latin typeface="Work Sans"/>
                  <a:ea typeface="Work Sans"/>
                  <a:cs typeface="Work Sans"/>
                  <a:sym typeface="Work Sans"/>
                </a:rPr>
                <a:t>Mandatory 30-minute floor rounds by trainers for non-PT members.</a:t>
              </a:r>
              <a:endParaRPr sz="850" b="0">
                <a:solidFill>
                  <a:srgbClr val="334155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1440" name="Google Shape;1440;p34"/>
          <p:cNvGrpSpPr/>
          <p:nvPr/>
        </p:nvGrpSpPr>
        <p:grpSpPr>
          <a:xfrm>
            <a:off x="514350" y="4591050"/>
            <a:ext cx="8115300" cy="342900"/>
            <a:chOff x="0" y="0"/>
            <a:chExt cx="8115300" cy="342900"/>
          </a:xfrm>
        </p:grpSpPr>
        <p:sp>
          <p:nvSpPr>
            <p:cNvPr id="1441" name="Google Shape;1441;p34"/>
            <p:cNvSpPr/>
            <p:nvPr/>
          </p:nvSpPr>
          <p:spPr>
            <a:xfrm>
              <a:off x="0" y="0"/>
              <a:ext cx="8115300" cy="342900"/>
            </a:xfrm>
            <a:prstGeom prst="roundRect">
              <a:avLst>
                <a:gd name="adj" fmla="val 16666"/>
              </a:avLst>
            </a:pr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4"/>
            <p:cNvSpPr/>
            <p:nvPr/>
          </p:nvSpPr>
          <p:spPr>
            <a:xfrm>
              <a:off x="0" y="0"/>
              <a:ext cx="76200" cy="342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0000"/>
                  </a:moveTo>
                  <a:cubicBezTo>
                    <a:pt x="0" y="8933"/>
                    <a:pt x="40200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40200" y="120000"/>
                    <a:pt x="0" y="111067"/>
                    <a:pt x="0" y="100000"/>
                  </a:cubicBezTo>
                  <a:close/>
                </a:path>
              </a:pathLst>
            </a:custGeom>
            <a:solidFill>
              <a:srgbClr val="A6004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4"/>
            <p:cNvSpPr txBox="1"/>
            <p:nvPr/>
          </p:nvSpPr>
          <p:spPr>
            <a:xfrm>
              <a:off x="171450" y="0"/>
              <a:ext cx="7810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B3C6"/>
                  </a:solidFill>
                  <a:latin typeface="Work Sans"/>
                  <a:ea typeface="Work Sans"/>
                  <a:cs typeface="Work Sans"/>
                  <a:sym typeface="Work Sans"/>
                </a:rPr>
                <a:t>Key Action Goal: </a:t>
              </a:r>
              <a:r>
                <a:rPr lang="en" sz="800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Neutralize top failure modes through automated communication workflows and proactive engagement touchpoints.</a:t>
              </a:r>
              <a:endParaRPr sz="800" b="1">
                <a:solidFill>
                  <a:srgbClr val="FFB3C6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8" name="Google Shape;1448;p35"/>
          <p:cNvGrpSpPr/>
          <p:nvPr/>
        </p:nvGrpSpPr>
        <p:grpSpPr>
          <a:xfrm>
            <a:off x="514350" y="228600"/>
            <a:ext cx="8115300" cy="704850"/>
            <a:chOff x="0" y="0"/>
            <a:chExt cx="8115300" cy="704850"/>
          </a:xfrm>
        </p:grpSpPr>
        <p:sp>
          <p:nvSpPr>
            <p:cNvPr id="1449" name="Google Shape;1449;p35"/>
            <p:cNvSpPr txBox="1"/>
            <p:nvPr/>
          </p:nvSpPr>
          <p:spPr>
            <a:xfrm>
              <a:off x="0" y="0"/>
              <a:ext cx="8115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CONTROL PHASE — STATISTICAL PROCESS CONTROL</a:t>
              </a:r>
              <a:endParaRPr sz="85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450" name="Google Shape;1450;p35"/>
            <p:cNvSpPr txBox="1"/>
            <p:nvPr/>
          </p:nvSpPr>
          <p:spPr>
            <a:xfrm>
              <a:off x="0" y="190500"/>
              <a:ext cx="811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 b="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STATISTICAL PROCESS CONTROL P-CHARTS</a:t>
              </a:r>
              <a:endParaRPr sz="210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451" name="Google Shape;1451;p35"/>
            <p:cNvSpPr txBox="1"/>
            <p:nvPr/>
          </p:nvSpPr>
          <p:spPr>
            <a:xfrm>
              <a:off x="0" y="514350"/>
              <a:ext cx="8115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0">
                  <a:solidFill>
                    <a:srgbClr val="475569"/>
                  </a:solidFill>
                  <a:latin typeface="Work Sans Medium"/>
                  <a:ea typeface="Work Sans Medium"/>
                  <a:cs typeface="Work Sans Medium"/>
                  <a:sym typeface="Work Sans Medium"/>
                </a:rPr>
                <a:t>Sustained Churn Reduction Validation via 3-Sigma Limit Control Charts</a:t>
              </a:r>
              <a:endParaRPr sz="750" b="0">
                <a:solidFill>
                  <a:srgbClr val="475569"/>
                </a:solidFill>
                <a:latin typeface="Work Sans Medium"/>
                <a:ea typeface="Work Sans Medium"/>
                <a:cs typeface="Work Sans Medium"/>
                <a:sym typeface="Work Sans Medium"/>
              </a:endParaRPr>
            </a:p>
          </p:txBody>
        </p:sp>
      </p:grpSp>
      <p:grpSp>
        <p:nvGrpSpPr>
          <p:cNvPr id="1452" name="Google Shape;1452;p35"/>
          <p:cNvGrpSpPr/>
          <p:nvPr/>
        </p:nvGrpSpPr>
        <p:grpSpPr>
          <a:xfrm>
            <a:off x="514350" y="1028700"/>
            <a:ext cx="4000500" cy="3695700"/>
            <a:chOff x="0" y="0"/>
            <a:chExt cx="4000500" cy="3695700"/>
          </a:xfrm>
        </p:grpSpPr>
        <p:sp>
          <p:nvSpPr>
            <p:cNvPr id="1453" name="Google Shape;1453;p35"/>
            <p:cNvSpPr/>
            <p:nvPr/>
          </p:nvSpPr>
          <p:spPr>
            <a:xfrm>
              <a:off x="0" y="0"/>
              <a:ext cx="4000500" cy="3695700"/>
            </a:xfrm>
            <a:prstGeom prst="roundRect">
              <a:avLst>
                <a:gd name="adj" fmla="val 1546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5"/>
            <p:cNvSpPr/>
            <p:nvPr/>
          </p:nvSpPr>
          <p:spPr>
            <a:xfrm>
              <a:off x="0" y="0"/>
              <a:ext cx="4000500" cy="304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2500"/>
                  </a:moveTo>
                  <a:cubicBezTo>
                    <a:pt x="0" y="10050"/>
                    <a:pt x="766" y="0"/>
                    <a:pt x="1714" y="0"/>
                  </a:cubicBezTo>
                  <a:lnTo>
                    <a:pt x="118286" y="0"/>
                  </a:lnTo>
                  <a:cubicBezTo>
                    <a:pt x="119234" y="0"/>
                    <a:pt x="120000" y="10050"/>
                    <a:pt x="120000" y="225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E1C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5"/>
            <p:cNvSpPr txBox="1"/>
            <p:nvPr/>
          </p:nvSpPr>
          <p:spPr>
            <a:xfrm>
              <a:off x="133350" y="0"/>
              <a:ext cx="3733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P-CHART: MONTHLY CHURN PROPORTION CONTROL CHART</a:t>
              </a:r>
              <a:endParaRPr sz="8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456" name="Google Shape;1456;p35"/>
            <p:cNvGrpSpPr/>
            <p:nvPr/>
          </p:nvGrpSpPr>
          <p:grpSpPr>
            <a:xfrm>
              <a:off x="142875" y="419100"/>
              <a:ext cx="3667125" cy="3143250"/>
              <a:chOff x="47625" y="76200"/>
              <a:chExt cx="3667125" cy="3143250"/>
            </a:xfrm>
          </p:grpSpPr>
          <p:sp>
            <p:nvSpPr>
              <p:cNvPr id="1457" name="Google Shape;1457;p35"/>
              <p:cNvSpPr txBox="1"/>
              <p:nvPr/>
            </p:nvSpPr>
            <p:spPr>
              <a:xfrm>
                <a:off x="952500" y="76200"/>
                <a:ext cx="12384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YEAR 1 BASELINE (12 MOS)</a:t>
                </a:r>
                <a:endParaRPr sz="6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458" name="Google Shape;1458;p35"/>
              <p:cNvSpPr txBox="1"/>
              <p:nvPr/>
            </p:nvSpPr>
            <p:spPr>
              <a:xfrm>
                <a:off x="2571750" y="76200"/>
                <a:ext cx="1143000" cy="1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50" b="1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YEAR 2 CONTROL (6 MOS)</a:t>
                </a:r>
                <a:endParaRPr sz="650" b="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1459" name="Google Shape;1459;p35"/>
              <p:cNvCxnSpPr/>
              <p:nvPr/>
            </p:nvCxnSpPr>
            <p:spPr>
              <a:xfrm>
                <a:off x="428625" y="247650"/>
                <a:ext cx="32385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60" name="Google Shape;1460;p35"/>
              <p:cNvCxnSpPr/>
              <p:nvPr/>
            </p:nvCxnSpPr>
            <p:spPr>
              <a:xfrm>
                <a:off x="428625" y="590550"/>
                <a:ext cx="32385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61" name="Google Shape;1461;p35"/>
              <p:cNvCxnSpPr/>
              <p:nvPr/>
            </p:nvCxnSpPr>
            <p:spPr>
              <a:xfrm>
                <a:off x="428625" y="933450"/>
                <a:ext cx="32385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62" name="Google Shape;1462;p35"/>
              <p:cNvCxnSpPr/>
              <p:nvPr/>
            </p:nvCxnSpPr>
            <p:spPr>
              <a:xfrm>
                <a:off x="428625" y="1276350"/>
                <a:ext cx="32385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63" name="Google Shape;1463;p35"/>
              <p:cNvCxnSpPr/>
              <p:nvPr/>
            </p:nvCxnSpPr>
            <p:spPr>
              <a:xfrm>
                <a:off x="428625" y="1619250"/>
                <a:ext cx="32385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64" name="Google Shape;1464;p35"/>
              <p:cNvCxnSpPr/>
              <p:nvPr/>
            </p:nvCxnSpPr>
            <p:spPr>
              <a:xfrm>
                <a:off x="428625" y="1962150"/>
                <a:ext cx="32385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1465" name="Google Shape;1465;p35"/>
              <p:cNvSpPr txBox="1"/>
              <p:nvPr/>
            </p:nvSpPr>
            <p:spPr>
              <a:xfrm>
                <a:off x="47625" y="190500"/>
                <a:ext cx="3333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50%</a:t>
                </a:r>
                <a:endParaRPr sz="600" b="1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466" name="Google Shape;1466;p35"/>
              <p:cNvSpPr txBox="1"/>
              <p:nvPr/>
            </p:nvSpPr>
            <p:spPr>
              <a:xfrm>
                <a:off x="47625" y="533400"/>
                <a:ext cx="3333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40%</a:t>
                </a:r>
                <a:endParaRPr sz="600" b="1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467" name="Google Shape;1467;p35"/>
              <p:cNvSpPr txBox="1"/>
              <p:nvPr/>
            </p:nvSpPr>
            <p:spPr>
              <a:xfrm>
                <a:off x="47625" y="876300"/>
                <a:ext cx="3333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30%</a:t>
                </a:r>
                <a:endParaRPr sz="600" b="1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468" name="Google Shape;1468;p35"/>
              <p:cNvSpPr txBox="1"/>
              <p:nvPr/>
            </p:nvSpPr>
            <p:spPr>
              <a:xfrm>
                <a:off x="47625" y="1219200"/>
                <a:ext cx="3333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20%</a:t>
                </a:r>
                <a:endParaRPr sz="600" b="1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469" name="Google Shape;1469;p35"/>
              <p:cNvSpPr txBox="1"/>
              <p:nvPr/>
            </p:nvSpPr>
            <p:spPr>
              <a:xfrm>
                <a:off x="47625" y="1562100"/>
                <a:ext cx="3333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10%</a:t>
                </a:r>
                <a:endParaRPr sz="600" b="1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470" name="Google Shape;1470;p35"/>
              <p:cNvSpPr txBox="1"/>
              <p:nvPr/>
            </p:nvSpPr>
            <p:spPr>
              <a:xfrm>
                <a:off x="47625" y="1905000"/>
                <a:ext cx="3333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00" b="1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0%</a:t>
                </a:r>
                <a:endParaRPr sz="600" b="1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cxnSp>
            <p:nvCxnSpPr>
              <p:cNvPr id="1471" name="Google Shape;1471;p35"/>
              <p:cNvCxnSpPr/>
              <p:nvPr/>
            </p:nvCxnSpPr>
            <p:spPr>
              <a:xfrm>
                <a:off x="428625" y="228600"/>
                <a:ext cx="0" cy="177180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72" name="Google Shape;1472;p35"/>
              <p:cNvCxnSpPr/>
              <p:nvPr/>
            </p:nvCxnSpPr>
            <p:spPr>
              <a:xfrm>
                <a:off x="428625" y="1962150"/>
                <a:ext cx="3238500" cy="0"/>
              </a:xfrm>
              <a:prstGeom prst="straightConnector1">
                <a:avLst/>
              </a:prstGeom>
              <a:solidFill>
                <a:srgbClr val="FFFFFF"/>
              </a:solidFill>
              <a:ln w="1430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pic>
            <p:nvPicPr>
              <p:cNvPr id="1473" name="Google Shape;1473;p35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505075" y="228600"/>
                <a:ext cx="19200" cy="1733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74" name="Google Shape;1474;p35"/>
              <p:cNvSpPr/>
              <p:nvPr/>
            </p:nvSpPr>
            <p:spPr>
              <a:xfrm>
                <a:off x="476250" y="704850"/>
                <a:ext cx="2914800" cy="876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36522"/>
                    </a:moveTo>
                    <a:lnTo>
                      <a:pt x="7059" y="15652"/>
                    </a:lnTo>
                    <a:lnTo>
                      <a:pt x="14118" y="67826"/>
                    </a:lnTo>
                    <a:lnTo>
                      <a:pt x="21176" y="0"/>
                    </a:lnTo>
                    <a:lnTo>
                      <a:pt x="28235" y="52174"/>
                    </a:lnTo>
                    <a:lnTo>
                      <a:pt x="35294" y="88696"/>
                    </a:lnTo>
                    <a:lnTo>
                      <a:pt x="42353" y="20870"/>
                    </a:lnTo>
                    <a:lnTo>
                      <a:pt x="49412" y="41739"/>
                    </a:lnTo>
                    <a:lnTo>
                      <a:pt x="56471" y="73043"/>
                    </a:lnTo>
                    <a:lnTo>
                      <a:pt x="63529" y="5217"/>
                    </a:lnTo>
                    <a:lnTo>
                      <a:pt x="70588" y="57391"/>
                    </a:lnTo>
                    <a:lnTo>
                      <a:pt x="77647" y="46957"/>
                    </a:lnTo>
                    <a:lnTo>
                      <a:pt x="84706" y="99130"/>
                    </a:lnTo>
                    <a:lnTo>
                      <a:pt x="91765" y="114783"/>
                    </a:lnTo>
                    <a:lnTo>
                      <a:pt x="98824" y="88696"/>
                    </a:lnTo>
                    <a:lnTo>
                      <a:pt x="105882" y="120000"/>
                    </a:lnTo>
                    <a:lnTo>
                      <a:pt x="112941" y="104348"/>
                    </a:lnTo>
                    <a:lnTo>
                      <a:pt x="120000" y="109565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0E1C5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35"/>
              <p:cNvSpPr/>
              <p:nvPr/>
            </p:nvSpPr>
            <p:spPr>
              <a:xfrm>
                <a:off x="442913" y="938213"/>
                <a:ext cx="66600" cy="66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35"/>
              <p:cNvSpPr/>
              <p:nvPr/>
            </p:nvSpPr>
            <p:spPr>
              <a:xfrm>
                <a:off x="614363" y="785813"/>
                <a:ext cx="66600" cy="66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35"/>
              <p:cNvSpPr/>
              <p:nvPr/>
            </p:nvSpPr>
            <p:spPr>
              <a:xfrm>
                <a:off x="785813" y="1166813"/>
                <a:ext cx="66600" cy="66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35"/>
              <p:cNvSpPr/>
              <p:nvPr/>
            </p:nvSpPr>
            <p:spPr>
              <a:xfrm>
                <a:off x="957263" y="671513"/>
                <a:ext cx="66600" cy="66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35"/>
              <p:cNvSpPr/>
              <p:nvPr/>
            </p:nvSpPr>
            <p:spPr>
              <a:xfrm>
                <a:off x="1128713" y="1052513"/>
                <a:ext cx="66600" cy="66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5"/>
              <p:cNvSpPr/>
              <p:nvPr/>
            </p:nvSpPr>
            <p:spPr>
              <a:xfrm>
                <a:off x="1300163" y="1319213"/>
                <a:ext cx="66600" cy="66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5"/>
              <p:cNvSpPr/>
              <p:nvPr/>
            </p:nvSpPr>
            <p:spPr>
              <a:xfrm>
                <a:off x="1471613" y="823913"/>
                <a:ext cx="66600" cy="66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35"/>
              <p:cNvSpPr/>
              <p:nvPr/>
            </p:nvSpPr>
            <p:spPr>
              <a:xfrm>
                <a:off x="1643063" y="976313"/>
                <a:ext cx="66600" cy="66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35"/>
              <p:cNvSpPr/>
              <p:nvPr/>
            </p:nvSpPr>
            <p:spPr>
              <a:xfrm>
                <a:off x="1814513" y="1204913"/>
                <a:ext cx="66600" cy="66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35"/>
              <p:cNvSpPr/>
              <p:nvPr/>
            </p:nvSpPr>
            <p:spPr>
              <a:xfrm>
                <a:off x="1985963" y="709613"/>
                <a:ext cx="66600" cy="66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35"/>
              <p:cNvSpPr/>
              <p:nvPr/>
            </p:nvSpPr>
            <p:spPr>
              <a:xfrm>
                <a:off x="2157413" y="1090613"/>
                <a:ext cx="66600" cy="66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5"/>
              <p:cNvSpPr/>
              <p:nvPr/>
            </p:nvSpPr>
            <p:spPr>
              <a:xfrm>
                <a:off x="2328863" y="1014413"/>
                <a:ext cx="66600" cy="66600"/>
              </a:xfrm>
              <a:prstGeom prst="ellipse">
                <a:avLst/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5"/>
              <p:cNvSpPr/>
              <p:nvPr/>
            </p:nvSpPr>
            <p:spPr>
              <a:xfrm>
                <a:off x="2500313" y="1395413"/>
                <a:ext cx="66600" cy="666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5"/>
              <p:cNvSpPr/>
              <p:nvPr/>
            </p:nvSpPr>
            <p:spPr>
              <a:xfrm>
                <a:off x="2671763" y="1509713"/>
                <a:ext cx="66600" cy="666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5"/>
              <p:cNvSpPr/>
              <p:nvPr/>
            </p:nvSpPr>
            <p:spPr>
              <a:xfrm>
                <a:off x="2843213" y="1319213"/>
                <a:ext cx="66600" cy="666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5"/>
              <p:cNvSpPr/>
              <p:nvPr/>
            </p:nvSpPr>
            <p:spPr>
              <a:xfrm>
                <a:off x="3014663" y="1547813"/>
                <a:ext cx="66600" cy="666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5"/>
              <p:cNvSpPr/>
              <p:nvPr/>
            </p:nvSpPr>
            <p:spPr>
              <a:xfrm>
                <a:off x="3186113" y="1433513"/>
                <a:ext cx="66600" cy="666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5"/>
              <p:cNvSpPr/>
              <p:nvPr/>
            </p:nvSpPr>
            <p:spPr>
              <a:xfrm>
                <a:off x="3357563" y="1471613"/>
                <a:ext cx="66600" cy="66600"/>
              </a:xfrm>
              <a:prstGeom prst="ellipse">
                <a:avLst/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5"/>
              <p:cNvSpPr txBox="1"/>
              <p:nvPr/>
            </p:nvSpPr>
            <p:spPr>
              <a:xfrm>
                <a:off x="400050" y="2019300"/>
                <a:ext cx="1716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50" b="0">
                    <a:solidFill>
                      <a:srgbClr val="475569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M1</a:t>
                </a:r>
                <a:endParaRPr sz="550" b="0">
                  <a:solidFill>
                    <a:srgbClr val="475569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1494" name="Google Shape;1494;p35"/>
              <p:cNvSpPr txBox="1"/>
              <p:nvPr/>
            </p:nvSpPr>
            <p:spPr>
              <a:xfrm>
                <a:off x="742950" y="2019300"/>
                <a:ext cx="1716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50" b="0">
                    <a:solidFill>
                      <a:srgbClr val="475569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M3</a:t>
                </a:r>
                <a:endParaRPr sz="550" b="0">
                  <a:solidFill>
                    <a:srgbClr val="475569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1495" name="Google Shape;1495;p35"/>
              <p:cNvSpPr txBox="1"/>
              <p:nvPr/>
            </p:nvSpPr>
            <p:spPr>
              <a:xfrm>
                <a:off x="1085850" y="2019300"/>
                <a:ext cx="1716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50" b="0">
                    <a:solidFill>
                      <a:srgbClr val="475569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M5</a:t>
                </a:r>
                <a:endParaRPr sz="550" b="0">
                  <a:solidFill>
                    <a:srgbClr val="475569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1496" name="Google Shape;1496;p35"/>
              <p:cNvSpPr txBox="1"/>
              <p:nvPr/>
            </p:nvSpPr>
            <p:spPr>
              <a:xfrm>
                <a:off x="1428750" y="2019300"/>
                <a:ext cx="1716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50" b="0">
                    <a:solidFill>
                      <a:srgbClr val="475569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M7</a:t>
                </a:r>
                <a:endParaRPr sz="550" b="0">
                  <a:solidFill>
                    <a:srgbClr val="475569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1497" name="Google Shape;1497;p35"/>
              <p:cNvSpPr txBox="1"/>
              <p:nvPr/>
            </p:nvSpPr>
            <p:spPr>
              <a:xfrm>
                <a:off x="1771650" y="2019300"/>
                <a:ext cx="1716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50" b="0">
                    <a:solidFill>
                      <a:srgbClr val="475569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M9</a:t>
                </a:r>
                <a:endParaRPr sz="550" b="0">
                  <a:solidFill>
                    <a:srgbClr val="475569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1498" name="Google Shape;1498;p35"/>
              <p:cNvSpPr txBox="1"/>
              <p:nvPr/>
            </p:nvSpPr>
            <p:spPr>
              <a:xfrm>
                <a:off x="2105025" y="2019300"/>
                <a:ext cx="1905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50" b="0">
                    <a:solidFill>
                      <a:srgbClr val="475569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M11</a:t>
                </a:r>
                <a:endParaRPr sz="550" b="0">
                  <a:solidFill>
                    <a:srgbClr val="475569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1499" name="Google Shape;1499;p35"/>
              <p:cNvSpPr txBox="1"/>
              <p:nvPr/>
            </p:nvSpPr>
            <p:spPr>
              <a:xfrm>
                <a:off x="2447925" y="2019300"/>
                <a:ext cx="1905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50" b="0">
                    <a:solidFill>
                      <a:srgbClr val="475569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M13</a:t>
                </a:r>
                <a:endParaRPr sz="550" b="0">
                  <a:solidFill>
                    <a:srgbClr val="475569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1500" name="Google Shape;1500;p35"/>
              <p:cNvSpPr txBox="1"/>
              <p:nvPr/>
            </p:nvSpPr>
            <p:spPr>
              <a:xfrm>
                <a:off x="2790825" y="2019300"/>
                <a:ext cx="1905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50" b="0">
                    <a:solidFill>
                      <a:srgbClr val="475569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M15</a:t>
                </a:r>
                <a:endParaRPr sz="550" b="0">
                  <a:solidFill>
                    <a:srgbClr val="475569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sp>
            <p:nvSpPr>
              <p:cNvPr id="1501" name="Google Shape;1501;p35"/>
              <p:cNvSpPr txBox="1"/>
              <p:nvPr/>
            </p:nvSpPr>
            <p:spPr>
              <a:xfrm>
                <a:off x="3133725" y="2019300"/>
                <a:ext cx="1905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50" b="0">
                    <a:solidFill>
                      <a:srgbClr val="475569"/>
                    </a:solidFill>
                    <a:latin typeface="Work Sans Medium"/>
                    <a:ea typeface="Work Sans Medium"/>
                    <a:cs typeface="Work Sans Medium"/>
                    <a:sym typeface="Work Sans Medium"/>
                  </a:rPr>
                  <a:t>M17</a:t>
                </a:r>
                <a:endParaRPr sz="550" b="0">
                  <a:solidFill>
                    <a:srgbClr val="475569"/>
                  </a:solidFill>
                  <a:latin typeface="Work Sans Medium"/>
                  <a:ea typeface="Work Sans Medium"/>
                  <a:cs typeface="Work Sans Medium"/>
                  <a:sym typeface="Work Sans Medium"/>
                </a:endParaRPr>
              </a:p>
            </p:txBody>
          </p:sp>
          <p:grpSp>
            <p:nvGrpSpPr>
              <p:cNvPr id="1502" name="Google Shape;1502;p35"/>
              <p:cNvGrpSpPr/>
              <p:nvPr/>
            </p:nvGrpSpPr>
            <p:grpSpPr>
              <a:xfrm>
                <a:off x="142875" y="2266950"/>
                <a:ext cx="3524400" cy="952500"/>
                <a:chOff x="0" y="0"/>
                <a:chExt cx="3524400" cy="952500"/>
              </a:xfrm>
            </p:grpSpPr>
            <p:sp>
              <p:nvSpPr>
                <p:cNvPr id="1503" name="Google Shape;1503;p35"/>
                <p:cNvSpPr/>
                <p:nvPr/>
              </p:nvSpPr>
              <p:spPr>
                <a:xfrm>
                  <a:off x="0" y="0"/>
                  <a:ext cx="3524400" cy="952500"/>
                </a:xfrm>
                <a:prstGeom prst="roundRect">
                  <a:avLst>
                    <a:gd name="adj" fmla="val 4000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CBD5E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4" name="Google Shape;1504;p35"/>
                <p:cNvSpPr txBox="1"/>
                <p:nvPr/>
              </p:nvSpPr>
              <p:spPr>
                <a:xfrm>
                  <a:off x="114300" y="76200"/>
                  <a:ext cx="3295800" cy="800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65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CONTROL LIMIT FORMULATION (3-SIGMA):</a:t>
                  </a:r>
                  <a:endParaRPr sz="6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lang="en" sz="75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UCL / LCL = p-bar ± 3 * sqrt( p-bar * (1 - p-bar) / n )</a:t>
                  </a:r>
                  <a:endParaRPr sz="750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lvl="0" indent="0" algn="l" rtl="0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lang="en" sz="650" b="0">
                      <a:solidFill>
                        <a:srgbClr val="64748B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Monitors binary churn outcomes to establish continuous statistical process stability across observation windows.</a:t>
                  </a:r>
                  <a:endParaRPr sz="650" b="0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</p:grpSp>
      </p:grpSp>
      <p:grpSp>
        <p:nvGrpSpPr>
          <p:cNvPr id="1505" name="Google Shape;1505;p35"/>
          <p:cNvGrpSpPr/>
          <p:nvPr/>
        </p:nvGrpSpPr>
        <p:grpSpPr>
          <a:xfrm>
            <a:off x="4743450" y="1028700"/>
            <a:ext cx="3886200" cy="3695700"/>
            <a:chOff x="0" y="0"/>
            <a:chExt cx="3886200" cy="3695700"/>
          </a:xfrm>
        </p:grpSpPr>
        <p:grpSp>
          <p:nvGrpSpPr>
            <p:cNvPr id="1506" name="Google Shape;1506;p35"/>
            <p:cNvGrpSpPr/>
            <p:nvPr/>
          </p:nvGrpSpPr>
          <p:grpSpPr>
            <a:xfrm>
              <a:off x="0" y="0"/>
              <a:ext cx="3886200" cy="685800"/>
              <a:chOff x="0" y="0"/>
              <a:chExt cx="3886200" cy="685800"/>
            </a:xfrm>
          </p:grpSpPr>
          <p:sp>
            <p:nvSpPr>
              <p:cNvPr id="1507" name="Google Shape;1507;p35"/>
              <p:cNvSpPr/>
              <p:nvPr/>
            </p:nvSpPr>
            <p:spPr>
              <a:xfrm>
                <a:off x="0" y="0"/>
                <a:ext cx="3886200" cy="685800"/>
              </a:xfrm>
              <a:prstGeom prst="roundRect">
                <a:avLst>
                  <a:gd name="adj" fmla="val 8333"/>
                </a:avLst>
              </a:prstGeom>
              <a:solidFill>
                <a:srgbClr val="F8F9FA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35"/>
              <p:cNvSpPr txBox="1"/>
              <p:nvPr/>
            </p:nvSpPr>
            <p:spPr>
              <a:xfrm>
                <a:off x="133350" y="95250"/>
                <a:ext cx="36195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94" b="0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Statistical Process Control P-Charts validate a stable, sustained reduction in monthly churn following countermeasure implementation.</a:t>
                </a:r>
                <a:endParaRPr sz="694" b="0">
                  <a:solidFill>
                    <a:srgbClr val="3341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lang="en" sz="694" b="0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The Control phase utilized a P-Chart to monitor binary churn against 3-sigma limits (UCL/LCL = p-bar ± 3*sqrt(p-bar*(1-p-bar)/n)).</a:t>
                </a:r>
                <a:endParaRPr sz="694" b="0">
                  <a:solidFill>
                    <a:srgbClr val="3341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509" name="Google Shape;1509;p35"/>
            <p:cNvGrpSpPr/>
            <p:nvPr/>
          </p:nvGrpSpPr>
          <p:grpSpPr>
            <a:xfrm>
              <a:off x="0" y="800100"/>
              <a:ext cx="3886200" cy="590700"/>
              <a:chOff x="0" y="0"/>
              <a:chExt cx="3886200" cy="590700"/>
            </a:xfrm>
          </p:grpSpPr>
          <p:sp>
            <p:nvSpPr>
              <p:cNvPr id="1510" name="Google Shape;1510;p35"/>
              <p:cNvSpPr/>
              <p:nvPr/>
            </p:nvSpPr>
            <p:spPr>
              <a:xfrm>
                <a:off x="0" y="0"/>
                <a:ext cx="3886200" cy="590700"/>
              </a:xfrm>
              <a:prstGeom prst="roundRect">
                <a:avLst>
                  <a:gd name="adj" fmla="val 6451"/>
                </a:avLst>
              </a:prstGeom>
              <a:solidFill>
                <a:srgbClr val="F8F9FA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5"/>
              <p:cNvSpPr/>
              <p:nvPr/>
            </p:nvSpPr>
            <p:spPr>
              <a:xfrm>
                <a:off x="0" y="0"/>
                <a:ext cx="38100" cy="590700"/>
              </a:xfrm>
              <a:prstGeom prst="roundRect">
                <a:avLst>
                  <a:gd name="adj" fmla="val 50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5"/>
              <p:cNvSpPr txBox="1"/>
              <p:nvPr/>
            </p:nvSpPr>
            <p:spPr>
              <a:xfrm>
                <a:off x="152400" y="76200"/>
                <a:ext cx="36006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YEAR 1 BASELINE (12 MONTHS)</a:t>
                </a:r>
                <a:endParaRPr sz="75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Average churn was </a:t>
                </a:r>
                <a:r>
                  <a:rPr lang="en"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26.9%</a:t>
                </a:r>
                <a:r>
                  <a:rPr lang="en" sz="750" b="0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, with an upper control limit (UCL) of </a:t>
                </a:r>
                <a:r>
                  <a:rPr lang="en" sz="750" b="1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~40.0%</a:t>
                </a:r>
                <a:r>
                  <a:rPr lang="en" sz="750" b="0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and a lower control limit (LCL) of </a:t>
                </a:r>
                <a:r>
                  <a:rPr lang="en" sz="750" b="1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~13.8%</a:t>
                </a:r>
                <a:r>
                  <a:rPr lang="en" sz="750" b="0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.</a:t>
                </a:r>
                <a:endParaRPr sz="750" b="0">
                  <a:solidFill>
                    <a:srgbClr val="3341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513" name="Google Shape;1513;p35"/>
            <p:cNvGrpSpPr/>
            <p:nvPr/>
          </p:nvGrpSpPr>
          <p:grpSpPr>
            <a:xfrm>
              <a:off x="0" y="1485900"/>
              <a:ext cx="3886200" cy="590700"/>
              <a:chOff x="0" y="0"/>
              <a:chExt cx="3886200" cy="590700"/>
            </a:xfrm>
          </p:grpSpPr>
          <p:sp>
            <p:nvSpPr>
              <p:cNvPr id="1514" name="Google Shape;1514;p35"/>
              <p:cNvSpPr/>
              <p:nvPr/>
            </p:nvSpPr>
            <p:spPr>
              <a:xfrm>
                <a:off x="0" y="0"/>
                <a:ext cx="3886200" cy="590700"/>
              </a:xfrm>
              <a:prstGeom prst="roundRect">
                <a:avLst>
                  <a:gd name="adj" fmla="val 6451"/>
                </a:avLst>
              </a:prstGeom>
              <a:solidFill>
                <a:srgbClr val="FDF2F5"/>
              </a:solidFill>
              <a:ln w="9525" cap="flat" cmpd="sng">
                <a:solidFill>
                  <a:srgbClr val="FCE7F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5"/>
              <p:cNvSpPr/>
              <p:nvPr/>
            </p:nvSpPr>
            <p:spPr>
              <a:xfrm>
                <a:off x="0" y="0"/>
                <a:ext cx="38100" cy="590700"/>
              </a:xfrm>
              <a:prstGeom prst="roundRect">
                <a:avLst>
                  <a:gd name="adj" fmla="val 50000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35"/>
              <p:cNvSpPr txBox="1"/>
              <p:nvPr/>
            </p:nvSpPr>
            <p:spPr>
              <a:xfrm>
                <a:off x="152400" y="76200"/>
                <a:ext cx="36006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YEAR 2 CONTROL (6 MONTHS POST-IMPROVEMENT)</a:t>
                </a:r>
                <a:endParaRPr sz="75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Average churn dropped to </a:t>
                </a:r>
                <a:r>
                  <a:rPr lang="en" sz="75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14.7%</a:t>
                </a:r>
                <a:r>
                  <a:rPr lang="en" sz="750" b="0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, with a UCL of </a:t>
                </a:r>
                <a:r>
                  <a:rPr lang="en" sz="750" b="1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~25.5%</a:t>
                </a:r>
                <a:r>
                  <a:rPr lang="en" sz="750" b="0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 and an LCL of </a:t>
                </a:r>
                <a:r>
                  <a:rPr lang="en" sz="750" b="1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~4.0%</a:t>
                </a:r>
                <a:r>
                  <a:rPr lang="en" sz="750" b="0">
                    <a:solidFill>
                      <a:srgbClr val="334155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.</a:t>
                </a:r>
                <a:endParaRPr sz="750" b="0">
                  <a:solidFill>
                    <a:srgbClr val="334155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517" name="Google Shape;1517;p35"/>
            <p:cNvGrpSpPr/>
            <p:nvPr/>
          </p:nvGrpSpPr>
          <p:grpSpPr>
            <a:xfrm>
              <a:off x="0" y="2171700"/>
              <a:ext cx="3886200" cy="705000"/>
              <a:chOff x="0" y="0"/>
              <a:chExt cx="3886200" cy="705000"/>
            </a:xfrm>
          </p:grpSpPr>
          <p:grpSp>
            <p:nvGrpSpPr>
              <p:cNvPr id="1518" name="Google Shape;1518;p35"/>
              <p:cNvGrpSpPr/>
              <p:nvPr/>
            </p:nvGrpSpPr>
            <p:grpSpPr>
              <a:xfrm>
                <a:off x="0" y="0"/>
                <a:ext cx="1866900" cy="705000"/>
                <a:chOff x="0" y="0"/>
                <a:chExt cx="1866900" cy="705000"/>
              </a:xfrm>
            </p:grpSpPr>
            <p:sp>
              <p:nvSpPr>
                <p:cNvPr id="1519" name="Google Shape;1519;p35"/>
                <p:cNvSpPr/>
                <p:nvPr/>
              </p:nvSpPr>
              <p:spPr>
                <a:xfrm>
                  <a:off x="0" y="0"/>
                  <a:ext cx="1866900" cy="705000"/>
                </a:xfrm>
                <a:prstGeom prst="roundRect">
                  <a:avLst>
                    <a:gd name="adj" fmla="val 8108"/>
                  </a:avLst>
                </a:prstGeom>
                <a:solidFill>
                  <a:srgbClr val="F8F9FA"/>
                </a:solidFill>
                <a:ln w="9525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0" name="Google Shape;1520;p35"/>
                <p:cNvSpPr txBox="1"/>
                <p:nvPr/>
              </p:nvSpPr>
              <p:spPr>
                <a:xfrm>
                  <a:off x="114300" y="76200"/>
                  <a:ext cx="1638300" cy="552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2000" b="1">
                      <a:solidFill>
                        <a:srgbClr val="A60042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14.7%</a:t>
                  </a:r>
                  <a:endParaRPr sz="20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100"/>
                    </a:spcBef>
                    <a:spcAft>
                      <a:spcPts val="0"/>
                    </a:spcAft>
                    <a:buNone/>
                  </a:pPr>
                  <a:r>
                    <a:rPr lang="en" sz="750" b="0">
                      <a:solidFill>
                        <a:srgbClr val="475569"/>
                      </a:solidFill>
                      <a:latin typeface="Work Sans SemiBold"/>
                      <a:ea typeface="Work Sans SemiBold"/>
                      <a:cs typeface="Work Sans SemiBold"/>
                      <a:sym typeface="Work Sans SemiBold"/>
                    </a:rPr>
                    <a:t>New Average Churn Rate</a:t>
                  </a:r>
                  <a:endParaRPr sz="750" b="0">
                    <a:solidFill>
                      <a:srgbClr val="475569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endParaRPr>
                </a:p>
              </p:txBody>
            </p:sp>
          </p:grpSp>
          <p:grpSp>
            <p:nvGrpSpPr>
              <p:cNvPr id="1521" name="Google Shape;1521;p35"/>
              <p:cNvGrpSpPr/>
              <p:nvPr/>
            </p:nvGrpSpPr>
            <p:grpSpPr>
              <a:xfrm>
                <a:off x="2019300" y="0"/>
                <a:ext cx="1866900" cy="705000"/>
                <a:chOff x="0" y="0"/>
                <a:chExt cx="1866900" cy="705000"/>
              </a:xfrm>
            </p:grpSpPr>
            <p:sp>
              <p:nvSpPr>
                <p:cNvPr id="1522" name="Google Shape;1522;p35"/>
                <p:cNvSpPr/>
                <p:nvPr/>
              </p:nvSpPr>
              <p:spPr>
                <a:xfrm>
                  <a:off x="0" y="0"/>
                  <a:ext cx="1866900" cy="705000"/>
                </a:xfrm>
                <a:prstGeom prst="roundRect">
                  <a:avLst>
                    <a:gd name="adj" fmla="val 8108"/>
                  </a:avLst>
                </a:prstGeom>
                <a:solidFill>
                  <a:srgbClr val="F8F9FA"/>
                </a:solidFill>
                <a:ln w="9525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3" name="Google Shape;1523;p35"/>
                <p:cNvSpPr txBox="1"/>
                <p:nvPr/>
              </p:nvSpPr>
              <p:spPr>
                <a:xfrm>
                  <a:off x="114300" y="76200"/>
                  <a:ext cx="1638300" cy="552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0 Violations</a:t>
                  </a:r>
                  <a:endParaRPr sz="1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100"/>
                    </a:spcBef>
                    <a:spcAft>
                      <a:spcPts val="0"/>
                    </a:spcAft>
                    <a:buNone/>
                  </a:pPr>
                  <a:r>
                    <a:rPr lang="en" sz="750" b="0">
                      <a:solidFill>
                        <a:srgbClr val="475569"/>
                      </a:solidFill>
                      <a:latin typeface="Work Sans SemiBold"/>
                      <a:ea typeface="Work Sans SemiBold"/>
                      <a:cs typeface="Work Sans SemiBold"/>
                      <a:sym typeface="Work Sans SemiBold"/>
                    </a:rPr>
                    <a:t>Strict Control (Zero Nelson Rules)</a:t>
                  </a:r>
                  <a:endParaRPr sz="750" b="0">
                    <a:solidFill>
                      <a:srgbClr val="475569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endParaRPr>
                </a:p>
              </p:txBody>
            </p:sp>
          </p:grpSp>
        </p:grpSp>
        <p:grpSp>
          <p:nvGrpSpPr>
            <p:cNvPr id="1524" name="Google Shape;1524;p35"/>
            <p:cNvGrpSpPr/>
            <p:nvPr/>
          </p:nvGrpSpPr>
          <p:grpSpPr>
            <a:xfrm>
              <a:off x="0" y="2971800"/>
              <a:ext cx="3886200" cy="723900"/>
              <a:chOff x="0" y="0"/>
              <a:chExt cx="3886200" cy="723900"/>
            </a:xfrm>
          </p:grpSpPr>
          <p:sp>
            <p:nvSpPr>
              <p:cNvPr id="1525" name="Google Shape;1525;p35"/>
              <p:cNvSpPr/>
              <p:nvPr/>
            </p:nvSpPr>
            <p:spPr>
              <a:xfrm>
                <a:off x="0" y="0"/>
                <a:ext cx="3886200" cy="723900"/>
              </a:xfrm>
              <a:prstGeom prst="roundRect">
                <a:avLst>
                  <a:gd name="adj" fmla="val 7894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5"/>
              <p:cNvSpPr/>
              <p:nvPr/>
            </p:nvSpPr>
            <p:spPr>
              <a:xfrm>
                <a:off x="0" y="0"/>
                <a:ext cx="954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9474"/>
                    </a:moveTo>
                    <a:cubicBezTo>
                      <a:pt x="0" y="4232"/>
                      <a:pt x="32160" y="0"/>
                      <a:pt x="72000" y="0"/>
                    </a:cubicBezTo>
                    <a:lnTo>
                      <a:pt x="120000" y="0"/>
                    </a:lnTo>
                    <a:lnTo>
                      <a:pt x="120000" y="120000"/>
                    </a:lnTo>
                    <a:lnTo>
                      <a:pt x="72000" y="120000"/>
                    </a:lnTo>
                    <a:cubicBezTo>
                      <a:pt x="32160" y="120000"/>
                      <a:pt x="0" y="115768"/>
                      <a:pt x="0" y="110526"/>
                    </a:cubicBezTo>
                    <a:close/>
                  </a:path>
                </a:pathLst>
              </a:cu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35"/>
              <p:cNvSpPr txBox="1"/>
              <p:nvPr/>
            </p:nvSpPr>
            <p:spPr>
              <a:xfrm>
                <a:off x="190500" y="95250"/>
                <a:ext cx="35622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FFB3C6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Process Stability Achieved:</a:t>
                </a:r>
                <a:endParaRPr sz="800" b="1">
                  <a:solidFill>
                    <a:srgbClr val="FFB3C6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750" b="0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Continuous monitoring verifies that post-improvement interventions permanently shifted the process baseline below the target 15% churn threshold.</a:t>
                </a:r>
                <a:endParaRPr sz="750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36"/>
          <p:cNvSpPr/>
          <p:nvPr/>
        </p:nvSpPr>
        <p:spPr>
          <a:xfrm>
            <a:off x="4828975" y="0"/>
            <a:ext cx="4314900" cy="51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E1C5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33" name="Google Shape;1533;p36"/>
          <p:cNvGrpSpPr/>
          <p:nvPr/>
        </p:nvGrpSpPr>
        <p:grpSpPr>
          <a:xfrm>
            <a:off x="514350" y="619125"/>
            <a:ext cx="3953025" cy="3810150"/>
            <a:chOff x="514350" y="619125"/>
            <a:chExt cx="3953025" cy="3810150"/>
          </a:xfrm>
        </p:grpSpPr>
        <p:sp>
          <p:nvSpPr>
            <p:cNvPr id="1534" name="Google Shape;1534;p36"/>
            <p:cNvSpPr txBox="1"/>
            <p:nvPr/>
          </p:nvSpPr>
          <p:spPr>
            <a:xfrm>
              <a:off x="514350" y="619125"/>
              <a:ext cx="39528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80" b="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PROJECT IMPACT</a:t>
              </a:r>
              <a:endParaRPr sz="248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80" b="0">
                  <a:solidFill>
                    <a:srgbClr val="A60042"/>
                  </a:solidFill>
                  <a:latin typeface="Anton"/>
                  <a:ea typeface="Anton"/>
                  <a:cs typeface="Anton"/>
                  <a:sym typeface="Anton"/>
                </a:rPr>
                <a:t>45.2% CHURN REDUCTION</a:t>
              </a:r>
              <a:endParaRPr sz="2480" b="0">
                <a:solidFill>
                  <a:srgbClr val="A60042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sp>
          <p:nvSpPr>
            <p:cNvPr id="1535" name="Google Shape;1535;p36"/>
            <p:cNvSpPr txBox="1"/>
            <p:nvPr/>
          </p:nvSpPr>
          <p:spPr>
            <a:xfrm>
              <a:off x="514350" y="1476375"/>
              <a:ext cx="39528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The DMAIC methodology successfully reduced member churn by 45.2%, achieving the sub-15% target and improving process capability.</a:t>
              </a:r>
              <a:endParaRPr sz="900" b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536" name="Google Shape;1536;p36"/>
            <p:cNvSpPr txBox="1"/>
            <p:nvPr/>
          </p:nvSpPr>
          <p:spPr>
            <a:xfrm>
              <a:off x="514350" y="2095500"/>
              <a:ext cx="39528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Performance Comparison</a:t>
              </a:r>
              <a:endParaRPr sz="130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537" name="Google Shape;1537;p36"/>
            <p:cNvGrpSpPr/>
            <p:nvPr/>
          </p:nvGrpSpPr>
          <p:grpSpPr>
            <a:xfrm>
              <a:off x="514350" y="2381250"/>
              <a:ext cx="1886100" cy="1428900"/>
              <a:chOff x="0" y="0"/>
              <a:chExt cx="1886100" cy="1428900"/>
            </a:xfrm>
          </p:grpSpPr>
          <p:sp>
            <p:nvSpPr>
              <p:cNvPr id="1538" name="Google Shape;1538;p36"/>
              <p:cNvSpPr/>
              <p:nvPr/>
            </p:nvSpPr>
            <p:spPr>
              <a:xfrm>
                <a:off x="0" y="0"/>
                <a:ext cx="1886100" cy="1428900"/>
              </a:xfrm>
              <a:prstGeom prst="roundRect">
                <a:avLst>
                  <a:gd name="adj" fmla="val 2666"/>
                </a:avLst>
              </a:prstGeom>
              <a:solidFill>
                <a:srgbClr val="F4F5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36"/>
              <p:cNvSpPr/>
              <p:nvPr/>
            </p:nvSpPr>
            <p:spPr>
              <a:xfrm>
                <a:off x="0" y="0"/>
                <a:ext cx="1886100" cy="57300"/>
              </a:xfrm>
              <a:prstGeom prst="roundRect">
                <a:avLst>
                  <a:gd name="adj" fmla="val 33333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6"/>
              <p:cNvSpPr txBox="1"/>
              <p:nvPr/>
            </p:nvSpPr>
            <p:spPr>
              <a:xfrm>
                <a:off x="142875" y="152400"/>
                <a:ext cx="16002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BEFORE (BASELINE)</a:t>
                </a:r>
                <a:endParaRPr sz="10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" sz="22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26.9%</a:t>
                </a:r>
                <a:endParaRPr sz="2200" b="1">
                  <a:solidFill>
                    <a:srgbClr val="0E1C5D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555555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Monthly Churn</a:t>
                </a:r>
                <a:endParaRPr sz="800" b="0">
                  <a:solidFill>
                    <a:srgbClr val="555555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" sz="900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Sigma Level: </a:t>
                </a:r>
                <a:r>
                  <a:rPr lang="en" sz="900" b="1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~2.1</a:t>
                </a:r>
                <a:endParaRPr sz="90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541" name="Google Shape;1541;p36"/>
            <p:cNvGrpSpPr/>
            <p:nvPr/>
          </p:nvGrpSpPr>
          <p:grpSpPr>
            <a:xfrm>
              <a:off x="2581275" y="2381250"/>
              <a:ext cx="1886100" cy="1428900"/>
              <a:chOff x="0" y="0"/>
              <a:chExt cx="1886100" cy="1428900"/>
            </a:xfrm>
          </p:grpSpPr>
          <p:sp>
            <p:nvSpPr>
              <p:cNvPr id="1542" name="Google Shape;1542;p36"/>
              <p:cNvSpPr/>
              <p:nvPr/>
            </p:nvSpPr>
            <p:spPr>
              <a:xfrm>
                <a:off x="0" y="0"/>
                <a:ext cx="1886100" cy="1428900"/>
              </a:xfrm>
              <a:prstGeom prst="roundRect">
                <a:avLst>
                  <a:gd name="adj" fmla="val 2666"/>
                </a:avLst>
              </a:prstGeom>
              <a:solidFill>
                <a:srgbClr val="FDF2F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36"/>
              <p:cNvSpPr/>
              <p:nvPr/>
            </p:nvSpPr>
            <p:spPr>
              <a:xfrm>
                <a:off x="0" y="0"/>
                <a:ext cx="1886100" cy="57300"/>
              </a:xfrm>
              <a:prstGeom prst="roundRect">
                <a:avLst>
                  <a:gd name="adj" fmla="val 33333"/>
                </a:avLst>
              </a:prstGeom>
              <a:solidFill>
                <a:srgbClr val="A60042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6"/>
              <p:cNvSpPr txBox="1"/>
              <p:nvPr/>
            </p:nvSpPr>
            <p:spPr>
              <a:xfrm>
                <a:off x="142875" y="152400"/>
                <a:ext cx="16002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AFTER (DMAIC)</a:t>
                </a:r>
                <a:endParaRPr sz="10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" sz="2200" b="1">
                    <a:solidFill>
                      <a:srgbClr val="A60042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14.7%</a:t>
                </a:r>
                <a:endParaRPr sz="22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0">
                    <a:solidFill>
                      <a:srgbClr val="555555"/>
                    </a:solidFill>
                    <a:latin typeface="Work Sans SemiBold"/>
                    <a:ea typeface="Work Sans SemiBold"/>
                    <a:cs typeface="Work Sans SemiBold"/>
                    <a:sym typeface="Work Sans SemiBold"/>
                  </a:rPr>
                  <a:t>Monthly Churn (&lt;15% Goal)</a:t>
                </a:r>
                <a:endParaRPr sz="800" b="0">
                  <a:solidFill>
                    <a:srgbClr val="555555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endParaRPr>
              </a:p>
              <a:p>
                <a:pPr marL="0" lvl="0" indent="0" algn="l" rtl="0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en" sz="900" b="0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Sigma Level: </a:t>
                </a:r>
                <a:r>
                  <a:rPr lang="en" sz="900" b="1">
                    <a:solidFill>
                      <a:srgbClr val="000000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~2.6</a:t>
                </a:r>
                <a:endParaRPr sz="900" b="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  <p:grpSp>
          <p:nvGrpSpPr>
            <p:cNvPr id="1545" name="Google Shape;1545;p36"/>
            <p:cNvGrpSpPr/>
            <p:nvPr/>
          </p:nvGrpSpPr>
          <p:grpSpPr>
            <a:xfrm>
              <a:off x="514350" y="3952875"/>
              <a:ext cx="3952800" cy="476400"/>
              <a:chOff x="0" y="0"/>
              <a:chExt cx="3952800" cy="476400"/>
            </a:xfrm>
          </p:grpSpPr>
          <p:sp>
            <p:nvSpPr>
              <p:cNvPr id="1546" name="Google Shape;1546;p36"/>
              <p:cNvSpPr/>
              <p:nvPr/>
            </p:nvSpPr>
            <p:spPr>
              <a:xfrm>
                <a:off x="0" y="0"/>
                <a:ext cx="3952800" cy="476400"/>
              </a:xfrm>
              <a:prstGeom prst="roundRect">
                <a:avLst>
                  <a:gd name="adj" fmla="val 8000"/>
                </a:avLst>
              </a:prstGeom>
              <a:solidFill>
                <a:srgbClr val="0E1C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36"/>
              <p:cNvSpPr txBox="1"/>
              <p:nvPr/>
            </p:nvSpPr>
            <p:spPr>
              <a:xfrm>
                <a:off x="142875" y="95250"/>
                <a:ext cx="36672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0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Monthly churn was reduced from 26.9% to 14.7% (a 45.2% relative reduction), successfully achieving the &lt;15% project goal.</a:t>
                </a:r>
                <a:endParaRPr sz="900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  <p:grpSp>
        <p:nvGrpSpPr>
          <p:cNvPr id="1548" name="Google Shape;1548;p36"/>
          <p:cNvGrpSpPr/>
          <p:nvPr/>
        </p:nvGrpSpPr>
        <p:grpSpPr>
          <a:xfrm>
            <a:off x="5191125" y="619125"/>
            <a:ext cx="3524400" cy="3810000"/>
            <a:chOff x="5191125" y="619125"/>
            <a:chExt cx="3524400" cy="3810000"/>
          </a:xfrm>
        </p:grpSpPr>
        <p:pic>
          <p:nvPicPr>
            <p:cNvPr id="1549" name="Google Shape;1549;p36"/>
            <p:cNvPicPr preferRelativeResize="0"/>
            <p:nvPr/>
          </p:nvPicPr>
          <p:blipFill rotWithShape="1">
            <a:blip r:embed="rId3">
              <a:alphaModFix amt="90000"/>
            </a:blip>
            <a:srcRect t="25000" b="25000"/>
            <a:stretch/>
          </p:blipFill>
          <p:spPr>
            <a:xfrm>
              <a:off x="5191125" y="619125"/>
              <a:ext cx="3524400" cy="1762200"/>
            </a:xfrm>
            <a:prstGeom prst="roundRect">
              <a:avLst>
                <a:gd name="adj" fmla="val 2162"/>
              </a:avLst>
            </a:prstGeom>
            <a:noFill/>
            <a:ln>
              <a:noFill/>
            </a:ln>
          </p:spPr>
        </p:pic>
        <p:grpSp>
          <p:nvGrpSpPr>
            <p:cNvPr id="1550" name="Google Shape;1550;p36"/>
            <p:cNvGrpSpPr/>
            <p:nvPr/>
          </p:nvGrpSpPr>
          <p:grpSpPr>
            <a:xfrm>
              <a:off x="5191125" y="2524125"/>
              <a:ext cx="3524400" cy="1905000"/>
              <a:chOff x="0" y="0"/>
              <a:chExt cx="3524400" cy="1905000"/>
            </a:xfrm>
          </p:grpSpPr>
          <p:sp>
            <p:nvSpPr>
              <p:cNvPr id="1551" name="Google Shape;1551;p36"/>
              <p:cNvSpPr/>
              <p:nvPr/>
            </p:nvSpPr>
            <p:spPr>
              <a:xfrm>
                <a:off x="0" y="0"/>
                <a:ext cx="3524400" cy="1905000"/>
              </a:xfrm>
              <a:prstGeom prst="roundRect">
                <a:avLst>
                  <a:gd name="adj" fmla="val 2000"/>
                </a:avLst>
              </a:prstGeom>
              <a:solidFill>
                <a:srgbClr val="152673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36"/>
              <p:cNvSpPr txBox="1"/>
              <p:nvPr/>
            </p:nvSpPr>
            <p:spPr>
              <a:xfrm>
                <a:off x="190500" y="171450"/>
                <a:ext cx="31434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1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STRATEGIC RECOMMENDATIONS</a:t>
                </a:r>
                <a:endParaRPr sz="13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  <p:sp>
            <p:nvSpPr>
              <p:cNvPr id="1553" name="Google Shape;1553;p36"/>
              <p:cNvSpPr txBox="1"/>
              <p:nvPr/>
            </p:nvSpPr>
            <p:spPr>
              <a:xfrm>
                <a:off x="190500" y="457200"/>
                <a:ext cx="31434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457200" lvl="0" indent="-310833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95"/>
                  <a:buChar char="●"/>
                </a:pPr>
                <a:r>
                  <a:rPr lang="en" sz="833" b="0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Maintain ongoing P-chart monitoring with bi-annual control limit updates.</a:t>
                </a:r>
                <a:endParaRPr sz="833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457200" lvl="0" indent="-310833" algn="l" rtl="0">
                  <a:spcBef>
                    <a:spcPts val="750"/>
                  </a:spcBef>
                  <a:spcAft>
                    <a:spcPts val="0"/>
                  </a:spcAft>
                  <a:buClr>
                    <a:srgbClr val="FFFFFF"/>
                  </a:buClr>
                  <a:buSzPts val="1295"/>
                  <a:buChar char="●"/>
                </a:pPr>
                <a:r>
                  <a:rPr lang="en" sz="833" b="0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Conduct quarterly member surveys and annual FMEA reviews.</a:t>
                </a:r>
                <a:endParaRPr sz="833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  <a:p>
                <a:pPr marL="457200" lvl="0" indent="-310833" algn="l" rtl="0">
                  <a:spcBef>
                    <a:spcPts val="750"/>
                  </a:spcBef>
                  <a:spcAft>
                    <a:spcPts val="0"/>
                  </a:spcAft>
                  <a:buClr>
                    <a:srgbClr val="FFFFFF"/>
                  </a:buClr>
                  <a:buSzPts val="1295"/>
                  <a:buChar char="●"/>
                </a:pPr>
                <a:r>
                  <a:rPr lang="en" sz="833" b="0">
                    <a:solidFill>
                      <a:srgbClr val="FFFFFF"/>
                    </a:solidFill>
                    <a:latin typeface="Work Sans"/>
                    <a:ea typeface="Work Sans"/>
                    <a:cs typeface="Work Sans"/>
                    <a:sym typeface="Work Sans"/>
                  </a:rPr>
                  <a:t>Implement a CRM loyalty program and formal freeze/pause options to further protect long-term retention.</a:t>
                </a:r>
                <a:endParaRPr sz="833" b="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endParaRPr>
              </a:p>
            </p:txBody>
          </p:sp>
        </p:grp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37"/>
          <p:cNvSpPr/>
          <p:nvPr/>
        </p:nvSpPr>
        <p:spPr>
          <a:xfrm>
            <a:off x="0" y="0"/>
            <a:ext cx="152400" cy="514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A6004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0" name="Google Shape;1560;p37"/>
          <p:cNvGrpSpPr/>
          <p:nvPr/>
        </p:nvGrpSpPr>
        <p:grpSpPr>
          <a:xfrm>
            <a:off x="514350" y="238125"/>
            <a:ext cx="8115300" cy="438150"/>
            <a:chOff x="0" y="0"/>
            <a:chExt cx="8115300" cy="438150"/>
          </a:xfrm>
        </p:grpSpPr>
        <p:sp>
          <p:nvSpPr>
            <p:cNvPr id="1561" name="Google Shape;1561;p37"/>
            <p:cNvSpPr txBox="1"/>
            <p:nvPr/>
          </p:nvSpPr>
          <p:spPr>
            <a:xfrm>
              <a:off x="0" y="0"/>
              <a:ext cx="811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0">
                  <a:solidFill>
                    <a:srgbClr val="0E1C5D"/>
                  </a:solidFill>
                  <a:latin typeface="Anton"/>
                  <a:ea typeface="Anton"/>
                  <a:cs typeface="Anton"/>
                  <a:sym typeface="Anton"/>
                </a:rPr>
                <a:t>Thank You</a:t>
              </a:r>
              <a:endParaRPr sz="2400" b="0">
                <a:solidFill>
                  <a:srgbClr val="0E1C5D"/>
                </a:solidFill>
                <a:latin typeface="Anton"/>
                <a:ea typeface="Anton"/>
                <a:cs typeface="Anton"/>
                <a:sym typeface="Anton"/>
              </a:endParaRPr>
            </a:p>
          </p:txBody>
        </p:sp>
        <p:cxnSp>
          <p:nvCxnSpPr>
            <p:cNvPr id="1562" name="Google Shape;1562;p37"/>
            <p:cNvCxnSpPr/>
            <p:nvPr/>
          </p:nvCxnSpPr>
          <p:spPr>
            <a:xfrm>
              <a:off x="0" y="438150"/>
              <a:ext cx="81153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0E1C5D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63" name="Google Shape;1563;p37"/>
          <p:cNvGrpSpPr/>
          <p:nvPr/>
        </p:nvGrpSpPr>
        <p:grpSpPr>
          <a:xfrm>
            <a:off x="514350" y="838200"/>
            <a:ext cx="8115300" cy="3048150"/>
            <a:chOff x="0" y="0"/>
            <a:chExt cx="8115300" cy="3048150"/>
          </a:xfrm>
        </p:grpSpPr>
        <p:sp>
          <p:nvSpPr>
            <p:cNvPr id="1564" name="Google Shape;1564;p37"/>
            <p:cNvSpPr txBox="1"/>
            <p:nvPr/>
          </p:nvSpPr>
          <p:spPr>
            <a:xfrm>
              <a:off x="0" y="0"/>
              <a:ext cx="81153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A60042"/>
                  </a:solidFill>
                  <a:latin typeface="Work Sans"/>
                  <a:ea typeface="Work Sans"/>
                  <a:cs typeface="Work Sans"/>
                  <a:sym typeface="Work Sans"/>
                </a:rPr>
                <a:t>Academic References</a:t>
              </a:r>
              <a:endParaRPr sz="1100" b="1">
                <a:solidFill>
                  <a:srgbClr val="A60042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grpSp>
          <p:nvGrpSpPr>
            <p:cNvPr id="1565" name="Google Shape;1565;p37"/>
            <p:cNvGrpSpPr/>
            <p:nvPr/>
          </p:nvGrpSpPr>
          <p:grpSpPr>
            <a:xfrm>
              <a:off x="0" y="266700"/>
              <a:ext cx="3943200" cy="2781450"/>
              <a:chOff x="0" y="0"/>
              <a:chExt cx="3943200" cy="2781450"/>
            </a:xfrm>
          </p:grpSpPr>
          <p:grpSp>
            <p:nvGrpSpPr>
              <p:cNvPr id="1566" name="Google Shape;1566;p37"/>
              <p:cNvGrpSpPr/>
              <p:nvPr/>
            </p:nvGrpSpPr>
            <p:grpSpPr>
              <a:xfrm>
                <a:off x="0" y="0"/>
                <a:ext cx="3943200" cy="400200"/>
                <a:chOff x="0" y="0"/>
                <a:chExt cx="3943200" cy="400200"/>
              </a:xfrm>
            </p:grpSpPr>
            <p:sp>
              <p:nvSpPr>
                <p:cNvPr id="1567" name="Google Shape;1567;p37"/>
                <p:cNvSpPr/>
                <p:nvPr/>
              </p:nvSpPr>
              <p:spPr>
                <a:xfrm>
                  <a:off x="0" y="0"/>
                  <a:ext cx="3943200" cy="400200"/>
                </a:xfrm>
                <a:prstGeom prst="roundRect">
                  <a:avLst>
                    <a:gd name="adj" fmla="val 7142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8" name="Google Shape;1568;p37"/>
                <p:cNvSpPr/>
                <p:nvPr/>
              </p:nvSpPr>
              <p:spPr>
                <a:xfrm>
                  <a:off x="0" y="0"/>
                  <a:ext cx="28500" cy="400200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0E1C5D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9" name="Google Shape;1569;p37"/>
                <p:cNvSpPr txBox="1"/>
                <p:nvPr/>
              </p:nvSpPr>
              <p:spPr>
                <a:xfrm>
                  <a:off x="114300" y="0"/>
                  <a:ext cx="37530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0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[1] Montgomery, D.C. </a:t>
                  </a:r>
                  <a:r>
                    <a:rPr lang="en" sz="800" b="0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(2020).</a:t>
                  </a:r>
                  <a:endParaRPr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800" b="0" i="1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Introduction to Statistical Quality Control.</a:t>
                  </a:r>
                  <a:endParaRPr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1570" name="Google Shape;1570;p37"/>
              <p:cNvGrpSpPr/>
              <p:nvPr/>
            </p:nvGrpSpPr>
            <p:grpSpPr>
              <a:xfrm>
                <a:off x="0" y="476250"/>
                <a:ext cx="3943200" cy="400200"/>
                <a:chOff x="0" y="0"/>
                <a:chExt cx="3943200" cy="400200"/>
              </a:xfrm>
            </p:grpSpPr>
            <p:sp>
              <p:nvSpPr>
                <p:cNvPr id="1571" name="Google Shape;1571;p37"/>
                <p:cNvSpPr/>
                <p:nvPr/>
              </p:nvSpPr>
              <p:spPr>
                <a:xfrm>
                  <a:off x="0" y="0"/>
                  <a:ext cx="3943200" cy="400200"/>
                </a:xfrm>
                <a:prstGeom prst="roundRect">
                  <a:avLst>
                    <a:gd name="adj" fmla="val 7142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2" name="Google Shape;1572;p37"/>
                <p:cNvSpPr/>
                <p:nvPr/>
              </p:nvSpPr>
              <p:spPr>
                <a:xfrm>
                  <a:off x="0" y="0"/>
                  <a:ext cx="28500" cy="400200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0E1C5D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3" name="Google Shape;1573;p37"/>
                <p:cNvSpPr txBox="1"/>
                <p:nvPr/>
              </p:nvSpPr>
              <p:spPr>
                <a:xfrm>
                  <a:off x="114300" y="0"/>
                  <a:ext cx="37530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0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[2] George, M.L. </a:t>
                  </a:r>
                  <a:r>
                    <a:rPr lang="en" sz="800" b="0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(2002).</a:t>
                  </a:r>
                  <a:endParaRPr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800" b="0" i="1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Lean Six Sigma.</a:t>
                  </a:r>
                  <a:endParaRPr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1574" name="Google Shape;1574;p37"/>
              <p:cNvGrpSpPr/>
              <p:nvPr/>
            </p:nvGrpSpPr>
            <p:grpSpPr>
              <a:xfrm>
                <a:off x="0" y="952500"/>
                <a:ext cx="3943200" cy="400200"/>
                <a:chOff x="0" y="0"/>
                <a:chExt cx="3943200" cy="400200"/>
              </a:xfrm>
            </p:grpSpPr>
            <p:sp>
              <p:nvSpPr>
                <p:cNvPr id="1575" name="Google Shape;1575;p37"/>
                <p:cNvSpPr/>
                <p:nvPr/>
              </p:nvSpPr>
              <p:spPr>
                <a:xfrm>
                  <a:off x="0" y="0"/>
                  <a:ext cx="3943200" cy="400200"/>
                </a:xfrm>
                <a:prstGeom prst="roundRect">
                  <a:avLst>
                    <a:gd name="adj" fmla="val 7142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6" name="Google Shape;1576;p37"/>
                <p:cNvSpPr/>
                <p:nvPr/>
              </p:nvSpPr>
              <p:spPr>
                <a:xfrm>
                  <a:off x="0" y="0"/>
                  <a:ext cx="28500" cy="400200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0E1C5D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7" name="Google Shape;1577;p37"/>
                <p:cNvSpPr txBox="1"/>
                <p:nvPr/>
              </p:nvSpPr>
              <p:spPr>
                <a:xfrm>
                  <a:off x="114300" y="0"/>
                  <a:ext cx="37530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0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[3] Pyzdek, T. &amp; Keller, P. </a:t>
                  </a:r>
                  <a:r>
                    <a:rPr lang="en" sz="800" b="0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(2014).</a:t>
                  </a:r>
                  <a:endParaRPr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800" b="0" i="1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The Six Sigma Handbook.</a:t>
                  </a:r>
                  <a:endParaRPr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1578" name="Google Shape;1578;p37"/>
              <p:cNvGrpSpPr/>
              <p:nvPr/>
            </p:nvGrpSpPr>
            <p:grpSpPr>
              <a:xfrm>
                <a:off x="0" y="1428750"/>
                <a:ext cx="3943200" cy="400200"/>
                <a:chOff x="0" y="0"/>
                <a:chExt cx="3943200" cy="400200"/>
              </a:xfrm>
            </p:grpSpPr>
            <p:sp>
              <p:nvSpPr>
                <p:cNvPr id="1579" name="Google Shape;1579;p37"/>
                <p:cNvSpPr/>
                <p:nvPr/>
              </p:nvSpPr>
              <p:spPr>
                <a:xfrm>
                  <a:off x="0" y="0"/>
                  <a:ext cx="3943200" cy="400200"/>
                </a:xfrm>
                <a:prstGeom prst="roundRect">
                  <a:avLst>
                    <a:gd name="adj" fmla="val 7142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0" name="Google Shape;1580;p37"/>
                <p:cNvSpPr/>
                <p:nvPr/>
              </p:nvSpPr>
              <p:spPr>
                <a:xfrm>
                  <a:off x="0" y="0"/>
                  <a:ext cx="28500" cy="400200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0E1C5D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1" name="Google Shape;1581;p37"/>
                <p:cNvSpPr txBox="1"/>
                <p:nvPr/>
              </p:nvSpPr>
              <p:spPr>
                <a:xfrm>
                  <a:off x="114300" y="0"/>
                  <a:ext cx="37530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0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[4] Stamatis, D.H. </a:t>
                  </a:r>
                  <a:r>
                    <a:rPr lang="en" sz="800" b="0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(2003).</a:t>
                  </a:r>
                  <a:endParaRPr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800" b="0" i="1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Failure Mode and Effect Analysis.</a:t>
                  </a:r>
                  <a:endParaRPr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1582" name="Google Shape;1582;p37"/>
              <p:cNvGrpSpPr/>
              <p:nvPr/>
            </p:nvGrpSpPr>
            <p:grpSpPr>
              <a:xfrm>
                <a:off x="0" y="1905000"/>
                <a:ext cx="3943200" cy="400200"/>
                <a:chOff x="0" y="0"/>
                <a:chExt cx="3943200" cy="400200"/>
              </a:xfrm>
            </p:grpSpPr>
            <p:sp>
              <p:nvSpPr>
                <p:cNvPr id="1583" name="Google Shape;1583;p37"/>
                <p:cNvSpPr/>
                <p:nvPr/>
              </p:nvSpPr>
              <p:spPr>
                <a:xfrm>
                  <a:off x="0" y="0"/>
                  <a:ext cx="3943200" cy="400200"/>
                </a:xfrm>
                <a:prstGeom prst="roundRect">
                  <a:avLst>
                    <a:gd name="adj" fmla="val 7142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4" name="Google Shape;1584;p37"/>
                <p:cNvSpPr/>
                <p:nvPr/>
              </p:nvSpPr>
              <p:spPr>
                <a:xfrm>
                  <a:off x="0" y="0"/>
                  <a:ext cx="28500" cy="400200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0E1C5D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5" name="Google Shape;1585;p37"/>
                <p:cNvSpPr txBox="1"/>
                <p:nvPr/>
              </p:nvSpPr>
              <p:spPr>
                <a:xfrm>
                  <a:off x="114300" y="0"/>
                  <a:ext cx="37530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0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[5] Breyfogle, F.W. </a:t>
                  </a:r>
                  <a:r>
                    <a:rPr lang="en" sz="800" b="0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(2003).</a:t>
                  </a:r>
                  <a:endParaRPr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800" b="0" i="1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Implementing Six Sigma.</a:t>
                  </a:r>
                  <a:endParaRPr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1586" name="Google Shape;1586;p37"/>
              <p:cNvGrpSpPr/>
              <p:nvPr/>
            </p:nvGrpSpPr>
            <p:grpSpPr>
              <a:xfrm>
                <a:off x="0" y="2381250"/>
                <a:ext cx="3943200" cy="400200"/>
                <a:chOff x="0" y="0"/>
                <a:chExt cx="3943200" cy="400200"/>
              </a:xfrm>
            </p:grpSpPr>
            <p:sp>
              <p:nvSpPr>
                <p:cNvPr id="1587" name="Google Shape;1587;p37"/>
                <p:cNvSpPr/>
                <p:nvPr/>
              </p:nvSpPr>
              <p:spPr>
                <a:xfrm>
                  <a:off x="0" y="0"/>
                  <a:ext cx="3943200" cy="400200"/>
                </a:xfrm>
                <a:prstGeom prst="roundRect">
                  <a:avLst>
                    <a:gd name="adj" fmla="val 7142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8" name="Google Shape;1588;p37"/>
                <p:cNvSpPr/>
                <p:nvPr/>
              </p:nvSpPr>
              <p:spPr>
                <a:xfrm>
                  <a:off x="0" y="0"/>
                  <a:ext cx="28500" cy="400200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0E1C5D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9" name="Google Shape;1589;p37"/>
                <p:cNvSpPr txBox="1"/>
                <p:nvPr/>
              </p:nvSpPr>
              <p:spPr>
                <a:xfrm>
                  <a:off x="114300" y="0"/>
                  <a:ext cx="37530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0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[6] Pande, P.S., et al. </a:t>
                  </a:r>
                  <a:r>
                    <a:rPr lang="en" sz="800" b="0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(2000).</a:t>
                  </a:r>
                  <a:endParaRPr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800" b="0" i="1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The Six Sigma Way.</a:t>
                  </a:r>
                  <a:endParaRPr sz="80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</p:grpSp>
        <p:grpSp>
          <p:nvGrpSpPr>
            <p:cNvPr id="1590" name="Google Shape;1590;p37"/>
            <p:cNvGrpSpPr/>
            <p:nvPr/>
          </p:nvGrpSpPr>
          <p:grpSpPr>
            <a:xfrm>
              <a:off x="4171950" y="266700"/>
              <a:ext cx="3943200" cy="2514600"/>
              <a:chOff x="0" y="0"/>
              <a:chExt cx="3943200" cy="2514600"/>
            </a:xfrm>
          </p:grpSpPr>
          <p:grpSp>
            <p:nvGrpSpPr>
              <p:cNvPr id="1591" name="Google Shape;1591;p37"/>
              <p:cNvGrpSpPr/>
              <p:nvPr/>
            </p:nvGrpSpPr>
            <p:grpSpPr>
              <a:xfrm>
                <a:off x="0" y="0"/>
                <a:ext cx="3943200" cy="571500"/>
                <a:chOff x="0" y="0"/>
                <a:chExt cx="3943200" cy="571500"/>
              </a:xfrm>
            </p:grpSpPr>
            <p:sp>
              <p:nvSpPr>
                <p:cNvPr id="1592" name="Google Shape;1592;p37"/>
                <p:cNvSpPr/>
                <p:nvPr/>
              </p:nvSpPr>
              <p:spPr>
                <a:xfrm>
                  <a:off x="0" y="0"/>
                  <a:ext cx="3943200" cy="5715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3" name="Google Shape;1593;p37"/>
                <p:cNvSpPr/>
                <p:nvPr/>
              </p:nvSpPr>
              <p:spPr>
                <a:xfrm>
                  <a:off x="0" y="0"/>
                  <a:ext cx="28500" cy="571500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A60042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4" name="Google Shape;1594;p37"/>
                <p:cNvSpPr txBox="1"/>
                <p:nvPr/>
              </p:nvSpPr>
              <p:spPr>
                <a:xfrm>
                  <a:off x="114300" y="0"/>
                  <a:ext cx="37530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5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[7] Vadivel, S.M., Sequeira, A.H., et al. </a:t>
                  </a:r>
                  <a:r>
                    <a:rPr lang="en" sz="750" b="0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(2022).</a:t>
                  </a:r>
                  <a:endParaRPr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750" b="0" i="1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Impact of Lean Service, Workplace Environment &amp; Social Practices.</a:t>
                  </a:r>
                  <a:endParaRPr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650" b="0">
                      <a:solidFill>
                        <a:srgbClr val="64748B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Annals of Operations Research, 315(2), 2219–2244.</a:t>
                  </a:r>
                  <a:endParaRPr sz="650" b="0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1595" name="Google Shape;1595;p37"/>
              <p:cNvGrpSpPr/>
              <p:nvPr/>
            </p:nvGrpSpPr>
            <p:grpSpPr>
              <a:xfrm>
                <a:off x="0" y="647700"/>
                <a:ext cx="3943200" cy="571500"/>
                <a:chOff x="0" y="0"/>
                <a:chExt cx="3943200" cy="571500"/>
              </a:xfrm>
            </p:grpSpPr>
            <p:sp>
              <p:nvSpPr>
                <p:cNvPr id="1596" name="Google Shape;1596;p37"/>
                <p:cNvSpPr/>
                <p:nvPr/>
              </p:nvSpPr>
              <p:spPr>
                <a:xfrm>
                  <a:off x="0" y="0"/>
                  <a:ext cx="3943200" cy="5715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7" name="Google Shape;1597;p37"/>
                <p:cNvSpPr/>
                <p:nvPr/>
              </p:nvSpPr>
              <p:spPr>
                <a:xfrm>
                  <a:off x="0" y="0"/>
                  <a:ext cx="28500" cy="571500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A60042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8" name="Google Shape;1598;p37"/>
                <p:cNvSpPr txBox="1"/>
                <p:nvPr/>
              </p:nvSpPr>
              <p:spPr>
                <a:xfrm>
                  <a:off x="114300" y="0"/>
                  <a:ext cx="37530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5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[8] Vadivel, S.M., &amp; Boobalan, K. </a:t>
                  </a:r>
                  <a:r>
                    <a:rPr lang="en" sz="750" b="0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(2024).</a:t>
                  </a:r>
                  <a:endParaRPr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750" b="0" i="1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Influences of Service Quality Factors on Customer Satisfaction.</a:t>
                  </a:r>
                  <a:endParaRPr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650" b="0">
                      <a:solidFill>
                        <a:srgbClr val="64748B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Int. J. System Assurance Eng. &amp; Management, 15(2), 758–773.</a:t>
                  </a:r>
                  <a:endParaRPr sz="650" b="0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1599" name="Google Shape;1599;p37"/>
              <p:cNvGrpSpPr/>
              <p:nvPr/>
            </p:nvGrpSpPr>
            <p:grpSpPr>
              <a:xfrm>
                <a:off x="0" y="1295400"/>
                <a:ext cx="3943200" cy="571500"/>
                <a:chOff x="0" y="0"/>
                <a:chExt cx="3943200" cy="571500"/>
              </a:xfrm>
            </p:grpSpPr>
            <p:sp>
              <p:nvSpPr>
                <p:cNvPr id="1600" name="Google Shape;1600;p37"/>
                <p:cNvSpPr/>
                <p:nvPr/>
              </p:nvSpPr>
              <p:spPr>
                <a:xfrm>
                  <a:off x="0" y="0"/>
                  <a:ext cx="3943200" cy="5715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1" name="Google Shape;1601;p37"/>
                <p:cNvSpPr/>
                <p:nvPr/>
              </p:nvSpPr>
              <p:spPr>
                <a:xfrm>
                  <a:off x="0" y="0"/>
                  <a:ext cx="28500" cy="571500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A60042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2" name="Google Shape;1602;p37"/>
                <p:cNvSpPr txBox="1"/>
                <p:nvPr/>
              </p:nvSpPr>
              <p:spPr>
                <a:xfrm>
                  <a:off x="114300" y="0"/>
                  <a:ext cx="37530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5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[9] Vadivel, S.M., Chandrasekaran, B., et al. </a:t>
                  </a:r>
                  <a:r>
                    <a:rPr lang="en" sz="750" b="0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(2023).</a:t>
                  </a:r>
                  <a:endParaRPr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750" b="0" i="1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Analyzing Critical Success Factors of Lean System Implementation.</a:t>
                  </a:r>
                  <a:endParaRPr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650" b="0">
                      <a:solidFill>
                        <a:srgbClr val="64748B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Intelligent Systems Design &amp; Applications, LNNS 646, 118–127.</a:t>
                  </a:r>
                  <a:endParaRPr sz="650" b="0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  <p:grpSp>
            <p:nvGrpSpPr>
              <p:cNvPr id="1603" name="Google Shape;1603;p37"/>
              <p:cNvGrpSpPr/>
              <p:nvPr/>
            </p:nvGrpSpPr>
            <p:grpSpPr>
              <a:xfrm>
                <a:off x="0" y="1943100"/>
                <a:ext cx="3943200" cy="571500"/>
                <a:chOff x="0" y="0"/>
                <a:chExt cx="3943200" cy="571500"/>
              </a:xfrm>
            </p:grpSpPr>
            <p:sp>
              <p:nvSpPr>
                <p:cNvPr id="1604" name="Google Shape;1604;p37"/>
                <p:cNvSpPr/>
                <p:nvPr/>
              </p:nvSpPr>
              <p:spPr>
                <a:xfrm>
                  <a:off x="0" y="0"/>
                  <a:ext cx="3943200" cy="5715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8F9FA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5" name="Google Shape;1605;p37"/>
                <p:cNvSpPr/>
                <p:nvPr/>
              </p:nvSpPr>
              <p:spPr>
                <a:xfrm>
                  <a:off x="0" y="0"/>
                  <a:ext cx="28500" cy="571500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A60042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6" name="Google Shape;1606;p37"/>
                <p:cNvSpPr txBox="1"/>
                <p:nvPr/>
              </p:nvSpPr>
              <p:spPr>
                <a:xfrm>
                  <a:off x="114300" y="0"/>
                  <a:ext cx="37530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50" b="1">
                      <a:solidFill>
                        <a:srgbClr val="0E1C5D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[10] Vadivel, S.M., Jauhar, S.K., &amp; Sequeira, A.H. </a:t>
                  </a:r>
                  <a:r>
                    <a:rPr lang="en" sz="750" b="0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(2022).</a:t>
                  </a:r>
                  <a:endParaRPr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750" b="0" i="1">
                      <a:solidFill>
                        <a:srgbClr val="333333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Applying Simulation in Lean Service to Enhance Operational Systems.</a:t>
                  </a:r>
                  <a:endParaRPr sz="750" b="1">
                    <a:solidFill>
                      <a:srgbClr val="0E1C5D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  <a:p>
                  <a:pPr marL="0" lvl="0" indent="0" algn="l" rtl="0">
                    <a:spcBef>
                      <a:spcPts val="75"/>
                    </a:spcBef>
                    <a:spcAft>
                      <a:spcPts val="0"/>
                    </a:spcAft>
                    <a:buNone/>
                  </a:pPr>
                  <a:r>
                    <a:rPr lang="en" sz="650" b="0">
                      <a:solidFill>
                        <a:srgbClr val="64748B"/>
                      </a:solidFill>
                      <a:latin typeface="Work Sans"/>
                      <a:ea typeface="Work Sans"/>
                      <a:cs typeface="Work Sans"/>
                      <a:sym typeface="Work Sans"/>
                    </a:rPr>
                    <a:t>Annals of Operations Research, 315(2), 993–1017.</a:t>
                  </a:r>
                  <a:endParaRPr sz="650" b="0">
                    <a:solidFill>
                      <a:srgbClr val="64748B"/>
                    </a:solidFill>
                    <a:latin typeface="Work Sans"/>
                    <a:ea typeface="Work Sans"/>
                    <a:cs typeface="Work Sans"/>
                    <a:sym typeface="Work Sans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4108</Words>
  <Application>Microsoft Office PowerPoint</Application>
  <PresentationFormat>On-screen Show (16:9)</PresentationFormat>
  <Paragraphs>782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Work Sans</vt:lpstr>
      <vt:lpstr>Work Sans SemiBold</vt:lpstr>
      <vt:lpstr>Anton</vt:lpstr>
      <vt:lpstr>Arial</vt:lpstr>
      <vt:lpstr>Work Sans Medium</vt:lpstr>
      <vt:lpstr>Material Icons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Glad Danny</cp:lastModifiedBy>
  <cp:revision>1</cp:revision>
  <dcterms:modified xsi:type="dcterms:W3CDTF">2026-10-25T15:57:39Z</dcterms:modified>
</cp:coreProperties>
</file>