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9312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Lean Six Sigma Approach for Improving Customer Retention in Fitness Centres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72474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2415" y="2971105"/>
            <a:ext cx="6597981" cy="1415951"/>
          </a:xfrm>
          <a:prstGeom prst="roundRect">
            <a:avLst>
              <a:gd name="adj" fmla="val 8410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07710" y="3136404"/>
            <a:ext cx="62673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3560167"/>
            <a:ext cx="626739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structured application of the DMAIC framework to identify root causes of member churn and develop data-driven retention strategies for fitness centre operations.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31100" y="3136404"/>
            <a:ext cx="41053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31100" y="3560167"/>
            <a:ext cx="471495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Members: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GLADWIN DANIEL P 23MIA1058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4929" y="3973612"/>
            <a:ext cx="39211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KARTHIKEYAN A 23MIA1123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573091"/>
            <a:ext cx="2593216" cy="965597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3119" y="4744740"/>
            <a:ext cx="22499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Discipline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119" y="5102423"/>
            <a:ext cx="22499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Lean Six Sigma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9985" y="4573091"/>
            <a:ext cx="2593216" cy="965597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591629" y="4744740"/>
            <a:ext cx="22499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91629" y="5102423"/>
            <a:ext cx="22499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DMAIC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4573091"/>
            <a:ext cx="2593216" cy="965597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50139" y="4744740"/>
            <a:ext cx="22499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Domain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0139" y="5102423"/>
            <a:ext cx="22499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Fitness &amp; Wellness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37005" y="4573091"/>
            <a:ext cx="2593216" cy="965597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08649" y="4744740"/>
            <a:ext cx="22499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Focus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08649" y="5102423"/>
            <a:ext cx="22499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Retention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665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94086"/>
            <a:ext cx="108687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Fitness centres operate on a membership-driven revenue model where long-term customer relationships and renewal rates are the primary determinants of financial sustainability. Despite growing global participation in organised fitness, member churn remains a persistent operational challenge.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303926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Retention Matters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463032"/>
            <a:ext cx="5232666" cy="229046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Membership renewals form the core revenue base for gym operations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Acquiring a new member costs significantly more than retaining an existing one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Long-term members generate higher lifetime value and referral potential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Retention rates directly signal service quality and operational effectiveness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303926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Drivers of Customer Churn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463032"/>
            <a:ext cx="5232666" cy="1496616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Service experience: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Inconsistent quality across touchpoints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Trainer support: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Inadequate personal training engagement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Satisfaction gaps: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Unmet expectations vs. perceived value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Pricing concerns: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Misalignment between cost and perceived benefit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12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&amp; Research Gap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98700"/>
            <a:ext cx="3512653" cy="3107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483048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22017" y="2840732"/>
            <a:ext cx="3067767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Fitness centres currently lack 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data-driven, systematic approach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identify the root causes of member churn. Retention decisions are largely reactive, based on intuition rather than structured analysis of membership behaviour, engagement patterns, and customer feedback.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2298700"/>
            <a:ext cx="3512752" cy="3107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99964" y="2483048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599964" y="2840732"/>
            <a:ext cx="3067866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literature examines fitness centre retention </a:t>
            </a:r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Lean Six Sigma applications in services — but rarely integrates both. No study combines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membership data + PT participation + customer VOC + DMAIC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into a unified retention improvement framework for gyms.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298700"/>
            <a:ext cx="3512653" cy="31079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010" y="2483048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278010" y="2840732"/>
            <a:ext cx="3067767" cy="2381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bridges the gap by integrating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behavioural data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(membership plans, visit frequency, renewal status),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 feedback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(Google reviews, complaints, VOC), and the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Lean Six Sigma DMAIC framework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systematically identify churn root causes and develop targeted improvement strategies.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99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46423"/>
            <a:ext cx="10868745" cy="4612580"/>
          </a:xfrm>
          <a:prstGeom prst="roundRect">
            <a:avLst>
              <a:gd name="adj" fmla="val 150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67825" y="1552773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3417" y="1658342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S.No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574761" y="1658342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Author(s)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68443" y="1658342"/>
            <a:ext cx="23091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4956" y="1658342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Country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7301" y="1658342"/>
            <a:ext cx="38408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825" y="2028527"/>
            <a:ext cx="10856046" cy="7403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3417" y="2134096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74761" y="2134096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Nakaji (2006)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8443" y="2134096"/>
            <a:ext cx="23091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Longitudinal study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4956" y="2134096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Japan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7301" y="2134096"/>
            <a:ext cx="32312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satisfaction linked to membership renewal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825" y="2768898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3417" y="2874466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74761" y="2874466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Athanasopoulou &amp; Mylonakis (2009)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8443" y="2874466"/>
            <a:ext cx="23091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Qualitative analysis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4956" y="2874466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7301" y="2874466"/>
            <a:ext cx="38408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Staff relationships influence retention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825" y="3244652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3417" y="3350220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74761" y="3350220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Avourdiadou &amp; Theodorakis (2014)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68443" y="3350220"/>
            <a:ext cx="23091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Survey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4956" y="3350220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Greece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7301" y="3350220"/>
            <a:ext cx="38408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quality drives loyalty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825" y="3720405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3417" y="3825974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574761" y="3825974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García-Fernández et al. (2018)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68443" y="3825974"/>
            <a:ext cx="23091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modelling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04956" y="3825974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Spain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7301" y="3825974"/>
            <a:ext cx="38408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Convenience &amp; quality affect satisfaction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825" y="4196159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33417" y="4301728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574761" y="4301728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Barbosa et al. (2022)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68443" y="4301728"/>
            <a:ext cx="230915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 review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04956" y="4301728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Portugal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127301" y="4301728"/>
            <a:ext cx="38408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quality factors in fitness centres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67825" y="4671913"/>
            <a:ext cx="10856046" cy="7403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33417" y="4777482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574761" y="4777482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Yeomans et al. (2023)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68443" y="4777482"/>
            <a:ext cx="16995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Survey &amp; behavioural data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04956" y="4777482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Australia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127301" y="4777482"/>
            <a:ext cx="32312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Attitudinal &amp; behavioural factors drive retention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67825" y="5412284"/>
            <a:ext cx="10856046" cy="74037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33417" y="5517852"/>
            <a:ext cx="10139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574761" y="5517852"/>
            <a:ext cx="356632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Huang &amp; Kim (2023)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68443" y="5517852"/>
            <a:ext cx="169957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equation modelling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04956" y="5517852"/>
            <a:ext cx="14949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China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127301" y="5517852"/>
            <a:ext cx="384086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 quality → trust → loyalty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93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 — Part 2: Lean Six Sigma in Services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86794"/>
            <a:ext cx="10868745" cy="3131840"/>
          </a:xfrm>
          <a:prstGeom prst="roundRect">
            <a:avLst>
              <a:gd name="adj" fmla="val 221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67825" y="2293144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3417" y="2398713"/>
            <a:ext cx="13613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S.No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2117" y="2398713"/>
            <a:ext cx="272279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Author(s)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72262" y="2398713"/>
            <a:ext cx="24578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57501" y="2398713"/>
            <a:ext cx="15839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Country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8842" y="2398713"/>
            <a:ext cx="40993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825" y="2768898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3417" y="2874466"/>
            <a:ext cx="13613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2117" y="2874466"/>
            <a:ext cx="272279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Chakraborty &amp; Tan (2006)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72262" y="2874466"/>
            <a:ext cx="24578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57501" y="2874466"/>
            <a:ext cx="15839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Singapore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8842" y="2874466"/>
            <a:ext cx="40993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Sigma applicable to service processes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825" y="3244652"/>
            <a:ext cx="10856046" cy="74037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3417" y="3350220"/>
            <a:ext cx="13613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2117" y="3350220"/>
            <a:ext cx="211320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Laureani, Antony &amp; Douglas (2010)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72262" y="3350220"/>
            <a:ext cx="24578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DMAIC case study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57501" y="3350220"/>
            <a:ext cx="15839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68842" y="3350220"/>
            <a:ext cx="40993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Lean Six Sigma improves service operations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825" y="3985022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3417" y="4090591"/>
            <a:ext cx="13613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922117" y="4090591"/>
            <a:ext cx="272279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Laureani &amp; Antony (2010)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372262" y="4090591"/>
            <a:ext cx="24578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 analysis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57501" y="4090591"/>
            <a:ext cx="15839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868842" y="4090591"/>
            <a:ext cx="40993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LSS reduces turnover &amp; improves satisfaction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825" y="4460776"/>
            <a:ext cx="10856046" cy="47575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33417" y="4566345"/>
            <a:ext cx="13613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22117" y="4566345"/>
            <a:ext cx="272279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Laureani (2012)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72262" y="4566345"/>
            <a:ext cx="24578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57501" y="4566345"/>
            <a:ext cx="15839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68842" y="4566345"/>
            <a:ext cx="40993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LSS applicable across service sectors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67825" y="4936530"/>
            <a:ext cx="10856046" cy="47575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33417" y="5042098"/>
            <a:ext cx="13613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22117" y="5042098"/>
            <a:ext cx="272279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Sunder (2018)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372262" y="5042098"/>
            <a:ext cx="245788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Morphological analysis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57501" y="5042098"/>
            <a:ext cx="158398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868842" y="5042098"/>
            <a:ext cx="409931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LSS in services — research gaps identified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62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Methodology — DMAIC Framework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73659"/>
            <a:ext cx="3622882" cy="661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769" y="2800449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26769" y="3158133"/>
            <a:ext cx="3292293" cy="264616"/>
          </a:xfrm>
          <a:prstGeom prst="rect">
            <a:avLst/>
          </a:prstGeom>
          <a:noFill/>
          <a:ln/>
        </p:spPr>
        <p:txBody>
          <a:bodyPr wrap="none" lIns="0" tIns="66156" rIns="0" bIns="0" rtlCol="0" anchor="t"/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customer retention as the CTQ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973659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2800449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449651" y="3158133"/>
            <a:ext cx="3292293" cy="529233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renewal, plans, and engagement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973659"/>
            <a:ext cx="3622882" cy="6614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533" y="2800449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8072533" y="3158133"/>
            <a:ext cx="3292293" cy="264616"/>
          </a:xfrm>
          <a:prstGeom prst="rect">
            <a:avLst/>
          </a:prstGeom>
          <a:noFill/>
          <a:ln/>
        </p:spPr>
        <p:txBody>
          <a:bodyPr wrap="none" lIns="0" tIns="66156" rIns="0" bIns="0" rtlCol="0" anchor="t"/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churn drivers and root causes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852664"/>
            <a:ext cx="3622882" cy="66149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6769" y="467945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26769" y="5037138"/>
            <a:ext cx="3292293" cy="529233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renewal and service improvements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852664"/>
            <a:ext cx="3622882" cy="6614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49651" y="467945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449651" y="5037138"/>
            <a:ext cx="3292293" cy="264616"/>
          </a:xfrm>
          <a:prstGeom prst="rect">
            <a:avLst/>
          </a:prstGeom>
          <a:noFill/>
          <a:ln/>
        </p:spPr>
        <p:txBody>
          <a:bodyPr wrap="none" lIns="0" tIns="66156" rIns="0" bIns="0" rtlCol="0" anchor="t"/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retention and churn KPIs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2657"/>
            <a:ext cx="10868745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Roadmap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73671"/>
            <a:ext cx="10868745" cy="4694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5023" y="4955238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Define Problem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398903" y="4955238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 Baseline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188227" y="1697303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Literature Review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404137" y="1697303"/>
            <a:ext cx="1613822" cy="587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Causes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352682" y="1697303"/>
            <a:ext cx="1613822" cy="293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Data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61475" y="6143030"/>
            <a:ext cx="11478330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438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References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14463"/>
            <a:ext cx="579621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Centre Retention Studies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638227"/>
            <a:ext cx="5796214" cy="287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Nakaji, K. (2006). A longitudinal analysis on customer satisfaction and membership retention in a fitness club.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Athanasopoulou, P., &amp; Mylonakis, J. (2009). The quality of relationships between fitness centres and their customers.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Avourdiadou, S., &amp; Theodorakis, N. D. (2014). The development of loyalty among fitness-centre customers.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García-Fernández, J. et al. (2018). Service convenience and perceived quality in low-cost fitness centers.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Barbosa, H. F. et al. (2022). Determinants of service quality in fitness centers: A systematic review.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67452" y="2214463"/>
            <a:ext cx="466901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Lean Six Sigma in Services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67452" y="2638227"/>
            <a:ext cx="4669018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Chakraborty, A., &amp; Tan, K. C. (2006). Applying Six Sigma in the service industry.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Laureani, A., Antony, J., &amp; Douglas, A. (2010). Lean Six Sigma in a call centre: A case study.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Laureani, A., &amp; Antony, J. (2010). Reducing employee turnover in transactional services.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2026-08-24T04:49:24Z</dcterms:created>
  <dcterms:modified xsi:type="dcterms:W3CDTF">2026-08-24T04:49:24Z</dcterms:modified>
</cp:coreProperties>
</file>