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Anton" pitchFamily="2" charset="0"/>
      <p:regular r:id="rId27"/>
    </p:embeddedFont>
    <p:embeddedFont>
      <p:font typeface="Work Sans" pitchFamily="2" charset="0"/>
      <p:bold r:id="rId28"/>
    </p:embeddedFont>
    <p:embeddedFont>
      <p:font typeface="Work Sans Medium" pitchFamily="2" charset="0"/>
      <p:regular r:id="rId29"/>
    </p:embeddedFont>
    <p:embeddedFont>
      <p:font typeface="Work Sans SemiBold" pitchFamily="2" charset="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39a579331fea6b5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139a579331fea6b5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39a579331fea6b5_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39a579331fea6b5_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39a579331fea6b5_3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139a579331fea6b5_3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39a579331fea6b5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139a579331fea6b5_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39a579331fea6b5_2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139a579331fea6b5_2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39a579331fea6b5_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139a579331fea6b5_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39a579331fea6b5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139a579331fea6b5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139a579331fea6b5_2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139a579331fea6b5_2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139a579331fea6b5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139a579331fea6b5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139a579331fea6b5_103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139a579331fea6b5_103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139a579331fea6b5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139a579331fea6b5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139a579331fea6b5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139a579331fea6b5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h139a579331fea6b5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h139a579331fea6b5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h139a579331fea6b5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h139a579331fea6b5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h139a579331fea6b5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h139a579331fea6b5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h139a579331fea6b5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h139a579331fea6b5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h139a579331fea6b5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h139a579331fea6b5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h139a579331fea6b5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h139a579331fea6b5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h139a579331fea6b5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h139a579331fea6b5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h139a579331fea6b5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h139a579331fea6b5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h139a579331fea6b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h139a579331fea6b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h139a579331fea6b5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h139a579331fea6b5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h139a579331fea6b5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h139a579331fea6b5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h139a579331fea6b5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h139a579331fea6b5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139a579331fea6b5_8_0)">
  <p:cSld name="Generated (h139a579331fea6b5_8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476250" y="342900"/>
            <a:ext cx="4210050" cy="209700"/>
            <a:chOff x="0" y="0"/>
            <a:chExt cx="4210050" cy="2097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2384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PROJECT REVIEW – 2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1352550" y="0"/>
              <a:ext cx="2857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MGT4003 – LEAN SIX SIGMA PRINCIPLES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60" name="Google Shape;60;p14"/>
          <p:cNvSpPr txBox="1"/>
          <p:nvPr/>
        </p:nvSpPr>
        <p:spPr>
          <a:xfrm>
            <a:off x="476250" y="647700"/>
            <a:ext cx="39054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IMPROVING</a:t>
            </a:r>
            <a:endParaRPr sz="320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MEMBER RETENTION</a:t>
            </a:r>
            <a:endParaRPr sz="3200">
              <a:solidFill>
                <a:srgbClr val="A60042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IN A FITNESS CENTRE</a:t>
            </a:r>
            <a:endParaRPr sz="200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476250" y="2000250"/>
            <a:ext cx="3905400" cy="266700"/>
            <a:chOff x="0" y="0"/>
            <a:chExt cx="3905400" cy="2667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3905400" cy="266700"/>
            </a:xfrm>
            <a:prstGeom prst="roundRect">
              <a:avLst>
                <a:gd name="adj" fmla="val 1428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3905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Using DMAIC Methodology and Statistical Analysis</a:t>
              </a:r>
              <a:endParaRPr sz="9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476250" y="2362200"/>
            <a:ext cx="3905400" cy="228600"/>
            <a:chOff x="0" y="0"/>
            <a:chExt cx="3905400" cy="228600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0" y="0"/>
              <a:ext cx="723900" cy="228600"/>
              <a:chOff x="0" y="0"/>
              <a:chExt cx="723900" cy="228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D • DEFINE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790575" y="0"/>
              <a:ext cx="723900" cy="228600"/>
              <a:chOff x="0" y="0"/>
              <a:chExt cx="723900" cy="2286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M • MEASURE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>
              <a:off x="1581150" y="0"/>
              <a:ext cx="723900" cy="228600"/>
              <a:chOff x="0" y="0"/>
              <a:chExt cx="723900" cy="2286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A • ANALYZE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4" name="Google Shape;74;p14"/>
            <p:cNvGrpSpPr/>
            <p:nvPr/>
          </p:nvGrpSpPr>
          <p:grpSpPr>
            <a:xfrm>
              <a:off x="2371725" y="0"/>
              <a:ext cx="723900" cy="228600"/>
              <a:chOff x="0" y="0"/>
              <a:chExt cx="723900" cy="228600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I • IMPROVE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7" name="Google Shape;77;p14"/>
            <p:cNvGrpSpPr/>
            <p:nvPr/>
          </p:nvGrpSpPr>
          <p:grpSpPr>
            <a:xfrm>
              <a:off x="3162300" y="0"/>
              <a:ext cx="743100" cy="228600"/>
              <a:chOff x="0" y="0"/>
              <a:chExt cx="743100" cy="2286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0" y="0"/>
                <a:ext cx="7431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0" y="0"/>
                <a:ext cx="743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 • CONTROL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</p:grpSp>
      <p:grpSp>
        <p:nvGrpSpPr>
          <p:cNvPr id="80" name="Google Shape;80;p14"/>
          <p:cNvGrpSpPr/>
          <p:nvPr/>
        </p:nvGrpSpPr>
        <p:grpSpPr>
          <a:xfrm>
            <a:off x="476250" y="2705100"/>
            <a:ext cx="3905400" cy="2057400"/>
            <a:chOff x="0" y="0"/>
            <a:chExt cx="3905400" cy="2057400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3905400" cy="2057400"/>
            </a:xfrm>
            <a:prstGeom prst="roundRect">
              <a:avLst>
                <a:gd name="adj" fmla="val 370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0" y="0"/>
              <a:ext cx="57300" cy="20574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209550" y="152400"/>
              <a:ext cx="35433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ORGANIZATION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Ultimate Fitness Centre, Rathinamangalam</a:t>
              </a:r>
              <a:endParaRPr sz="950" b="0">
                <a:solidFill>
                  <a:srgbClr val="0E1C5D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AUTHORS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3341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Gladwin Daniel P (23MIA1058) &amp; Karthikeyan A (23MIA1123)</a:t>
              </a:r>
              <a:endParaRPr sz="900" b="0">
                <a:solidFill>
                  <a:srgbClr val="3341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FACULTY GUIDE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3341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Dr. Vadivel SM</a:t>
              </a:r>
              <a:endParaRPr sz="900" b="0">
                <a:solidFill>
                  <a:srgbClr val="3341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4572000" y="342900"/>
            <a:ext cx="4095900" cy="3124200"/>
            <a:chOff x="0" y="0"/>
            <a:chExt cx="4095900" cy="3124200"/>
          </a:xfrm>
        </p:grpSpPr>
        <p:pic>
          <p:nvPicPr>
            <p:cNvPr id="85" name="Google Shape;85;p14"/>
            <p:cNvPicPr preferRelativeResize="0"/>
            <p:nvPr/>
          </p:nvPicPr>
          <p:blipFill rotWithShape="1">
            <a:blip r:embed="rId4">
              <a:alphaModFix/>
            </a:blip>
            <a:srcRect t="778" b="787"/>
            <a:stretch/>
          </p:blipFill>
          <p:spPr>
            <a:xfrm>
              <a:off x="0" y="0"/>
              <a:ext cx="4095900" cy="3124200"/>
            </a:xfrm>
            <a:prstGeom prst="roundRect">
              <a:avLst>
                <a:gd name="adj" fmla="val 3048"/>
              </a:avLst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0" y="0"/>
              <a:ext cx="4095900" cy="3124200"/>
            </a:xfrm>
            <a:prstGeom prst="roundRect">
              <a:avLst>
                <a:gd name="adj" fmla="val 3048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4572000" y="3619500"/>
            <a:ext cx="4095900" cy="1143000"/>
            <a:chOff x="0" y="0"/>
            <a:chExt cx="4095900" cy="11430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4095900" cy="1143000"/>
            </a:xfrm>
            <a:prstGeom prst="roundRect">
              <a:avLst>
                <a:gd name="adj" fmla="val 8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190500" y="133350"/>
              <a:ext cx="3714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Data-Driven Lean Six Sigma Case Study</a:t>
              </a:r>
              <a:endParaRPr sz="1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Empirical Attrition Analysis &amp; Quality Control Framework</a:t>
              </a:r>
              <a:endParaRPr sz="850" b="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514350" y="238125"/>
            <a:ext cx="8115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Problem Statement: </a:t>
            </a:r>
            <a:r>
              <a:rPr lang="en" sz="240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Member Churn Reduction</a:t>
            </a:r>
            <a:endParaRPr sz="240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514350" y="714375"/>
            <a:ext cx="3905400" cy="762000"/>
            <a:chOff x="0" y="0"/>
            <a:chExt cx="3905400" cy="7620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3905400" cy="762000"/>
            </a:xfrm>
            <a:prstGeom prst="roundRect">
              <a:avLst>
                <a:gd name="adj" fmla="val 7500"/>
              </a:avLst>
            </a:prstGeom>
            <a:solidFill>
              <a:srgbClr val="F4F5F8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5240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27%</a:t>
              </a:r>
              <a:endParaRPr sz="20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Current Baseline Churn</a:t>
              </a:r>
              <a:endParaRPr sz="850" b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Ultimate Fitness Centre</a:t>
              </a:r>
              <a:endParaRPr sz="750" b="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838325" y="333375"/>
              <a:ext cx="2286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90000" y="0"/>
                  </a:moveTo>
                  <a:lnTo>
                    <a:pt x="120000" y="60000"/>
                  </a:ln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222885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&lt; 15%</a:t>
              </a:r>
              <a:endParaRPr sz="20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Target Monthly Churn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Data-Driven Goal</a:t>
              </a:r>
              <a:endParaRPr sz="750" b="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514350" y="1600200"/>
            <a:ext cx="3905400" cy="2028825"/>
            <a:chOff x="0" y="0"/>
            <a:chExt cx="3905400" cy="2028825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0" y="0"/>
              <a:ext cx="3905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BUSINESS IMPACT</a:t>
              </a:r>
              <a:endParaRPr sz="1018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94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churn at Ultimate Fitness Centre stands at ~27%, driving critical operational challenges:</a:t>
              </a:r>
              <a:endParaRPr sz="694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4" name="Google Shape;104;p15"/>
            <p:cNvGrpSpPr/>
            <p:nvPr/>
          </p:nvGrpSpPr>
          <p:grpSpPr>
            <a:xfrm>
              <a:off x="0" y="447675"/>
              <a:ext cx="1905000" cy="762000"/>
              <a:chOff x="0" y="0"/>
              <a:chExt cx="1905000" cy="762000"/>
            </a:xfrm>
          </p:grpSpPr>
          <p:sp>
            <p:nvSpPr>
              <p:cNvPr id="105" name="Google Shape;105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Direct Revenue Loss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Recurring monthly membership revenue drops significantly.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08" name="Google Shape;108;p15"/>
            <p:cNvGrpSpPr/>
            <p:nvPr/>
          </p:nvGrpSpPr>
          <p:grpSpPr>
            <a:xfrm>
              <a:off x="2000250" y="447675"/>
              <a:ext cx="1905000" cy="762000"/>
              <a:chOff x="0" y="0"/>
              <a:chExt cx="1905000" cy="762000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Reduced Predictability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Unpredictable cash flow hinders expansion and planning.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0" y="1266825"/>
              <a:ext cx="1905000" cy="762000"/>
              <a:chOff x="0" y="0"/>
              <a:chExt cx="1905000" cy="7620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Higher Acquisition Costs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Continuously replacing members drives up marketing spend.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2000250" y="1266825"/>
              <a:ext cx="1905000" cy="762000"/>
              <a:chOff x="0" y="0"/>
              <a:chExt cx="1905000" cy="7620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Early Dropout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 leave before achieving fitness goals or habits.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20" name="Google Shape;120;p15"/>
          <p:cNvGrpSpPr/>
          <p:nvPr/>
        </p:nvGrpSpPr>
        <p:grpSpPr>
          <a:xfrm>
            <a:off x="514350" y="3733800"/>
            <a:ext cx="3905400" cy="1028700"/>
            <a:chOff x="0" y="0"/>
            <a:chExt cx="3905400" cy="102870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3905400" cy="1028700"/>
            </a:xfrm>
            <a:prstGeom prst="roundRect">
              <a:avLst>
                <a:gd name="adj" fmla="val 555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71450" y="114300"/>
              <a:ext cx="3600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Project Objective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E0E0E0"/>
                  </a:solidFill>
                  <a:latin typeface="Work Sans"/>
                  <a:ea typeface="Work Sans"/>
                  <a:cs typeface="Work Sans"/>
                  <a:sym typeface="Work Sans"/>
                </a:rPr>
                <a:t>Systematically reduce the overall monthly churn rate from the 27% baseline to sub-15% levels through targeted data-driven intervention strategies.</a:t>
              </a:r>
              <a:endParaRPr sz="800" b="0">
                <a:solidFill>
                  <a:srgbClr val="E0E0E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4724400" y="714375"/>
            <a:ext cx="3905400" cy="3953025"/>
            <a:chOff x="0" y="0"/>
            <a:chExt cx="3905400" cy="3953025"/>
          </a:xfrm>
        </p:grpSpPr>
        <p:sp>
          <p:nvSpPr>
            <p:cNvPr id="125" name="Google Shape;125;p15"/>
            <p:cNvSpPr txBox="1"/>
            <p:nvPr/>
          </p:nvSpPr>
          <p:spPr>
            <a:xfrm>
              <a:off x="0" y="0"/>
              <a:ext cx="3905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PLAN BREAKDOWN ANALYSIS</a:t>
              </a:r>
              <a:endParaRPr sz="1300" b="1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A detailed breakdown of membership plan types reveals a critical imbalance in customer retention: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6" name="Google Shape;126;p15"/>
            <p:cNvGrpSpPr/>
            <p:nvPr/>
          </p:nvGrpSpPr>
          <p:grpSpPr>
            <a:xfrm>
              <a:off x="0" y="619125"/>
              <a:ext cx="3905400" cy="1047900"/>
              <a:chOff x="0" y="0"/>
              <a:chExt cx="3905400" cy="1047900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FF5F7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77%</a:t>
                </a:r>
                <a:endParaRPr sz="2800" b="1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0" name="Google Shape;130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FCCD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1" name="Google Shape;131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Highest risk segment requiring immediate intervention. Accounts for the primary volume of overall member attrition.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" name="Google Shape;132;p15"/>
            <p:cNvGrpSpPr/>
            <p:nvPr/>
          </p:nvGrpSpPr>
          <p:grpSpPr>
            <a:xfrm>
              <a:off x="0" y="1762125"/>
              <a:ext cx="3905400" cy="1047900"/>
              <a:chOff x="0" y="0"/>
              <a:chExt cx="3905400" cy="10479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4F5F8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21%</a:t>
                </a:r>
                <a:endParaRPr sz="2800" b="1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6" name="Google Shape;136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7" name="Google Shape;137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Quarterly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Moderate retention with engagement potential. Serves as a key transition segment for long-term commitment upgrade.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8" name="Google Shape;138;p15"/>
            <p:cNvGrpSpPr/>
            <p:nvPr/>
          </p:nvGrpSpPr>
          <p:grpSpPr>
            <a:xfrm>
              <a:off x="0" y="2905125"/>
              <a:ext cx="3905400" cy="1047900"/>
              <a:chOff x="0" y="0"/>
              <a:chExt cx="3905400" cy="10479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0FDF4"/>
              </a:solidFill>
              <a:ln w="14300" cap="flat" cmpd="sng">
                <a:solidFill>
                  <a:srgbClr val="2E7D3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2E7D32"/>
                    </a:solidFill>
                    <a:latin typeface="Anton"/>
                    <a:ea typeface="Anton"/>
                    <a:cs typeface="Anton"/>
                    <a:sym typeface="Anton"/>
                  </a:rPr>
                  <a:t>8%</a:t>
                </a:r>
                <a:endParaRPr sz="2800" b="1">
                  <a:solidFill>
                    <a:srgbClr val="2E7D3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2E7D3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2E7D3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2" name="Google Shape;142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BBF7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3" name="Google Shape;143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Annual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Strongest commitment and highest retention. Represents the benchmark model for maximizing long-term customer lifetime value.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514350" y="523875"/>
            <a:ext cx="81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DMAIC Framework </a:t>
            </a:r>
            <a:r>
              <a:rPr lang="en" sz="248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: Member Attrition</a:t>
            </a:r>
            <a:endParaRPr sz="248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14350" y="971550"/>
            <a:ext cx="8115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The DMAIC framework provides a rigorous, data-driven structure to systematically resolve member attrition. This project applies the Lean Six Sigma DMAIC methodology, structured into five sequential phases: Define, Measure, Analyze, Improve, and Control.</a:t>
            </a:r>
            <a:endParaRPr sz="850" b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This empirical framework replaces creative ideation with statistical rigor to identify process defects and implement sustainable improvements.</a:t>
            </a:r>
            <a:endParaRPr sz="850" b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14350" y="1504950"/>
            <a:ext cx="81153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rPr>
              <a:t>Analytical Toolkit Deployed Across Sequential Phases</a:t>
            </a:r>
            <a:endParaRPr sz="1300" b="1">
              <a:solidFill>
                <a:srgbClr val="A6004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514350" y="1809750"/>
            <a:ext cx="1505100" cy="2809800"/>
            <a:chOff x="0" y="0"/>
            <a:chExt cx="1505100" cy="28098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DEFINE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Problem Framing &amp; Scope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SIPOC Map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Metrics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Charter Definition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SIPOC, VOC, Baseline Analysis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2162175" y="1809750"/>
            <a:ext cx="1505100" cy="2809800"/>
            <a:chOff x="0" y="0"/>
            <a:chExt cx="1505100" cy="2809800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MEASURE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Data Collection Plan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Measurement System Analysis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Capability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Attrition Rate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Metrics, Sampling Plans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3819525" y="1809750"/>
            <a:ext cx="1505100" cy="2809800"/>
            <a:chOff x="0" y="0"/>
            <a:chExt cx="1505100" cy="28098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ANALYZE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Root Cause Identification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Hypothesis Testing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Fishbone Analysis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5-Whys Validation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t-tests, Chi-square, ANOVA, Fishbone, 5-Whys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5476875" y="1809750"/>
            <a:ext cx="1505100" cy="2809800"/>
            <a:chOff x="0" y="0"/>
            <a:chExt cx="1505100" cy="2809800"/>
          </a:xfrm>
        </p:grpSpPr>
        <p:sp>
          <p:nvSpPr>
            <p:cNvPr id="173" name="Google Shape;173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IMPROVE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Solution Generation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Risk Assessment (FMEA)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Pilot Implementation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Optimization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Failure Mode &amp; Effect Analysis (FMEA)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7124700" y="1809750"/>
            <a:ext cx="1505100" cy="2809800"/>
            <a:chOff x="0" y="0"/>
            <a:chExt cx="1505100" cy="280980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CONTROL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Process Control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Standard Operating Procedures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Control Plan Execution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Sustainable Gains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P-Chart Statistical Process Control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cxnSp>
        <p:nvCxnSpPr>
          <p:cNvPr id="186" name="Google Shape;186;p16"/>
          <p:cNvCxnSpPr/>
          <p:nvPr/>
        </p:nvCxnSpPr>
        <p:spPr>
          <a:xfrm>
            <a:off x="514350" y="4743450"/>
            <a:ext cx="81153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E1C5D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14350" y="495300"/>
            <a:ext cx="811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dirty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DMAIC ANALYTICAL HIERARCHY</a:t>
            </a:r>
            <a:endParaRPr sz="2800" b="0" dirty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514350" y="1066800"/>
            <a:ext cx="1531500" cy="3619500"/>
            <a:chOff x="0" y="0"/>
            <a:chExt cx="1531500" cy="36195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01. DEFINE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9" name="Google Shape;199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0" name="Google Shape;200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Establish project scope, boundaries, and critical customer requirements.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Project Charter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SIPOC Diagram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CTQ Flowdown Tree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Problem statement, clear business case, and high-level process map establishing strict scope.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2160270" y="1066800"/>
            <a:ext cx="1531500" cy="3619500"/>
            <a:chOff x="0" y="0"/>
            <a:chExt cx="1531500" cy="3619500"/>
          </a:xfrm>
        </p:grpSpPr>
        <p:sp>
          <p:nvSpPr>
            <p:cNvPr id="202" name="Google Shape;202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02. MEASURE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5" name="Google Shape;205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6" name="Google Shape;206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Collect baseline performance data and validate measurement systems.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Master Data Cleaning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Pareto Analysis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Process Capability (Cpk)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Validated baseline metrics, capability scorecards, and prioritized defect concentration focus areas.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3806190" y="1066800"/>
            <a:ext cx="1531500" cy="3619500"/>
            <a:chOff x="0" y="0"/>
            <a:chExt cx="1531500" cy="3619500"/>
          </a:xfrm>
        </p:grpSpPr>
        <p:sp>
          <p:nvSpPr>
            <p:cNvPr id="208" name="Google Shape;208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03. ANALYZE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1" name="Google Shape;211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2" name="Google Shape;212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Isolate root causes and statistically validate key process drivers.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Welch T-Tests &amp; ANOVA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Chi-Square &amp; Levene's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Fishbone Diagram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5-Whys Analysis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Statistically confirmed root causes and quantitative driver isolation validating operational variation.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5452110" y="1066800"/>
            <a:ext cx="1531500" cy="3619500"/>
            <a:chOff x="0" y="0"/>
            <a:chExt cx="1531500" cy="3619500"/>
          </a:xfrm>
        </p:grpSpPr>
        <p:sp>
          <p:nvSpPr>
            <p:cNvPr id="214" name="Google Shape;214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04. IMPROVE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8" name="Google Shape;218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Develop, pilot, and deploy targeted solutions to eliminate root causes.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FMEA Risk Ranking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Action Item Matrix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Pilot Implementation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Prioritized countermeasure roadmap, risk-mitigated action plan, and pilot verification results.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9" name="Google Shape;219;p17"/>
          <p:cNvGrpSpPr/>
          <p:nvPr/>
        </p:nvGrpSpPr>
        <p:grpSpPr>
          <a:xfrm>
            <a:off x="7098030" y="1066800"/>
            <a:ext cx="1531500" cy="3619500"/>
            <a:chOff x="0" y="0"/>
            <a:chExt cx="1531500" cy="3619500"/>
          </a:xfrm>
        </p:grpSpPr>
        <p:sp>
          <p:nvSpPr>
            <p:cNvPr id="220" name="Google Shape;220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05. CONTROL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3" name="Google Shape;223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4" name="Google Shape;224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Standardize improvements and continuously monitor ongoing process health.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P-Chart SPC Control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Control Plan Framework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Standard Operating Procedures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Process Control charts, institutionalized SOPs, and long-term capability monitoring.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25" name="Google Shape;225;p17"/>
          <p:cNvSpPr/>
          <p:nvPr/>
        </p:nvSpPr>
        <p:spPr>
          <a:xfrm>
            <a:off x="514350" y="4819650"/>
            <a:ext cx="8115300" cy="38100"/>
          </a:xfrm>
          <a:prstGeom prst="rect">
            <a:avLst/>
          </a:prstGeom>
          <a:solidFill>
            <a:srgbClr val="0E1C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514350" y="361950"/>
            <a:ext cx="81153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DEFINE PHASE: </a:t>
            </a:r>
            <a:r>
              <a:rPr lang="en" sz="222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PROCESS MAP &amp; CTQ METRICS</a:t>
            </a:r>
            <a:endParaRPr sz="222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79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Defining retention process boundaries and Critical-to-Quality metrics establishes a clear baseline for process improvement.</a:t>
            </a:r>
            <a:endParaRPr sz="879" b="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32" name="Google Shape;232;p18"/>
          <p:cNvGrpSpPr/>
          <p:nvPr/>
        </p:nvGrpSpPr>
        <p:grpSpPr>
          <a:xfrm>
            <a:off x="514350" y="971550"/>
            <a:ext cx="5067300" cy="3533850"/>
            <a:chOff x="0" y="0"/>
            <a:chExt cx="5067300" cy="353385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5067300" cy="247800"/>
            </a:xfrm>
            <a:prstGeom prst="roundRect">
              <a:avLst>
                <a:gd name="adj" fmla="val 15384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0" y="0"/>
              <a:ext cx="50673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SIPOC PROCESS MAP (RETENTION PROCESS BOUNDARIES)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235" name="Google Shape;235;p18"/>
            <p:cNvGrpSpPr/>
            <p:nvPr/>
          </p:nvGrpSpPr>
          <p:grpSpPr>
            <a:xfrm>
              <a:off x="0" y="323850"/>
              <a:ext cx="952500" cy="3210000"/>
              <a:chOff x="0" y="0"/>
              <a:chExt cx="952500" cy="3210000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SUPPLIERS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Sales Team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Front Desk Staff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Marketing Admin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Billing Gateway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CRM System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40" name="Google Shape;240;p18"/>
            <p:cNvGrpSpPr/>
            <p:nvPr/>
          </p:nvGrpSpPr>
          <p:grpSpPr>
            <a:xfrm>
              <a:off x="1028700" y="323850"/>
              <a:ext cx="952500" cy="3210000"/>
              <a:chOff x="0" y="0"/>
              <a:chExt cx="952500" cy="3210000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INPUTS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Member Profile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Expiration Alert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Engagement Data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Renewal Offers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Feedback Surveys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2057400" y="323850"/>
              <a:ext cx="952500" cy="3210000"/>
              <a:chOff x="0" y="0"/>
              <a:chExt cx="952500" cy="3210000"/>
            </a:xfrm>
          </p:grpSpPr>
          <p:sp>
            <p:nvSpPr>
              <p:cNvPr id="246" name="Google Shape;24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PROCESS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FF1F2"/>
              </a:solidFill>
              <a:ln w="14300" cap="flat" cmpd="sng">
                <a:solidFill>
                  <a:srgbClr val="FECD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8"/>
              <p:cNvSpPr txBox="1"/>
              <p:nvPr/>
            </p:nvSpPr>
            <p:spPr>
              <a:xfrm>
                <a:off x="76200" y="381000"/>
                <a:ext cx="800100" cy="27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 Track Usage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Monitor active gym member frequency.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 Prompt Notice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Trigger automated renewal notice.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3. Staff Outreach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Conduct engagement touchpoints.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 Renewal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Execute payment or log exit.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50" name="Google Shape;250;p18"/>
            <p:cNvGrpSpPr/>
            <p:nvPr/>
          </p:nvGrpSpPr>
          <p:grpSpPr>
            <a:xfrm>
              <a:off x="3086100" y="323850"/>
              <a:ext cx="952500" cy="3210000"/>
              <a:chOff x="0" y="0"/>
              <a:chExt cx="952500" cy="3210000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OUTPUTS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 dirty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Renewed Contract</a:t>
                </a:r>
                <a:endParaRPr sz="750" b="0" dirty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Active Status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Payment Receipt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Non-Renewal Log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Member Feedback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55" name="Google Shape;255;p18"/>
            <p:cNvGrpSpPr/>
            <p:nvPr/>
          </p:nvGrpSpPr>
          <p:grpSpPr>
            <a:xfrm>
              <a:off x="4114800" y="323850"/>
              <a:ext cx="952500" cy="3210000"/>
              <a:chOff x="0" y="0"/>
              <a:chExt cx="952500" cy="3210000"/>
            </a:xfrm>
          </p:grpSpPr>
          <p:sp>
            <p:nvSpPr>
              <p:cNvPr id="256" name="Google Shape;25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CUSTOMERS</a:t>
                </a:r>
                <a:endParaRPr sz="900" dirty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Gym Members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Operations Team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Finance Dept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Management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260" name="Google Shape;260;p18"/>
          <p:cNvGrpSpPr/>
          <p:nvPr/>
        </p:nvGrpSpPr>
        <p:grpSpPr>
          <a:xfrm>
            <a:off x="5734050" y="971550"/>
            <a:ext cx="2895600" cy="3476700"/>
            <a:chOff x="0" y="0"/>
            <a:chExt cx="2895600" cy="3476700"/>
          </a:xfrm>
        </p:grpSpPr>
        <p:sp>
          <p:nvSpPr>
            <p:cNvPr id="261" name="Google Shape;261;p18"/>
            <p:cNvSpPr/>
            <p:nvPr/>
          </p:nvSpPr>
          <p:spPr>
            <a:xfrm>
              <a:off x="0" y="0"/>
              <a:ext cx="2895600" cy="3476700"/>
            </a:xfrm>
            <a:prstGeom prst="roundRect">
              <a:avLst>
                <a:gd name="adj" fmla="val 263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0" y="0"/>
              <a:ext cx="2895600" cy="573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152400" y="152400"/>
              <a:ext cx="2590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CRITICAL-TO-QUALITY (CTQ) METRICS</a:t>
              </a:r>
              <a:endParaRPr sz="1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Churn Rate</a:t>
              </a:r>
              <a:endParaRPr sz="8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= (Members Lost / Members Active) × 100%</a:t>
              </a:r>
              <a:endParaRPr sz="75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 Renewal Rate</a:t>
              </a:r>
              <a:endParaRPr sz="8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= (Members Renewed / Members Eligible) × 100%</a:t>
              </a:r>
              <a:endParaRPr sz="75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Operational Defect: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800" b="1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1 non-renewing member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264" name="Google Shape;264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2400" y="1728788"/>
              <a:ext cx="25527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8"/>
            <p:cNvSpPr txBox="1"/>
            <p:nvPr/>
          </p:nvSpPr>
          <p:spPr>
            <a:xfrm>
              <a:off x="152400" y="1847850"/>
              <a:ext cx="25908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DATA SOURCES ANALYZED</a:t>
              </a:r>
              <a:endParaRPr sz="1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&gt;475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historical membership transaction records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50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structured survey responses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&gt;60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customer reviews &amp; payment records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514350" y="523875"/>
            <a:ext cx="8115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Baseline Metrics Dashboard</a:t>
            </a:r>
            <a:endParaRPr sz="248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514350" y="933450"/>
            <a:ext cx="8115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rPr>
              <a:t>Measure Phase: Baseline Measurements &amp; Process Capability Analysis</a:t>
            </a:r>
            <a:endParaRPr sz="1300" b="1">
              <a:solidFill>
                <a:srgbClr val="A6004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2" name="Google Shape;272;p19"/>
          <p:cNvGrpSpPr/>
          <p:nvPr/>
        </p:nvGrpSpPr>
        <p:grpSpPr>
          <a:xfrm>
            <a:off x="514350" y="1285875"/>
            <a:ext cx="2571900" cy="1714500"/>
            <a:chOff x="0" y="0"/>
            <a:chExt cx="2571900" cy="1714500"/>
          </a:xfrm>
        </p:grpSpPr>
        <p:sp>
          <p:nvSpPr>
            <p:cNvPr id="273" name="Google Shape;273;p19"/>
            <p:cNvSpPr/>
            <p:nvPr/>
          </p:nvSpPr>
          <p:spPr>
            <a:xfrm>
              <a:off x="0" y="0"/>
              <a:ext cx="2571900" cy="1714500"/>
            </a:xfrm>
            <a:prstGeom prst="roundRect">
              <a:avLst>
                <a:gd name="adj" fmla="val 2222"/>
              </a:avLst>
            </a:prstGeom>
            <a:solidFill>
              <a:srgbClr val="F8F9FA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42875" y="171450"/>
              <a:ext cx="228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Overall Baseline Churn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142875" y="4000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~27%</a:t>
              </a:r>
              <a:endParaRPr sz="2405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142875" y="809625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77%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Quarterly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21%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Annual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8%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78" name="Google Shape;278;p19"/>
          <p:cNvGrpSpPr/>
          <p:nvPr/>
        </p:nvGrpSpPr>
        <p:grpSpPr>
          <a:xfrm>
            <a:off x="3286125" y="1285875"/>
            <a:ext cx="2571900" cy="1714500"/>
            <a:chOff x="0" y="0"/>
            <a:chExt cx="2571900" cy="1714500"/>
          </a:xfrm>
        </p:grpSpPr>
        <p:sp>
          <p:nvSpPr>
            <p:cNvPr id="279" name="Google Shape;279;p19"/>
            <p:cNvSpPr/>
            <p:nvPr/>
          </p:nvSpPr>
          <p:spPr>
            <a:xfrm>
              <a:off x="0" y="0"/>
              <a:ext cx="2571900" cy="1714500"/>
            </a:xfrm>
            <a:prstGeom prst="roundRect">
              <a:avLst>
                <a:gd name="adj" fmla="val 2222"/>
              </a:avLst>
            </a:prstGeom>
            <a:solidFill>
              <a:srgbClr val="F8F9FA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name="adj" fmla="val 3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9"/>
            <p:cNvSpPr txBox="1"/>
            <p:nvPr/>
          </p:nvSpPr>
          <p:spPr>
            <a:xfrm>
              <a:off x="142875" y="171450"/>
              <a:ext cx="228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Member Averages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2" name="Google Shape;282;p19"/>
            <p:cNvSpPr txBox="1"/>
            <p:nvPr/>
          </p:nvSpPr>
          <p:spPr>
            <a:xfrm>
              <a:off x="142875" y="428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Membership Duration</a:t>
              </a:r>
              <a:endParaRPr sz="77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8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~4.2 months</a:t>
              </a:r>
              <a:endParaRPr sz="98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283" name="Google Shape;283;p19"/>
            <p:cNvCxnSpPr/>
            <p:nvPr/>
          </p:nvCxnSpPr>
          <p:spPr>
            <a:xfrm>
              <a:off x="142875" y="1028700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4" name="Google Shape;284;p19"/>
            <p:cNvSpPr txBox="1"/>
            <p:nvPr/>
          </p:nvSpPr>
          <p:spPr>
            <a:xfrm>
              <a:off x="142875" y="1123950"/>
              <a:ext cx="1095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Payment Gap</a:t>
              </a:r>
              <a:endParaRPr sz="93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2.1 days</a:t>
              </a:r>
              <a:endParaRPr sz="110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5" name="Google Shape;285;p19"/>
            <p:cNvSpPr txBox="1"/>
            <p:nvPr/>
          </p:nvSpPr>
          <p:spPr>
            <a:xfrm>
              <a:off x="1285875" y="11239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Plan Amount</a:t>
              </a:r>
              <a:endParaRPr sz="93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₹1,847</a:t>
              </a:r>
              <a:endParaRPr sz="110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86" name="Google Shape;286;p19"/>
          <p:cNvGrpSpPr/>
          <p:nvPr/>
        </p:nvGrpSpPr>
        <p:grpSpPr>
          <a:xfrm>
            <a:off x="6057900" y="1285875"/>
            <a:ext cx="2571900" cy="3524400"/>
            <a:chOff x="0" y="0"/>
            <a:chExt cx="2571900" cy="35244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name="adj" fmla="val 1481"/>
              </a:avLst>
            </a:prstGeom>
            <a:solidFill>
              <a:srgbClr val="0E1C5D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0" y="0"/>
              <a:ext cx="2571900" cy="76200"/>
            </a:xfrm>
            <a:prstGeom prst="roundRect">
              <a:avLst>
                <a:gd name="adj" fmla="val 25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190500" y="209550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Capability</a:t>
              </a:r>
              <a:endParaRPr sz="13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190500" y="552450"/>
              <a:ext cx="2190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2.1 S igm a</a:t>
              </a:r>
              <a:endParaRPr sz="26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1" name="Google Shape;291;p19"/>
            <p:cNvSpPr txBox="1"/>
            <p:nvPr/>
          </p:nvSpPr>
          <p:spPr>
            <a:xfrm>
              <a:off x="190500" y="1000125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Level: Low</a:t>
              </a:r>
              <a:endParaRPr sz="11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292" name="Google Shape;292;p19"/>
            <p:cNvCxnSpPr/>
            <p:nvPr/>
          </p:nvCxnSpPr>
          <p:spPr>
            <a:xfrm>
              <a:off x="190500" y="131445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3" name="Google Shape;293;p19"/>
            <p:cNvSpPr txBox="1"/>
            <p:nvPr/>
          </p:nvSpPr>
          <p:spPr>
            <a:xfrm>
              <a:off x="190500" y="14478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DPMO Analysis</a:t>
              </a:r>
              <a:endParaRPr sz="10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190500" y="16954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~272,000</a:t>
              </a:r>
              <a:endParaRPr sz="20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190500" y="2114550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Defects Per Million Opportunities</a:t>
              </a:r>
              <a:endParaRPr sz="750" b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42875" y="2428875"/>
              <a:ext cx="2286000" cy="904800"/>
            </a:xfrm>
            <a:prstGeom prst="roundRect">
              <a:avLst>
                <a:gd name="adj" fmla="val 3157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 txBox="1"/>
            <p:nvPr/>
          </p:nvSpPr>
          <p:spPr>
            <a:xfrm>
              <a:off x="238125" y="2457450"/>
              <a:ext cx="2095500" cy="8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Critical Benchmark Gap</a:t>
              </a:r>
              <a:endParaRPr sz="9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00" b="0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Performance falls significantly below the 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3 S </a:t>
              </a:r>
              <a:r>
                <a:rPr lang="en-I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g m a </a:t>
              </a:r>
              <a:r>
                <a:rPr lang="en-I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n d u s t ry benchmark</a:t>
              </a:r>
              <a:r>
                <a:rPr lang="en" sz="800" b="0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, highlighting an urgent imperative for process optimization.</a:t>
              </a:r>
              <a:endParaRPr sz="800" b="0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514350" y="3143250"/>
            <a:ext cx="5343600" cy="1666800"/>
            <a:chOff x="0" y="0"/>
            <a:chExt cx="5343600" cy="1666800"/>
          </a:xfrm>
        </p:grpSpPr>
        <p:sp>
          <p:nvSpPr>
            <p:cNvPr id="299" name="Google Shape;299;p19"/>
            <p:cNvSpPr/>
            <p:nvPr/>
          </p:nvSpPr>
          <p:spPr>
            <a:xfrm>
              <a:off x="0" y="0"/>
              <a:ext cx="5343600" cy="1666800"/>
            </a:xfrm>
            <a:prstGeom prst="roundRect">
              <a:avLst>
                <a:gd name="adj" fmla="val 2285"/>
              </a:avLst>
            </a:prstGeom>
            <a:solidFill>
              <a:srgbClr val="FFFFFF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0" y="0"/>
              <a:ext cx="76200" cy="16668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/>
            <p:cNvSpPr txBox="1"/>
            <p:nvPr/>
          </p:nvSpPr>
          <p:spPr>
            <a:xfrm>
              <a:off x="238125" y="171450"/>
              <a:ext cx="490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Measure Phase Baseline Findings Summary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238125" y="457200"/>
              <a:ext cx="4905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Baseline measurements establish the current operating baseline with a severe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2.1 process sigma level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and a critical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27% overall monthly churn rate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Churn is exceptionally acute among monthly subscribers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77%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), whereas quarterly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21%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 and annual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8%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 contracts demonstrate vastly superior retention characteristics.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The average membership tenure stands at only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4.2 months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with a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2.1-day payment gap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, indicating immediate intervention is required in billing and onboarding workflows.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0" y="1946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20"/>
          <p:cNvGrpSpPr/>
          <p:nvPr/>
        </p:nvGrpSpPr>
        <p:grpSpPr>
          <a:xfrm>
            <a:off x="514350" y="523875"/>
            <a:ext cx="8115300" cy="619200"/>
            <a:chOff x="0" y="0"/>
            <a:chExt cx="8115300" cy="619200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0" y="0"/>
              <a:ext cx="811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PARETO ANALYSIS: FACILITY CHURN DRIVERS</a:t>
              </a:r>
              <a:endParaRPr sz="22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0" y="38100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Applying the 80/20 principle through Pareto Charts revealed the vital few factors driving the majority of member attrition: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514350" y="1190625"/>
            <a:ext cx="4057711" cy="2654125"/>
            <a:chOff x="0" y="0"/>
            <a:chExt cx="3905400" cy="255450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3905400" cy="2554500"/>
            </a:xfrm>
            <a:prstGeom prst="roundRect">
              <a:avLst>
                <a:gd name="adj" fmla="val 1666"/>
              </a:avLst>
            </a:prstGeom>
            <a:solidFill>
              <a:srgbClr val="F8F9FA"/>
            </a:solidFill>
            <a:ln w="9900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42875" y="114300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9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BY PLAN TYPE</a:t>
              </a:r>
              <a:endParaRPr sz="779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6"/>
                </a:spcBef>
                <a:spcAft>
                  <a:spcPts val="0"/>
                </a:spcAft>
                <a:buNone/>
              </a:pPr>
              <a:r>
                <a:rPr lang="en" sz="675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plan members experience a disproportionately high 77% churn rate, making them the primary target for retention efforts.</a:t>
              </a:r>
              <a:endParaRPr sz="675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95250" y="523875"/>
              <a:ext cx="3286275" cy="1476450"/>
              <a:chOff x="-333375" y="-47625"/>
              <a:chExt cx="3286275" cy="1476450"/>
            </a:xfrm>
          </p:grpSpPr>
          <p:cxnSp>
            <p:nvCxnSpPr>
              <p:cNvPr id="315" name="Google Shape;315;p20"/>
              <p:cNvCxnSpPr/>
              <p:nvPr/>
            </p:nvCxnSpPr>
            <p:spPr>
              <a:xfrm>
                <a:off x="0" y="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6" name="Google Shape;316;p20"/>
              <p:cNvCxnSpPr/>
              <p:nvPr/>
            </p:nvCxnSpPr>
            <p:spPr>
              <a:xfrm>
                <a:off x="0" y="2857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7" name="Google Shape;317;p20"/>
              <p:cNvCxnSpPr/>
              <p:nvPr/>
            </p:nvCxnSpPr>
            <p:spPr>
              <a:xfrm>
                <a:off x="0" y="5715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8" name="Google Shape;318;p20"/>
              <p:cNvCxnSpPr/>
              <p:nvPr/>
            </p:nvCxnSpPr>
            <p:spPr>
              <a:xfrm>
                <a:off x="0" y="8572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>
                <a:off x="0" y="11430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0" name="Google Shape;320;p20"/>
              <p:cNvSpPr txBox="1"/>
              <p:nvPr/>
            </p:nvSpPr>
            <p:spPr>
              <a:xfrm>
                <a:off x="-333375" y="-47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1" name="Google Shape;321;p20"/>
              <p:cNvSpPr txBox="1"/>
              <p:nvPr/>
            </p:nvSpPr>
            <p:spPr>
              <a:xfrm>
                <a:off x="-333375" y="2381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75%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2" name="Google Shape;322;p20"/>
              <p:cNvSpPr txBox="1"/>
              <p:nvPr/>
            </p:nvSpPr>
            <p:spPr>
              <a:xfrm>
                <a:off x="-333375" y="5238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3" name="Google Shape;323;p20"/>
              <p:cNvSpPr txBox="1"/>
              <p:nvPr/>
            </p:nvSpPr>
            <p:spPr>
              <a:xfrm>
                <a:off x="-333375" y="809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25%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4" name="Google Shape;324;p20"/>
              <p:cNvSpPr txBox="1"/>
              <p:nvPr/>
            </p:nvSpPr>
            <p:spPr>
              <a:xfrm>
                <a:off x="-333375" y="10953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5" name="Google Shape;325;p20"/>
              <p:cNvSpPr/>
              <p:nvPr/>
            </p:nvSpPr>
            <p:spPr>
              <a:xfrm>
                <a:off x="238125" y="262890"/>
                <a:ext cx="571500" cy="8802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0"/>
              <p:cNvSpPr txBox="1"/>
              <p:nvPr/>
            </p:nvSpPr>
            <p:spPr>
              <a:xfrm>
                <a:off x="238125" y="1143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27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77%</a:t>
                </a:r>
                <a:endParaRPr sz="727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7" name="Google Shape;327;p20"/>
              <p:cNvSpPr txBox="1"/>
              <p:nvPr/>
            </p:nvSpPr>
            <p:spPr>
              <a:xfrm>
                <a:off x="142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</a:t>
                </a:r>
                <a:endParaRPr sz="571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28" name="Google Shape;328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90625" y="97155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0"/>
              <p:cNvSpPr txBox="1"/>
              <p:nvPr/>
            </p:nvSpPr>
            <p:spPr>
              <a:xfrm>
                <a:off x="1190625" y="8382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3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15%</a:t>
                </a:r>
                <a:endParaRPr sz="623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30" name="Google Shape;330;p20"/>
              <p:cNvSpPr txBox="1"/>
              <p:nvPr/>
            </p:nvSpPr>
            <p:spPr>
              <a:xfrm>
                <a:off x="10953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Quarterly</a:t>
                </a:r>
                <a:endParaRPr sz="571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31" name="Google Shape;331;p2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143125" y="1047750"/>
                <a:ext cx="5715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0"/>
              <p:cNvSpPr txBox="1"/>
              <p:nvPr/>
            </p:nvSpPr>
            <p:spPr>
              <a:xfrm>
                <a:off x="2143125" y="9144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3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8%</a:t>
                </a:r>
                <a:endParaRPr sz="623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33" name="Google Shape;333;p20"/>
              <p:cNvSpPr txBox="1"/>
              <p:nvPr/>
            </p:nvSpPr>
            <p:spPr>
              <a:xfrm>
                <a:off x="2047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Annual</a:t>
                </a:r>
                <a:endParaRPr sz="571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34" name="Google Shape;334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19113" y="-9525"/>
                <a:ext cx="1900200" cy="285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20"/>
              <p:cNvSpPr/>
              <p:nvPr/>
            </p:nvSpPr>
            <p:spPr>
              <a:xfrm>
                <a:off x="490538" y="22955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1447800" y="6286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2400300" y="-2857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38" name="Google Shape;338;p2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0" y="223838"/>
                <a:ext cx="2952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39" name="Google Shape;339;p20"/>
          <p:cNvGrpSpPr/>
          <p:nvPr/>
        </p:nvGrpSpPr>
        <p:grpSpPr>
          <a:xfrm>
            <a:off x="4724400" y="1190625"/>
            <a:ext cx="3905400" cy="2654138"/>
            <a:chOff x="0" y="0"/>
            <a:chExt cx="3905400" cy="2466900"/>
          </a:xfrm>
        </p:grpSpPr>
        <p:sp>
          <p:nvSpPr>
            <p:cNvPr id="340" name="Google Shape;340;p20"/>
            <p:cNvSpPr/>
            <p:nvPr/>
          </p:nvSpPr>
          <p:spPr>
            <a:xfrm>
              <a:off x="0" y="0"/>
              <a:ext cx="3905400" cy="2466900"/>
            </a:xfrm>
            <a:prstGeom prst="roundRect">
              <a:avLst>
                <a:gd name="adj" fmla="val 1666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0"/>
            <p:cNvSpPr txBox="1"/>
            <p:nvPr/>
          </p:nvSpPr>
          <p:spPr>
            <a:xfrm>
              <a:off x="142875" y="114300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BY MEMBERSHIP DURATION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Short-tenure members, specifically those active for less than 3 months, represent the vast majority of churned individuals.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42" name="Google Shape;342;p20"/>
            <p:cNvGrpSpPr/>
            <p:nvPr/>
          </p:nvGrpSpPr>
          <p:grpSpPr>
            <a:xfrm>
              <a:off x="95250" y="523875"/>
              <a:ext cx="3286275" cy="1476450"/>
              <a:chOff x="-333375" y="-47625"/>
              <a:chExt cx="3286275" cy="1476450"/>
            </a:xfrm>
          </p:grpSpPr>
          <p:cxnSp>
            <p:nvCxnSpPr>
              <p:cNvPr id="343" name="Google Shape;343;p20"/>
              <p:cNvCxnSpPr/>
              <p:nvPr/>
            </p:nvCxnSpPr>
            <p:spPr>
              <a:xfrm>
                <a:off x="0" y="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20"/>
              <p:cNvCxnSpPr/>
              <p:nvPr/>
            </p:nvCxnSpPr>
            <p:spPr>
              <a:xfrm>
                <a:off x="0" y="2857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20"/>
              <p:cNvCxnSpPr/>
              <p:nvPr/>
            </p:nvCxnSpPr>
            <p:spPr>
              <a:xfrm>
                <a:off x="0" y="5715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20"/>
              <p:cNvCxnSpPr/>
              <p:nvPr/>
            </p:nvCxnSpPr>
            <p:spPr>
              <a:xfrm>
                <a:off x="0" y="8572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7" name="Google Shape;347;p20"/>
              <p:cNvCxnSpPr/>
              <p:nvPr/>
            </p:nvCxnSpPr>
            <p:spPr>
              <a:xfrm>
                <a:off x="0" y="11430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48" name="Google Shape;348;p20"/>
              <p:cNvSpPr txBox="1"/>
              <p:nvPr/>
            </p:nvSpPr>
            <p:spPr>
              <a:xfrm>
                <a:off x="-333375" y="-47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49" name="Google Shape;349;p20"/>
              <p:cNvSpPr txBox="1"/>
              <p:nvPr/>
            </p:nvSpPr>
            <p:spPr>
              <a:xfrm>
                <a:off x="-333375" y="2381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75%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0" name="Google Shape;350;p20"/>
              <p:cNvSpPr txBox="1"/>
              <p:nvPr/>
            </p:nvSpPr>
            <p:spPr>
              <a:xfrm>
                <a:off x="-333375" y="5238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1" name="Google Shape;351;p20"/>
              <p:cNvSpPr txBox="1"/>
              <p:nvPr/>
            </p:nvSpPr>
            <p:spPr>
              <a:xfrm>
                <a:off x="-333375" y="809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25%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2" name="Google Shape;352;p20"/>
              <p:cNvSpPr txBox="1"/>
              <p:nvPr/>
            </p:nvSpPr>
            <p:spPr>
              <a:xfrm>
                <a:off x="-333375" y="10953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238125" y="331470"/>
                <a:ext cx="571500" cy="8115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0"/>
              <p:cNvSpPr txBox="1"/>
              <p:nvPr/>
            </p:nvSpPr>
            <p:spPr>
              <a:xfrm>
                <a:off x="238125" y="180975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71%</a:t>
                </a:r>
                <a:endParaRPr sz="7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5" name="Google Shape;355;p20"/>
              <p:cNvSpPr txBox="1"/>
              <p:nvPr/>
            </p:nvSpPr>
            <p:spPr>
              <a:xfrm>
                <a:off x="142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&lt; 3 Months</a:t>
                </a:r>
                <a:endParaRPr sz="5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56" name="Google Shape;356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190625" y="933450"/>
                <a:ext cx="5715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p20"/>
              <p:cNvSpPr txBox="1"/>
              <p:nvPr/>
            </p:nvSpPr>
            <p:spPr>
              <a:xfrm>
                <a:off x="1190625" y="8001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18%</a:t>
                </a:r>
                <a:endParaRPr sz="600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8" name="Google Shape;358;p20"/>
              <p:cNvSpPr txBox="1"/>
              <p:nvPr/>
            </p:nvSpPr>
            <p:spPr>
              <a:xfrm>
                <a:off x="10953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3-6 Months</a:t>
                </a:r>
                <a:endParaRPr sz="5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59" name="Google Shape;359;p20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19113" y="-9525"/>
                <a:ext cx="18906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20"/>
              <p:cNvSpPr/>
              <p:nvPr/>
            </p:nvSpPr>
            <p:spPr>
              <a:xfrm>
                <a:off x="490538" y="29813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1447800" y="9715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2400300" y="-2857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63" name="Google Shape;363;p2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0" y="223838"/>
                <a:ext cx="2952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" name="Google Shape;364;p20"/>
          <p:cNvGrpSpPr/>
          <p:nvPr/>
        </p:nvGrpSpPr>
        <p:grpSpPr>
          <a:xfrm>
            <a:off x="278125" y="4221950"/>
            <a:ext cx="8400147" cy="714371"/>
            <a:chOff x="0" y="0"/>
            <a:chExt cx="8115300" cy="49530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8115300" cy="495300"/>
            </a:xfrm>
            <a:prstGeom prst="roundRect">
              <a:avLst>
                <a:gd name="adj" fmla="val 7692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0" y="0"/>
              <a:ext cx="57300" cy="4953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 txBox="1"/>
            <p:nvPr/>
          </p:nvSpPr>
          <p:spPr>
            <a:xfrm>
              <a:off x="190500" y="7620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6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80/20 RULE</a:t>
              </a:r>
              <a:endParaRPr sz="1656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368" name="Google Shape;368;p2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423988" y="95250"/>
              <a:ext cx="96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20"/>
            <p:cNvSpPr txBox="1"/>
            <p:nvPr/>
          </p:nvSpPr>
          <p:spPr>
            <a:xfrm>
              <a:off x="1571625" y="5715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Pareto analysis isolates </a:t>
              </a:r>
              <a:r>
                <a:rPr lang="en" sz="673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plan holders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and </a:t>
              </a:r>
              <a:r>
                <a:rPr lang="en" sz="673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early-tenure members (&lt;3 months)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as the primary drivers of facility churn. Together, these two key segments generate over </a:t>
              </a:r>
              <a:r>
                <a:rPr lang="en" sz="828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80% of total member attrition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sz="673" b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1"/>
          <p:cNvGrpSpPr/>
          <p:nvPr/>
        </p:nvGrpSpPr>
        <p:grpSpPr>
          <a:xfrm>
            <a:off x="514350" y="571500"/>
            <a:ext cx="8115300" cy="638250"/>
            <a:chOff x="0" y="0"/>
            <a:chExt cx="8115300" cy="638250"/>
          </a:xfrm>
        </p:grpSpPr>
        <p:sp>
          <p:nvSpPr>
            <p:cNvPr id="375" name="Google Shape;375;p21"/>
            <p:cNvSpPr txBox="1"/>
            <p:nvPr/>
          </p:nvSpPr>
          <p:spPr>
            <a:xfrm>
              <a:off x="0" y="0"/>
              <a:ext cx="811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Distribution Analysis &amp; Member Behavior</a:t>
              </a:r>
              <a:endParaRPr sz="2405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376" name="Google Shape;376;p21"/>
            <p:cNvSpPr txBox="1"/>
            <p:nvPr/>
          </p:nvSpPr>
          <p:spPr>
            <a:xfrm>
              <a:off x="0" y="40005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Distribution analysis highlights early member dropout and distinct seasonal enrollment peaks in January and June.</a:t>
              </a:r>
              <a:endParaRPr sz="8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77" name="Google Shape;377;p21"/>
          <p:cNvGrpSpPr/>
          <p:nvPr/>
        </p:nvGrpSpPr>
        <p:grpSpPr>
          <a:xfrm>
            <a:off x="514349" y="1238250"/>
            <a:ext cx="3724275" cy="3429000"/>
            <a:chOff x="0" y="0"/>
            <a:chExt cx="2552700" cy="3429000"/>
          </a:xfrm>
        </p:grpSpPr>
        <p:sp>
          <p:nvSpPr>
            <p:cNvPr id="378" name="Google Shape;378;p21"/>
            <p:cNvSpPr/>
            <p:nvPr/>
          </p:nvSpPr>
          <p:spPr>
            <a:xfrm>
              <a:off x="0" y="0"/>
              <a:ext cx="2552700" cy="3429000"/>
            </a:xfrm>
            <a:prstGeom prst="roundRect">
              <a:avLst>
                <a:gd name="adj" fmla="val 1492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142875" y="142875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Membership Duration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142875" y="304800"/>
              <a:ext cx="2267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6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• Right-Skewed:</a:t>
              </a:r>
              <a:r>
                <a:rPr lang="en" sz="6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The distribution is heavily right-skewed, confirming a severe early dropout pattern where the majority of members churn within 1 to 3 months.</a:t>
              </a:r>
              <a:endParaRPr sz="6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82" name="Google Shape;382;p21"/>
            <p:cNvGrpSpPr/>
            <p:nvPr/>
          </p:nvGrpSpPr>
          <p:grpSpPr>
            <a:xfrm>
              <a:off x="190500" y="952500"/>
              <a:ext cx="2285925" cy="1828800"/>
              <a:chOff x="0" y="47625"/>
              <a:chExt cx="2285925" cy="1828800"/>
            </a:xfrm>
          </p:grpSpPr>
          <p:cxnSp>
            <p:nvCxnSpPr>
              <p:cNvPr id="383" name="Google Shape;383;p21"/>
              <p:cNvCxnSpPr/>
              <p:nvPr/>
            </p:nvCxnSpPr>
            <p:spPr>
              <a:xfrm>
                <a:off x="238125" y="1714500"/>
                <a:ext cx="20478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21"/>
              <p:cNvCxnSpPr/>
              <p:nvPr/>
            </p:nvCxnSpPr>
            <p:spPr>
              <a:xfrm>
                <a:off x="238125" y="190500"/>
                <a:ext cx="0" cy="1524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385" name="Google Shape;385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38125" y="566738"/>
                <a:ext cx="2038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" name="Google Shape;386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38125" y="1138238"/>
                <a:ext cx="2038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" name="Google Shape;387;p21"/>
              <p:cNvSpPr txBox="1"/>
              <p:nvPr/>
            </p:nvSpPr>
            <p:spPr>
              <a:xfrm>
                <a:off x="0" y="5143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88" name="Google Shape;388;p21"/>
              <p:cNvSpPr txBox="1"/>
              <p:nvPr/>
            </p:nvSpPr>
            <p:spPr>
              <a:xfrm>
                <a:off x="0" y="10858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16573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304800" y="285750"/>
                <a:ext cx="266700" cy="14289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600075" y="762000"/>
                <a:ext cx="266700" cy="9525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895350" y="1190625"/>
                <a:ext cx="266700" cy="5238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1"/>
              <p:cNvSpPr/>
              <p:nvPr/>
            </p:nvSpPr>
            <p:spPr>
              <a:xfrm>
                <a:off x="1190625" y="1428750"/>
                <a:ext cx="266700" cy="2859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1485900" y="1571625"/>
                <a:ext cx="266700" cy="1428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1781175" y="1638300"/>
                <a:ext cx="266700" cy="76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1"/>
              <p:cNvSpPr txBox="1"/>
              <p:nvPr/>
            </p:nvSpPr>
            <p:spPr>
              <a:xfrm>
                <a:off x="26670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1-3m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7" name="Google Shape;397;p21"/>
              <p:cNvSpPr txBox="1"/>
              <p:nvPr/>
            </p:nvSpPr>
            <p:spPr>
              <a:xfrm>
                <a:off x="56197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4-6m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8" name="Google Shape;398;p21"/>
              <p:cNvSpPr txBox="1"/>
              <p:nvPr/>
            </p:nvSpPr>
            <p:spPr>
              <a:xfrm>
                <a:off x="85725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7-9m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9" name="Google Shape;399;p21"/>
              <p:cNvSpPr txBox="1"/>
              <p:nvPr/>
            </p:nvSpPr>
            <p:spPr>
              <a:xfrm>
                <a:off x="115252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10-12m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0" name="Google Shape;400;p21"/>
              <p:cNvSpPr txBox="1"/>
              <p:nvPr/>
            </p:nvSpPr>
            <p:spPr>
              <a:xfrm>
                <a:off x="144780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13-15m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1" name="Google Shape;401;p21"/>
              <p:cNvSpPr txBox="1"/>
              <p:nvPr/>
            </p:nvSpPr>
            <p:spPr>
              <a:xfrm>
                <a:off x="174307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16m+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285750" y="47625"/>
                <a:ext cx="762000" cy="190500"/>
              </a:xfrm>
              <a:prstGeom prst="roundRect">
                <a:avLst>
                  <a:gd name="adj" fmla="val 1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1"/>
              <p:cNvSpPr txBox="1"/>
              <p:nvPr/>
            </p:nvSpPr>
            <p:spPr>
              <a:xfrm>
                <a:off x="285750" y="4762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EARLY DROPOUT</a:t>
                </a:r>
                <a:endParaRPr sz="5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433" name="Google Shape;433;p21"/>
          <p:cNvGrpSpPr/>
          <p:nvPr/>
        </p:nvGrpSpPr>
        <p:grpSpPr>
          <a:xfrm>
            <a:off x="4252520" y="1238250"/>
            <a:ext cx="4377130" cy="3429000"/>
            <a:chOff x="0" y="0"/>
            <a:chExt cx="2552700" cy="3429000"/>
          </a:xfrm>
        </p:grpSpPr>
        <p:sp>
          <p:nvSpPr>
            <p:cNvPr id="434" name="Google Shape;434;p21"/>
            <p:cNvSpPr/>
            <p:nvPr/>
          </p:nvSpPr>
          <p:spPr>
            <a:xfrm>
              <a:off x="0" y="0"/>
              <a:ext cx="2552700" cy="3429000"/>
            </a:xfrm>
            <a:prstGeom prst="roundRect">
              <a:avLst>
                <a:gd name="adj" fmla="val 1492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 txBox="1"/>
            <p:nvPr/>
          </p:nvSpPr>
          <p:spPr>
            <a:xfrm>
              <a:off x="142875" y="142875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Enrollment Trend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7" name="Google Shape;437;p21"/>
            <p:cNvSpPr txBox="1"/>
            <p:nvPr/>
          </p:nvSpPr>
          <p:spPr>
            <a:xfrm>
              <a:off x="142875" y="304800"/>
              <a:ext cx="2267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600" b="1" dirty="0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Seasonal Peaks:</a:t>
              </a:r>
              <a:r>
                <a:rPr lang="en" sz="600" b="0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Facility sign-ups exhibit strong seasonal peaks, primarily concentrated in January and June.</a:t>
              </a:r>
              <a:endParaRPr sz="600" b="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438" name="Google Shape;438;p21"/>
            <p:cNvGrpSpPr/>
            <p:nvPr/>
          </p:nvGrpSpPr>
          <p:grpSpPr>
            <a:xfrm>
              <a:off x="142875" y="1095375"/>
              <a:ext cx="2333700" cy="1685925"/>
              <a:chOff x="0" y="190500"/>
              <a:chExt cx="2333700" cy="1685925"/>
            </a:xfrm>
          </p:grpSpPr>
          <p:cxnSp>
            <p:nvCxnSpPr>
              <p:cNvPr id="439" name="Google Shape;439;p21"/>
              <p:cNvCxnSpPr/>
              <p:nvPr/>
            </p:nvCxnSpPr>
            <p:spPr>
              <a:xfrm>
                <a:off x="190500" y="1714500"/>
                <a:ext cx="21432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p21"/>
              <p:cNvCxnSpPr/>
              <p:nvPr/>
            </p:nvCxnSpPr>
            <p:spPr>
              <a:xfrm>
                <a:off x="190500" y="190500"/>
                <a:ext cx="0" cy="1524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441" name="Google Shape;441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90500" y="471488"/>
                <a:ext cx="21432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" name="Google Shape;442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90500" y="1090613"/>
                <a:ext cx="21432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" name="Google Shape;443;p21"/>
              <p:cNvSpPr txBox="1"/>
              <p:nvPr/>
            </p:nvSpPr>
            <p:spPr>
              <a:xfrm>
                <a:off x="0" y="419100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Max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44" name="Google Shape;444;p21"/>
              <p:cNvSpPr txBox="1"/>
              <p:nvPr/>
            </p:nvSpPr>
            <p:spPr>
              <a:xfrm>
                <a:off x="0" y="10382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Mid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>
                <a:off x="238125" y="381000"/>
                <a:ext cx="1990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0909" y="60000"/>
                    </a:lnTo>
                    <a:lnTo>
                      <a:pt x="21818" y="77143"/>
                    </a:lnTo>
                    <a:lnTo>
                      <a:pt x="32727" y="85714"/>
                    </a:lnTo>
                    <a:lnTo>
                      <a:pt x="43636" y="68571"/>
                    </a:lnTo>
                    <a:lnTo>
                      <a:pt x="54545" y="8571"/>
                    </a:lnTo>
                    <a:lnTo>
                      <a:pt x="65455" y="55714"/>
                    </a:lnTo>
                    <a:lnTo>
                      <a:pt x="76364" y="64286"/>
                    </a:lnTo>
                    <a:lnTo>
                      <a:pt x="87273" y="72857"/>
                    </a:lnTo>
                    <a:lnTo>
                      <a:pt x="98182" y="81429"/>
                    </a:lnTo>
                    <a:lnTo>
                      <a:pt x="109091" y="60000"/>
                    </a:lnTo>
                    <a:lnTo>
                      <a:pt x="120000" y="77143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A60042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238125" y="381000"/>
                <a:ext cx="19908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0909" y="84000"/>
                    </a:lnTo>
                    <a:lnTo>
                      <a:pt x="21818" y="108000"/>
                    </a:lnTo>
                    <a:lnTo>
                      <a:pt x="32727" y="120000"/>
                    </a:lnTo>
                    <a:lnTo>
                      <a:pt x="43636" y="96000"/>
                    </a:lnTo>
                    <a:lnTo>
                      <a:pt x="54545" y="12000"/>
                    </a:lnTo>
                    <a:lnTo>
                      <a:pt x="65455" y="78000"/>
                    </a:lnTo>
                    <a:lnTo>
                      <a:pt x="76364" y="90000"/>
                    </a:lnTo>
                    <a:lnTo>
                      <a:pt x="87273" y="102000"/>
                    </a:lnTo>
                    <a:lnTo>
                      <a:pt x="98182" y="114000"/>
                    </a:lnTo>
                    <a:lnTo>
                      <a:pt x="109091" y="84000"/>
                    </a:lnTo>
                    <a:lnTo>
                      <a:pt x="120000" y="108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200025" y="342900"/>
                <a:ext cx="76200" cy="762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48" name="Google Shape;448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33363" y="381000"/>
                <a:ext cx="9600" cy="1314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9" name="Google Shape;449;p21"/>
              <p:cNvSpPr txBox="1"/>
              <p:nvPr/>
            </p:nvSpPr>
            <p:spPr>
              <a:xfrm>
                <a:off x="47625" y="20955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Jan Peak</a:t>
                </a:r>
                <a:endParaRPr sz="5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104900" y="438150"/>
                <a:ext cx="76200" cy="762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51" name="Google Shape;451;p2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138238" y="476250"/>
                <a:ext cx="9600" cy="1238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2" name="Google Shape;452;p21"/>
              <p:cNvSpPr txBox="1"/>
              <p:nvPr/>
            </p:nvSpPr>
            <p:spPr>
              <a:xfrm>
                <a:off x="952500" y="30480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Jun Peak</a:t>
                </a:r>
                <a:endParaRPr sz="5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3" name="Google Shape;453;p21"/>
              <p:cNvSpPr txBox="1"/>
              <p:nvPr/>
            </p:nvSpPr>
            <p:spPr>
              <a:xfrm>
                <a:off x="1619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4" name="Google Shape;454;p21"/>
              <p:cNvSpPr txBox="1"/>
              <p:nvPr/>
            </p:nvSpPr>
            <p:spPr>
              <a:xfrm>
                <a:off x="3429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5" name="Google Shape;455;p21"/>
              <p:cNvSpPr txBox="1"/>
              <p:nvPr/>
            </p:nvSpPr>
            <p:spPr>
              <a:xfrm>
                <a:off x="5238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6" name="Google Shape;456;p21"/>
              <p:cNvSpPr txBox="1"/>
              <p:nvPr/>
            </p:nvSpPr>
            <p:spPr>
              <a:xfrm>
                <a:off x="7048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7" name="Google Shape;457;p21"/>
              <p:cNvSpPr txBox="1"/>
              <p:nvPr/>
            </p:nvSpPr>
            <p:spPr>
              <a:xfrm>
                <a:off x="8858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8" name="Google Shape;458;p21"/>
              <p:cNvSpPr txBox="1"/>
              <p:nvPr/>
            </p:nvSpPr>
            <p:spPr>
              <a:xfrm>
                <a:off x="10668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9" name="Google Shape;459;p21"/>
              <p:cNvSpPr txBox="1"/>
              <p:nvPr/>
            </p:nvSpPr>
            <p:spPr>
              <a:xfrm>
                <a:off x="12477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0" name="Google Shape;460;p21"/>
              <p:cNvSpPr txBox="1"/>
              <p:nvPr/>
            </p:nvSpPr>
            <p:spPr>
              <a:xfrm>
                <a:off x="14287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1" name="Google Shape;461;p21"/>
              <p:cNvSpPr txBox="1"/>
              <p:nvPr/>
            </p:nvSpPr>
            <p:spPr>
              <a:xfrm>
                <a:off x="16097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2" name="Google Shape;462;p21"/>
              <p:cNvSpPr txBox="1"/>
              <p:nvPr/>
            </p:nvSpPr>
            <p:spPr>
              <a:xfrm>
                <a:off x="17907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3" name="Google Shape;463;p21"/>
              <p:cNvSpPr txBox="1"/>
              <p:nvPr/>
            </p:nvSpPr>
            <p:spPr>
              <a:xfrm>
                <a:off x="19716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4" name="Google Shape;464;p21"/>
              <p:cNvSpPr txBox="1"/>
              <p:nvPr/>
            </p:nvSpPr>
            <p:spPr>
              <a:xfrm>
                <a:off x="21526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381000" y="28575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Welch's Independent T-Tests: </a:t>
            </a:r>
            <a:r>
              <a:rPr lang="en" sz="222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Active vs. Churned Members</a:t>
            </a:r>
            <a:endParaRPr sz="222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381000" y="647700"/>
            <a:ext cx="83820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Independent T-Tests confirm significant differences in tenure, spend, and payment delays between active and churned members.</a:t>
            </a:r>
            <a:endParaRPr sz="950" b="0">
              <a:solidFill>
                <a:srgbClr val="555555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472" name="Google Shape;472;p22"/>
          <p:cNvGrpSpPr/>
          <p:nvPr/>
        </p:nvGrpSpPr>
        <p:grpSpPr>
          <a:xfrm>
            <a:off x="381000" y="971550"/>
            <a:ext cx="4048200" cy="3829200"/>
            <a:chOff x="0" y="0"/>
            <a:chExt cx="4048200" cy="3829200"/>
          </a:xfrm>
        </p:grpSpPr>
        <p:sp>
          <p:nvSpPr>
            <p:cNvPr id="473" name="Google Shape;473;p22"/>
            <p:cNvSpPr/>
            <p:nvPr/>
          </p:nvSpPr>
          <p:spPr>
            <a:xfrm>
              <a:off x="0" y="0"/>
              <a:ext cx="4048200" cy="3829200"/>
            </a:xfrm>
            <a:prstGeom prst="roundRect">
              <a:avLst>
                <a:gd name="adj" fmla="val 199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152400" y="13335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Distribution Profiles (Active vs Churned)</a:t>
              </a:r>
              <a:endParaRPr sz="9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2571750" y="180975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/>
            <p:cNvSpPr txBox="1"/>
            <p:nvPr/>
          </p:nvSpPr>
          <p:spPr>
            <a:xfrm>
              <a:off x="2705100" y="133350"/>
              <a:ext cx="4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Active</a:t>
              </a:r>
              <a:endParaRPr sz="800" b="0">
                <a:solidFill>
                  <a:srgbClr val="333333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3190875" y="180975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/>
            <p:cNvSpPr txBox="1"/>
            <p:nvPr/>
          </p:nvSpPr>
          <p:spPr>
            <a:xfrm>
              <a:off x="3324225" y="133350"/>
              <a:ext cx="52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Churned</a:t>
              </a:r>
              <a:endParaRPr sz="800" b="0">
                <a:solidFill>
                  <a:srgbClr val="333333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479" name="Google Shape;479;p22"/>
            <p:cNvGrpSpPr/>
            <p:nvPr/>
          </p:nvGrpSpPr>
          <p:grpSpPr>
            <a:xfrm>
              <a:off x="152400" y="438150"/>
              <a:ext cx="3743400" cy="419100"/>
              <a:chOff x="0" y="0"/>
              <a:chExt cx="3743400" cy="419100"/>
            </a:xfrm>
          </p:grpSpPr>
          <p:sp>
            <p:nvSpPr>
              <p:cNvPr id="480" name="Google Shape;48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Duration (Months) 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— Strongest Discriminator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481" name="Google Shape;48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2" name="Google Shape;482;p22"/>
              <p:cNvCxnSpPr/>
              <p:nvPr/>
            </p:nvCxnSpPr>
            <p:spPr>
              <a:xfrm>
                <a:off x="952500" y="228600"/>
                <a:ext cx="1524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1714500" y="171450"/>
                <a:ext cx="666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84" name="Google Shape;484;p22"/>
              <p:cNvCxnSpPr/>
              <p:nvPr/>
            </p:nvCxnSpPr>
            <p:spPr>
              <a:xfrm>
                <a:off x="204787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5" name="Google Shape;485;p22"/>
              <p:cNvCxnSpPr/>
              <p:nvPr/>
            </p:nvCxnSpPr>
            <p:spPr>
              <a:xfrm>
                <a:off x="285750" y="323850"/>
                <a:ext cx="952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6" name="Google Shape;486;p22"/>
              <p:cNvSpPr/>
              <p:nvPr/>
            </p:nvSpPr>
            <p:spPr>
              <a:xfrm>
                <a:off x="476250" y="285750"/>
                <a:ext cx="3810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87" name="Google Shape;487;p22"/>
              <p:cNvCxnSpPr/>
              <p:nvPr/>
            </p:nvCxnSpPr>
            <p:spPr>
              <a:xfrm>
                <a:off x="66675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8" name="Google Shape;48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6.8 mo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2.1 mo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489" name="Google Shape;489;p22"/>
            <p:cNvGrpSpPr/>
            <p:nvPr/>
          </p:nvGrpSpPr>
          <p:grpSpPr>
            <a:xfrm>
              <a:off x="152400" y="1104900"/>
              <a:ext cx="3743400" cy="419100"/>
              <a:chOff x="0" y="0"/>
              <a:chExt cx="3743400" cy="419100"/>
            </a:xfrm>
          </p:grpSpPr>
          <p:sp>
            <p:nvSpPr>
              <p:cNvPr id="490" name="Google Shape;49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 (Months) 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— Strong Discriminator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491" name="Google Shape;49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2" name="Google Shape;492;p22"/>
              <p:cNvCxnSpPr/>
              <p:nvPr/>
            </p:nvCxnSpPr>
            <p:spPr>
              <a:xfrm>
                <a:off x="1238250" y="22860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3" name="Google Shape;493;p22"/>
              <p:cNvSpPr/>
              <p:nvPr/>
            </p:nvSpPr>
            <p:spPr>
              <a:xfrm>
                <a:off x="1857375" y="171450"/>
                <a:ext cx="7143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4" name="Google Shape;494;p22"/>
              <p:cNvCxnSpPr/>
              <p:nvPr/>
            </p:nvCxnSpPr>
            <p:spPr>
              <a:xfrm>
                <a:off x="223837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5" name="Google Shape;495;p22"/>
              <p:cNvCxnSpPr/>
              <p:nvPr/>
            </p:nvCxnSpPr>
            <p:spPr>
              <a:xfrm>
                <a:off x="238125" y="323850"/>
                <a:ext cx="8097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6" name="Google Shape;496;p22"/>
              <p:cNvSpPr/>
              <p:nvPr/>
            </p:nvSpPr>
            <p:spPr>
              <a:xfrm>
                <a:off x="428625" y="285750"/>
                <a:ext cx="3621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7" name="Google Shape;497;p22"/>
              <p:cNvCxnSpPr/>
              <p:nvPr/>
            </p:nvCxnSpPr>
            <p:spPr>
              <a:xfrm>
                <a:off x="60960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8" name="Google Shape;49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8.4 mo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1.9 mo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499" name="Google Shape;499;p22"/>
            <p:cNvGrpSpPr/>
            <p:nvPr/>
          </p:nvGrpSpPr>
          <p:grpSpPr>
            <a:xfrm>
              <a:off x="152400" y="1771650"/>
              <a:ext cx="3743400" cy="419100"/>
              <a:chOff x="0" y="0"/>
              <a:chExt cx="3743400" cy="419100"/>
            </a:xfrm>
          </p:grpSpPr>
          <p:sp>
            <p:nvSpPr>
              <p:cNvPr id="500" name="Google Shape;50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Amount (₹)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01" name="Google Shape;50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2" name="Google Shape;502;p22"/>
              <p:cNvCxnSpPr/>
              <p:nvPr/>
            </p:nvCxnSpPr>
            <p:spPr>
              <a:xfrm>
                <a:off x="1047750" y="228600"/>
                <a:ext cx="1524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3" name="Google Shape;503;p22"/>
              <p:cNvSpPr/>
              <p:nvPr/>
            </p:nvSpPr>
            <p:spPr>
              <a:xfrm>
                <a:off x="1571625" y="171450"/>
                <a:ext cx="7620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4" name="Google Shape;504;p22"/>
              <p:cNvCxnSpPr/>
              <p:nvPr/>
            </p:nvCxnSpPr>
            <p:spPr>
              <a:xfrm>
                <a:off x="1952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5" name="Google Shape;505;p22"/>
              <p:cNvCxnSpPr/>
              <p:nvPr/>
            </p:nvCxnSpPr>
            <p:spPr>
              <a:xfrm>
                <a:off x="381000" y="323850"/>
                <a:ext cx="1333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6" name="Google Shape;506;p22"/>
              <p:cNvSpPr/>
              <p:nvPr/>
            </p:nvSpPr>
            <p:spPr>
              <a:xfrm>
                <a:off x="762000" y="285750"/>
                <a:ext cx="5715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7" name="Google Shape;507;p22"/>
              <p:cNvCxnSpPr/>
              <p:nvPr/>
            </p:nvCxnSpPr>
            <p:spPr>
              <a:xfrm>
                <a:off x="104775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8" name="Google Shape;50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₹2,140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₹1,420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09" name="Google Shape;509;p22"/>
            <p:cNvGrpSpPr/>
            <p:nvPr/>
          </p:nvGrpSpPr>
          <p:grpSpPr>
            <a:xfrm>
              <a:off x="152400" y="2438400"/>
              <a:ext cx="3743400" cy="419100"/>
              <a:chOff x="0" y="0"/>
              <a:chExt cx="3743400" cy="419100"/>
            </a:xfrm>
          </p:grpSpPr>
          <p:sp>
            <p:nvSpPr>
              <p:cNvPr id="510" name="Google Shape;51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Payment Gap (Days) 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— Higher in Churned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11" name="Google Shape;51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2" name="Google Shape;512;p22"/>
              <p:cNvCxnSpPr/>
              <p:nvPr/>
            </p:nvCxnSpPr>
            <p:spPr>
              <a:xfrm>
                <a:off x="190500" y="228600"/>
                <a:ext cx="6192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3" name="Google Shape;513;p22"/>
              <p:cNvSpPr/>
              <p:nvPr/>
            </p:nvSpPr>
            <p:spPr>
              <a:xfrm>
                <a:off x="285750" y="171450"/>
                <a:ext cx="285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4" name="Google Shape;514;p22"/>
              <p:cNvCxnSpPr/>
              <p:nvPr/>
            </p:nvCxnSpPr>
            <p:spPr>
              <a:xfrm>
                <a:off x="428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5" name="Google Shape;515;p22"/>
              <p:cNvCxnSpPr/>
              <p:nvPr/>
            </p:nvCxnSpPr>
            <p:spPr>
              <a:xfrm>
                <a:off x="714375" y="323850"/>
                <a:ext cx="17622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6" name="Google Shape;516;p22"/>
              <p:cNvSpPr/>
              <p:nvPr/>
            </p:nvSpPr>
            <p:spPr>
              <a:xfrm>
                <a:off x="1285875" y="285750"/>
                <a:ext cx="8097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7" name="Google Shape;517;p22"/>
              <p:cNvCxnSpPr/>
              <p:nvPr/>
            </p:nvCxnSpPr>
            <p:spPr>
              <a:xfrm>
                <a:off x="1666875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8" name="Google Shape;51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0.8d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3.9d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19" name="Google Shape;519;p22"/>
            <p:cNvGrpSpPr/>
            <p:nvPr/>
          </p:nvGrpSpPr>
          <p:grpSpPr>
            <a:xfrm>
              <a:off x="152400" y="3105150"/>
              <a:ext cx="3743400" cy="419100"/>
              <a:chOff x="0" y="0"/>
              <a:chExt cx="3743400" cy="419100"/>
            </a:xfrm>
          </p:grpSpPr>
          <p:sp>
            <p:nvSpPr>
              <p:cNvPr id="520" name="Google Shape;52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Age (Years)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21" name="Google Shape;52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2" name="Google Shape;522;p22"/>
              <p:cNvCxnSpPr/>
              <p:nvPr/>
            </p:nvCxnSpPr>
            <p:spPr>
              <a:xfrm>
                <a:off x="1143000" y="22860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3" name="Google Shape;523;p22"/>
              <p:cNvSpPr/>
              <p:nvPr/>
            </p:nvSpPr>
            <p:spPr>
              <a:xfrm>
                <a:off x="1666875" y="171450"/>
                <a:ext cx="6192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4" name="Google Shape;524;p22"/>
              <p:cNvCxnSpPr/>
              <p:nvPr/>
            </p:nvCxnSpPr>
            <p:spPr>
              <a:xfrm>
                <a:off x="1952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5" name="Google Shape;525;p22"/>
              <p:cNvCxnSpPr/>
              <p:nvPr/>
            </p:nvCxnSpPr>
            <p:spPr>
              <a:xfrm>
                <a:off x="762000" y="32385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6" name="Google Shape;526;p22"/>
              <p:cNvSpPr/>
              <p:nvPr/>
            </p:nvSpPr>
            <p:spPr>
              <a:xfrm>
                <a:off x="1190625" y="285750"/>
                <a:ext cx="5715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7" name="Google Shape;527;p22"/>
              <p:cNvCxnSpPr/>
              <p:nvPr/>
            </p:nvCxnSpPr>
            <p:spPr>
              <a:xfrm>
                <a:off x="1476375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8" name="Google Shape;52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34.2 y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29.8 y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529" name="Google Shape;529;p22"/>
          <p:cNvGrpSpPr/>
          <p:nvPr/>
        </p:nvGrpSpPr>
        <p:grpSpPr>
          <a:xfrm>
            <a:off x="4714875" y="971550"/>
            <a:ext cx="4048200" cy="3809850"/>
            <a:chOff x="0" y="0"/>
            <a:chExt cx="4048200" cy="3809850"/>
          </a:xfrm>
        </p:grpSpPr>
        <p:sp>
          <p:nvSpPr>
            <p:cNvPr id="530" name="Google Shape;530;p22"/>
            <p:cNvSpPr txBox="1"/>
            <p:nvPr/>
          </p:nvSpPr>
          <p:spPr>
            <a:xfrm>
              <a:off x="0" y="0"/>
              <a:ext cx="4048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Test Results (Welch's Two-Sample T-Test)</a:t>
              </a:r>
              <a:endParaRPr sz="9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1" name="Google Shape;531;p22"/>
            <p:cNvSpPr txBox="1"/>
            <p:nvPr/>
          </p:nvSpPr>
          <p:spPr>
            <a:xfrm>
              <a:off x="0" y="190500"/>
              <a:ext cx="4048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94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Welch's T-Tests compared continuous variables between groups (p &lt; 0.001 unless noted):</a:t>
              </a:r>
              <a:endParaRPr sz="694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532" name="Google Shape;532;p22"/>
            <p:cNvGrpSpPr/>
            <p:nvPr/>
          </p:nvGrpSpPr>
          <p:grpSpPr>
            <a:xfrm>
              <a:off x="0" y="400050"/>
              <a:ext cx="4048200" cy="1476450"/>
              <a:chOff x="0" y="0"/>
              <a:chExt cx="4048200" cy="1476450"/>
            </a:xfrm>
          </p:grpSpPr>
          <p:sp>
            <p:nvSpPr>
              <p:cNvPr id="533" name="Google Shape;533;p22"/>
              <p:cNvSpPr/>
              <p:nvPr/>
            </p:nvSpPr>
            <p:spPr>
              <a:xfrm>
                <a:off x="0" y="0"/>
                <a:ext cx="40482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2"/>
              <p:cNvSpPr txBox="1"/>
              <p:nvPr/>
            </p:nvSpPr>
            <p:spPr>
              <a:xfrm>
                <a:off x="114300" y="381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Metric / Variable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5" name="Google Shape;535;p22"/>
              <p:cNvSpPr txBox="1"/>
              <p:nvPr/>
            </p:nvSpPr>
            <p:spPr>
              <a:xfrm>
                <a:off x="1428750" y="381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Active Mean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6" name="Google Shape;536;p22"/>
              <p:cNvSpPr txBox="1"/>
              <p:nvPr/>
            </p:nvSpPr>
            <p:spPr>
              <a:xfrm>
                <a:off x="2286000" y="381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Churned Mean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7" name="Google Shape;537;p22"/>
              <p:cNvSpPr txBox="1"/>
              <p:nvPr/>
            </p:nvSpPr>
            <p:spPr>
              <a:xfrm>
                <a:off x="3190875" y="381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p-value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0" y="2476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2"/>
              <p:cNvSpPr txBox="1"/>
              <p:nvPr/>
            </p:nvSpPr>
            <p:spPr>
              <a:xfrm>
                <a:off x="114300" y="2857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Duration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0" name="Google Shape;540;p22"/>
              <p:cNvSpPr txBox="1"/>
              <p:nvPr/>
            </p:nvSpPr>
            <p:spPr>
              <a:xfrm>
                <a:off x="1428750" y="2857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6.8 months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1" name="Google Shape;541;p22"/>
              <p:cNvSpPr txBox="1"/>
              <p:nvPr/>
            </p:nvSpPr>
            <p:spPr>
              <a:xfrm>
                <a:off x="2286000" y="2857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2.1 months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2" name="Google Shape;542;p22"/>
              <p:cNvSpPr txBox="1"/>
              <p:nvPr/>
            </p:nvSpPr>
            <p:spPr>
              <a:xfrm>
                <a:off x="3190875" y="2857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 *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0" y="495300"/>
                <a:ext cx="4048200" cy="238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2"/>
              <p:cNvSpPr txBox="1"/>
              <p:nvPr/>
            </p:nvSpPr>
            <p:spPr>
              <a:xfrm>
                <a:off x="114300" y="5334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5" name="Google Shape;545;p22"/>
              <p:cNvSpPr txBox="1"/>
              <p:nvPr/>
            </p:nvSpPr>
            <p:spPr>
              <a:xfrm>
                <a:off x="1428750" y="5334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8.4 months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6" name="Google Shape;546;p22"/>
              <p:cNvSpPr txBox="1"/>
              <p:nvPr/>
            </p:nvSpPr>
            <p:spPr>
              <a:xfrm>
                <a:off x="2286000" y="5334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1.9 months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7" name="Google Shape;547;p22"/>
              <p:cNvSpPr txBox="1"/>
              <p:nvPr/>
            </p:nvSpPr>
            <p:spPr>
              <a:xfrm>
                <a:off x="3190875" y="5334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 *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0" y="7429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2"/>
              <p:cNvSpPr txBox="1"/>
              <p:nvPr/>
            </p:nvSpPr>
            <p:spPr>
              <a:xfrm>
                <a:off x="114300" y="7810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Plan Amount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50" name="Google Shape;550;p22"/>
              <p:cNvSpPr txBox="1"/>
              <p:nvPr/>
            </p:nvSpPr>
            <p:spPr>
              <a:xfrm>
                <a:off x="1428750" y="7810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 dirty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&gt;₹2,500</a:t>
                </a:r>
                <a:endParaRPr sz="750" b="0" dirty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1" name="Google Shape;551;p22"/>
              <p:cNvSpPr txBox="1"/>
              <p:nvPr/>
            </p:nvSpPr>
            <p:spPr>
              <a:xfrm>
                <a:off x="2286000" y="7810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₹1,420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2" name="Google Shape;552;p22"/>
              <p:cNvSpPr txBox="1"/>
              <p:nvPr/>
            </p:nvSpPr>
            <p:spPr>
              <a:xfrm>
                <a:off x="3190875" y="7810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>
                <a:off x="0" y="990600"/>
                <a:ext cx="4048200" cy="238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2"/>
              <p:cNvSpPr txBox="1"/>
              <p:nvPr/>
            </p:nvSpPr>
            <p:spPr>
              <a:xfrm>
                <a:off x="114300" y="10287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Payment Gap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55" name="Google Shape;555;p22"/>
              <p:cNvSpPr txBox="1"/>
              <p:nvPr/>
            </p:nvSpPr>
            <p:spPr>
              <a:xfrm>
                <a:off x="1428750" y="10287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0.8 days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6" name="Google Shape;556;p22"/>
              <p:cNvSpPr txBox="1"/>
              <p:nvPr/>
            </p:nvSpPr>
            <p:spPr>
              <a:xfrm>
                <a:off x="2286000" y="10287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3.9 days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7" name="Google Shape;557;p22"/>
              <p:cNvSpPr txBox="1"/>
              <p:nvPr/>
            </p:nvSpPr>
            <p:spPr>
              <a:xfrm>
                <a:off x="3190875" y="10287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0" y="12382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2"/>
              <p:cNvSpPr txBox="1"/>
              <p:nvPr/>
            </p:nvSpPr>
            <p:spPr>
              <a:xfrm>
                <a:off x="114300" y="12763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Member Age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60" name="Google Shape;560;p22"/>
              <p:cNvSpPr txBox="1"/>
              <p:nvPr/>
            </p:nvSpPr>
            <p:spPr>
              <a:xfrm>
                <a:off x="1428750" y="12763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34.2 yrs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61" name="Google Shape;561;p22"/>
              <p:cNvSpPr txBox="1"/>
              <p:nvPr/>
            </p:nvSpPr>
            <p:spPr>
              <a:xfrm>
                <a:off x="2286000" y="12763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29.8 yrs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62" name="Google Shape;562;p22"/>
              <p:cNvSpPr txBox="1"/>
              <p:nvPr/>
            </p:nvSpPr>
            <p:spPr>
              <a:xfrm>
                <a:off x="3190875" y="12763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= 0.001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63" name="Google Shape;563;p22"/>
            <p:cNvGrpSpPr/>
            <p:nvPr/>
          </p:nvGrpSpPr>
          <p:grpSpPr>
            <a:xfrm>
              <a:off x="0" y="2000250"/>
              <a:ext cx="4048200" cy="1809600"/>
              <a:chOff x="0" y="0"/>
              <a:chExt cx="4048200" cy="1809600"/>
            </a:xfrm>
          </p:grpSpPr>
          <p:sp>
            <p:nvSpPr>
              <p:cNvPr id="564" name="Google Shape;564;p22"/>
              <p:cNvSpPr/>
              <p:nvPr/>
            </p:nvSpPr>
            <p:spPr>
              <a:xfrm>
                <a:off x="0" y="0"/>
                <a:ext cx="4048200" cy="1809600"/>
              </a:xfrm>
              <a:prstGeom prst="roundRect">
                <a:avLst>
                  <a:gd name="adj" fmla="val 421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0" y="0"/>
                <a:ext cx="57300" cy="18096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2"/>
              <p:cNvSpPr txBox="1"/>
              <p:nvPr/>
            </p:nvSpPr>
            <p:spPr>
              <a:xfrm>
                <a:off x="209550" y="171450"/>
                <a:ext cx="3619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KEY STATISTICAL TAKEAWAY</a:t>
                </a:r>
                <a:endParaRPr sz="10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567" name="Google Shape;567;p22"/>
              <p:cNvSpPr txBox="1"/>
              <p:nvPr/>
            </p:nvSpPr>
            <p:spPr>
              <a:xfrm>
                <a:off x="209550" y="457200"/>
                <a:ext cx="3619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80A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and plan duration</a:t>
                </a:r>
                <a:r>
                  <a:rPr lang="en" sz="110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are the strongest continuous discriminators separating retained customers from churned accounts.</a:t>
                </a:r>
                <a:endParaRPr sz="11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23"/>
          <p:cNvGrpSpPr/>
          <p:nvPr/>
        </p:nvGrpSpPr>
        <p:grpSpPr>
          <a:xfrm>
            <a:off x="476250" y="333375"/>
            <a:ext cx="8191500" cy="647700"/>
            <a:chOff x="0" y="0"/>
            <a:chExt cx="8191500" cy="647700"/>
          </a:xfrm>
        </p:grpSpPr>
        <p:sp>
          <p:nvSpPr>
            <p:cNvPr id="574" name="Google Shape;574;p23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Statistical Associations &amp; </a:t>
              </a:r>
              <a:r>
                <a:rPr lang="en" sz="2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Variance Homogeneity</a:t>
              </a:r>
              <a:endParaRPr sz="26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575" name="Google Shape;575;p23"/>
            <p:cNvSpPr txBox="1"/>
            <p:nvPr/>
          </p:nvSpPr>
          <p:spPr>
            <a:xfrm>
              <a:off x="0" y="419100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Chi-Square tests prove plan type and duration are strong categorical predictors of churn, while variances remain equal.</a:t>
              </a:r>
              <a:endParaRPr sz="950" b="0">
                <a:solidFill>
                  <a:srgbClr val="555555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576" name="Google Shape;576;p23"/>
          <p:cNvGrpSpPr/>
          <p:nvPr/>
        </p:nvGrpSpPr>
        <p:grpSpPr>
          <a:xfrm>
            <a:off x="476250" y="1095375"/>
            <a:ext cx="3981600" cy="3667200"/>
            <a:chOff x="0" y="0"/>
            <a:chExt cx="3981600" cy="3667200"/>
          </a:xfrm>
        </p:grpSpPr>
        <p:sp>
          <p:nvSpPr>
            <p:cNvPr id="577" name="Google Shape;577;p23"/>
            <p:cNvSpPr/>
            <p:nvPr/>
          </p:nvSpPr>
          <p:spPr>
            <a:xfrm>
              <a:off x="0" y="0"/>
              <a:ext cx="3981600" cy="3667200"/>
            </a:xfrm>
            <a:prstGeom prst="roundRect">
              <a:avLst>
                <a:gd name="adj" fmla="val 207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0" y="0"/>
              <a:ext cx="3981600" cy="362100"/>
            </a:xfrm>
            <a:prstGeom prst="roundRect">
              <a:avLst>
                <a:gd name="adj" fmla="val 21052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0" y="266700"/>
              <a:ext cx="3981600" cy="954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 txBox="1"/>
            <p:nvPr/>
          </p:nvSpPr>
          <p:spPr>
            <a:xfrm>
              <a:off x="152400" y="7620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CHI-SQUARE TESTS OF INDEPENDENCE</a:t>
              </a:r>
              <a:endParaRPr sz="1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581" name="Google Shape;581;p23"/>
            <p:cNvSpPr txBox="1"/>
            <p:nvPr/>
          </p:nvSpPr>
          <p:spPr>
            <a:xfrm>
              <a:off x="152400" y="43815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38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associations between categorical variables and churn status were evaluated:</a:t>
              </a:r>
              <a:endParaRPr sz="638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582" name="Google Shape;582;p23"/>
            <p:cNvGrpSpPr/>
            <p:nvPr/>
          </p:nvGrpSpPr>
          <p:grpSpPr>
            <a:xfrm>
              <a:off x="152400" y="685800"/>
              <a:ext cx="3676800" cy="495300"/>
              <a:chOff x="0" y="0"/>
              <a:chExt cx="3676800" cy="495300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Type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A60042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Strong predictor</a:t>
                </a:r>
                <a:endParaRPr sz="800" b="0">
                  <a:solidFill>
                    <a:srgbClr val="A60042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86" name="Google Shape;586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87.43</a:t>
                </a:r>
                <a:endParaRPr sz="1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87" name="Google Shape;587;p23"/>
            <p:cNvGrpSpPr/>
            <p:nvPr/>
          </p:nvGrpSpPr>
          <p:grpSpPr>
            <a:xfrm>
              <a:off x="152400" y="1257300"/>
              <a:ext cx="3676800" cy="495300"/>
              <a:chOff x="0" y="0"/>
              <a:chExt cx="3676800" cy="495300"/>
            </a:xfrm>
          </p:grpSpPr>
          <p:sp>
            <p:nvSpPr>
              <p:cNvPr id="588" name="Google Shape;588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A60042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Very strong predictor</a:t>
                </a:r>
                <a:endParaRPr sz="800" b="0">
                  <a:solidFill>
                    <a:srgbClr val="A60042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91" name="Google Shape;591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95.12</a:t>
                </a:r>
                <a:endParaRPr sz="1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92" name="Google Shape;592;p23"/>
            <p:cNvGrpSpPr/>
            <p:nvPr/>
          </p:nvGrpSpPr>
          <p:grpSpPr>
            <a:xfrm>
              <a:off x="152400" y="1828800"/>
              <a:ext cx="3676800" cy="495300"/>
              <a:chOff x="0" y="0"/>
              <a:chExt cx="3676800" cy="495300"/>
            </a:xfrm>
          </p:grpSpPr>
          <p:sp>
            <p:nvSpPr>
              <p:cNvPr id="593" name="Google Shape;593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Payment Method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Significant</a:t>
                </a:r>
                <a:endParaRPr sz="80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96" name="Google Shape;596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12.31</a:t>
                </a:r>
                <a:endParaRPr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= 0.006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152400" y="2438400"/>
              <a:ext cx="3676800" cy="1076400"/>
              <a:chOff x="0" y="0"/>
              <a:chExt cx="3676800" cy="1076400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0" y="0"/>
                <a:ext cx="3676800" cy="1076400"/>
              </a:xfrm>
              <a:prstGeom prst="roundRect">
                <a:avLst>
                  <a:gd name="adj" fmla="val 5309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152400" y="133350"/>
                <a:ext cx="3372000" cy="19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3"/>
              <p:cNvSpPr txBox="1"/>
              <p:nvPr/>
            </p:nvSpPr>
            <p:spPr>
              <a:xfrm>
                <a:off x="152400" y="228600"/>
                <a:ext cx="3372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Independent Variables (Non-Significant):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Gender (p = 0.143) and Branch (p = 0.090) showed no significant association with churn.</a:t>
                </a:r>
                <a:endParaRPr sz="8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601" name="Google Shape;601;p23"/>
          <p:cNvGrpSpPr/>
          <p:nvPr/>
        </p:nvGrpSpPr>
        <p:grpSpPr>
          <a:xfrm>
            <a:off x="4686300" y="1095375"/>
            <a:ext cx="3981600" cy="3667200"/>
            <a:chOff x="0" y="0"/>
            <a:chExt cx="3981600" cy="3667200"/>
          </a:xfrm>
        </p:grpSpPr>
        <p:sp>
          <p:nvSpPr>
            <p:cNvPr id="602" name="Google Shape;602;p23"/>
            <p:cNvSpPr/>
            <p:nvPr/>
          </p:nvSpPr>
          <p:spPr>
            <a:xfrm>
              <a:off x="0" y="0"/>
              <a:ext cx="3981600" cy="3667200"/>
            </a:xfrm>
            <a:prstGeom prst="roundRect">
              <a:avLst>
                <a:gd name="adj" fmla="val 207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0" y="0"/>
              <a:ext cx="3981600" cy="362100"/>
            </a:xfrm>
            <a:prstGeom prst="roundRect">
              <a:avLst>
                <a:gd name="adj" fmla="val 21052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0" y="266700"/>
              <a:ext cx="3981600" cy="954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 txBox="1"/>
            <p:nvPr/>
          </p:nvSpPr>
          <p:spPr>
            <a:xfrm>
              <a:off x="152400" y="7620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HOMOGENEITY OF VARIANCE (LEVENE'S TEST)</a:t>
              </a:r>
              <a:endParaRPr sz="1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606" name="Google Shape;606;p23"/>
            <p:cNvGrpSpPr/>
            <p:nvPr/>
          </p:nvGrpSpPr>
          <p:grpSpPr>
            <a:xfrm>
              <a:off x="152400" y="495300"/>
              <a:ext cx="3676800" cy="1762200"/>
              <a:chOff x="0" y="0"/>
              <a:chExt cx="3676800" cy="1762200"/>
            </a:xfrm>
          </p:grpSpPr>
          <p:sp>
            <p:nvSpPr>
              <p:cNvPr id="607" name="Google Shape;607;p23"/>
              <p:cNvSpPr/>
              <p:nvPr/>
            </p:nvSpPr>
            <p:spPr>
              <a:xfrm>
                <a:off x="0" y="0"/>
                <a:ext cx="3676800" cy="1762200"/>
              </a:xfrm>
              <a:prstGeom prst="roundRect">
                <a:avLst>
                  <a:gd name="adj" fmla="val 3243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0" y="0"/>
                <a:ext cx="57300" cy="17622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 txBox="1"/>
              <p:nvPr/>
            </p:nvSpPr>
            <p:spPr>
              <a:xfrm>
                <a:off x="190500" y="190500"/>
                <a:ext cx="32958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Parametric Assumptions Validated</a:t>
                </a:r>
                <a:endParaRPr sz="12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Levene's Test verified the homogeneity of variance for all satisfaction variables (</a:t>
                </a:r>
                <a:r>
                  <a:rPr lang="en" sz="8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all p &gt; 0.05</a:t>
                </a:r>
                <a:r>
                  <a:rPr lang="en" sz="8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).</a:t>
                </a:r>
                <a:endParaRPr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94A3B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This confirms equal variance across groups, validating the robust application of subsequent parametric statistical analyses.</a:t>
                </a:r>
                <a:endParaRPr sz="800" b="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610" name="Google Shape;610;p23"/>
            <p:cNvGrpSpPr/>
            <p:nvPr/>
          </p:nvGrpSpPr>
          <p:grpSpPr>
            <a:xfrm>
              <a:off x="152400" y="2390775"/>
              <a:ext cx="3676800" cy="1124100"/>
              <a:chOff x="0" y="0"/>
              <a:chExt cx="3676800" cy="1124100"/>
            </a:xfrm>
          </p:grpSpPr>
          <p:sp>
            <p:nvSpPr>
              <p:cNvPr id="611" name="Google Shape;611;p23"/>
              <p:cNvSpPr/>
              <p:nvPr/>
            </p:nvSpPr>
            <p:spPr>
              <a:xfrm>
                <a:off x="0" y="0"/>
                <a:ext cx="3676800" cy="1124100"/>
              </a:xfrm>
              <a:prstGeom prst="roundRect">
                <a:avLst>
                  <a:gd name="adj" fmla="val 5084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3"/>
              <p:cNvSpPr/>
              <p:nvPr/>
            </p:nvSpPr>
            <p:spPr>
              <a:xfrm>
                <a:off x="171450" y="228600"/>
                <a:ext cx="342900" cy="3429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266700" y="333375"/>
                <a:ext cx="1524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70000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 txBox="1"/>
              <p:nvPr/>
            </p:nvSpPr>
            <p:spPr>
              <a:xfrm>
                <a:off x="628650" y="190500"/>
                <a:ext cx="2895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Equal Variance Confirmed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780" b="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Satisfaction metric variances meet key statistical requirements (p &gt; 0.05 threshold), permitting standard ANOVA and t-test evaluations.</a:t>
                </a:r>
                <a:endParaRPr sz="78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620;p24"/>
          <p:cNvGrpSpPr/>
          <p:nvPr/>
        </p:nvGrpSpPr>
        <p:grpSpPr>
          <a:xfrm>
            <a:off x="381000" y="285750"/>
            <a:ext cx="8382000" cy="571650"/>
            <a:chOff x="0" y="0"/>
            <a:chExt cx="8382000" cy="571650"/>
          </a:xfrm>
        </p:grpSpPr>
        <p:sp>
          <p:nvSpPr>
            <p:cNvPr id="621" name="Google Shape;621;p24"/>
            <p:cNvSpPr txBox="1"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ANOVA RESULTS &amp; </a:t>
              </a:r>
              <a:r>
                <a:rPr lang="en" sz="222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SATISFACTION ANALYSIS</a:t>
              </a:r>
              <a:endParaRPr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622" name="Google Shape;622;p24"/>
            <p:cNvSpPr txBox="1"/>
            <p:nvPr/>
          </p:nvSpPr>
          <p:spPr>
            <a:xfrm>
              <a:off x="0" y="361950"/>
              <a:ext cx="8382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Evaluating satisfaction variance across Monthly, Quarterly, and Annual membership plans</a:t>
              </a:r>
              <a:endParaRPr sz="95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623" name="Google Shape;623;p24"/>
          <p:cNvGrpSpPr/>
          <p:nvPr/>
        </p:nvGrpSpPr>
        <p:grpSpPr>
          <a:xfrm>
            <a:off x="381000" y="952500"/>
            <a:ext cx="4048200" cy="3638700"/>
            <a:chOff x="0" y="0"/>
            <a:chExt cx="4048200" cy="3638700"/>
          </a:xfrm>
        </p:grpSpPr>
        <p:sp>
          <p:nvSpPr>
            <p:cNvPr id="624" name="Google Shape;624;p24"/>
            <p:cNvSpPr/>
            <p:nvPr/>
          </p:nvSpPr>
          <p:spPr>
            <a:xfrm>
              <a:off x="0" y="0"/>
              <a:ext cx="4048200" cy="1028700"/>
            </a:xfrm>
            <a:prstGeom prst="roundRect">
              <a:avLst>
                <a:gd name="adj" fmla="val 7407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190500" y="114300"/>
              <a:ext cx="3667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80A0"/>
                  </a:solidFill>
                  <a:latin typeface="Anton"/>
                  <a:ea typeface="Anton"/>
                  <a:cs typeface="Anton"/>
                  <a:sym typeface="Anton"/>
                </a:rPr>
                <a:t>KEY STATISTICAL FINDING</a:t>
              </a:r>
              <a:endParaRPr sz="1200" b="0">
                <a:solidFill>
                  <a:srgbClr val="FF80A0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ANOVA results demonstrate that </a:t>
              </a: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annual plan members</a:t>
              </a:r>
              <a:r>
                <a:rPr lang="en"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 report significantly higher equipment and overall satisfaction, supporting strategies to migrate monthly members to longer commitments.</a:t>
              </a:r>
              <a:endParaRPr sz="850" b="0">
                <a:solidFill>
                  <a:srgbClr val="E2E8F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627" name="Google Shape;627;p24"/>
            <p:cNvGrpSpPr/>
            <p:nvPr/>
          </p:nvGrpSpPr>
          <p:grpSpPr>
            <a:xfrm>
              <a:off x="0" y="1143000"/>
              <a:ext cx="4048200" cy="2495700"/>
              <a:chOff x="0" y="0"/>
              <a:chExt cx="4048200" cy="2495700"/>
            </a:xfrm>
          </p:grpSpPr>
          <p:sp>
            <p:nvSpPr>
              <p:cNvPr id="628" name="Google Shape;628;p24"/>
              <p:cNvSpPr/>
              <p:nvPr/>
            </p:nvSpPr>
            <p:spPr>
              <a:xfrm>
                <a:off x="0" y="0"/>
                <a:ext cx="4048200" cy="2495700"/>
              </a:xfrm>
              <a:prstGeom prst="roundRect">
                <a:avLst>
                  <a:gd name="adj" fmla="val 3053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4"/>
              <p:cNvSpPr txBox="1"/>
              <p:nvPr/>
            </p:nvSpPr>
            <p:spPr>
              <a:xfrm>
                <a:off x="152400" y="133350"/>
                <a:ext cx="37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25" b="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ONE-WAY ANOVA BREAKDOWN</a:t>
                </a:r>
                <a:endParaRPr sz="92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Tested whether satisfaction scores differed across plan tiers:</a:t>
                </a:r>
                <a:endParaRPr sz="694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grpSp>
            <p:nvGrpSpPr>
              <p:cNvPr id="630" name="Google Shape;630;p24"/>
              <p:cNvGrpSpPr/>
              <p:nvPr/>
            </p:nvGrpSpPr>
            <p:grpSpPr>
              <a:xfrm>
                <a:off x="152400" y="495300"/>
                <a:ext cx="3743400" cy="419100"/>
                <a:chOff x="0" y="0"/>
                <a:chExt cx="3743400" cy="419100"/>
              </a:xfrm>
            </p:grpSpPr>
            <p:sp>
              <p:nvSpPr>
                <p:cNvPr id="631" name="Google Shape;631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Equipment Satisfaction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 = 4.344, p = 0.0186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34" name="Google Shape;634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p &lt; 0.05 *</a:t>
                  </a:r>
                  <a:endParaRPr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36" name="Google Shape;636;p24"/>
              <p:cNvGrpSpPr/>
              <p:nvPr/>
            </p:nvGrpSpPr>
            <p:grpSpPr>
              <a:xfrm>
                <a:off x="152400" y="971550"/>
                <a:ext cx="3743400" cy="419100"/>
                <a:chOff x="0" y="0"/>
                <a:chExt cx="3743400" cy="419100"/>
              </a:xfrm>
            </p:grpSpPr>
            <p:sp>
              <p:nvSpPr>
                <p:cNvPr id="637" name="Google Shape;637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Overall Satisfaction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 = 4.887, p = 0.0118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40" name="Google Shape;640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p &lt; 0.05 *</a:t>
                  </a:r>
                  <a:endParaRPr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42" name="Google Shape;642;p24"/>
              <p:cNvGrpSpPr/>
              <p:nvPr/>
            </p:nvGrpSpPr>
            <p:grpSpPr>
              <a:xfrm>
                <a:off x="152400" y="1447800"/>
                <a:ext cx="3743400" cy="419100"/>
                <a:chOff x="0" y="0"/>
                <a:chExt cx="3743400" cy="419100"/>
              </a:xfrm>
            </p:grpSpPr>
            <p:sp>
              <p:nvSpPr>
                <p:cNvPr id="643" name="Google Shape;643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Value for Money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Marginal significance (p = 0.0552)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46" name="Google Shape;646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E1C5D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Marginal</a:t>
                  </a:r>
                  <a:endParaRPr sz="7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48" name="Google Shape;648;p24"/>
              <p:cNvGrpSpPr/>
              <p:nvPr/>
            </p:nvGrpSpPr>
            <p:grpSpPr>
              <a:xfrm>
                <a:off x="152400" y="1924050"/>
                <a:ext cx="3743400" cy="419100"/>
                <a:chOff x="0" y="0"/>
                <a:chExt cx="3743400" cy="419100"/>
              </a:xfrm>
            </p:grpSpPr>
            <p:sp>
              <p:nvSpPr>
                <p:cNvPr id="649" name="Google Shape;649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4A3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Trainer Rating &amp; Renewal Intent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No significant difference (p = 0.4738 &amp; p = 0.4760)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52" name="Google Shape;652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64748B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Not Sig.</a:t>
                  </a:r>
                  <a:endParaRPr sz="7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  <p:grpSp>
        <p:nvGrpSpPr>
          <p:cNvPr id="654" name="Google Shape;654;p24"/>
          <p:cNvGrpSpPr/>
          <p:nvPr/>
        </p:nvGrpSpPr>
        <p:grpSpPr>
          <a:xfrm>
            <a:off x="4714875" y="952500"/>
            <a:ext cx="4048200" cy="3638550"/>
            <a:chOff x="0" y="0"/>
            <a:chExt cx="4048200" cy="3638550"/>
          </a:xfrm>
        </p:grpSpPr>
        <p:grpSp>
          <p:nvGrpSpPr>
            <p:cNvPr id="655" name="Google Shape;655;p24"/>
            <p:cNvGrpSpPr/>
            <p:nvPr/>
          </p:nvGrpSpPr>
          <p:grpSpPr>
            <a:xfrm>
              <a:off x="0" y="0"/>
              <a:ext cx="4048200" cy="2019300"/>
              <a:chOff x="0" y="0"/>
              <a:chExt cx="4048200" cy="2019300"/>
            </a:xfrm>
          </p:grpSpPr>
          <p:sp>
            <p:nvSpPr>
              <p:cNvPr id="656" name="Google Shape;656;p24"/>
              <p:cNvSpPr/>
              <p:nvPr/>
            </p:nvSpPr>
            <p:spPr>
              <a:xfrm>
                <a:off x="0" y="0"/>
                <a:ext cx="4048200" cy="2019300"/>
              </a:xfrm>
              <a:prstGeom prst="roundRect">
                <a:avLst>
                  <a:gd name="adj" fmla="val 377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>
                <a:off x="0" y="0"/>
                <a:ext cx="40482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>
                <a:off x="0" y="152400"/>
                <a:ext cx="4048200" cy="1143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4"/>
              <p:cNvSpPr txBox="1"/>
              <p:nvPr/>
            </p:nvSpPr>
            <p:spPr>
              <a:xfrm>
                <a:off x="114300" y="3810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SATISFACTION METRIC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0" name="Google Shape;660;p24"/>
              <p:cNvSpPr txBox="1"/>
              <p:nvPr/>
            </p:nvSpPr>
            <p:spPr>
              <a:xfrm>
                <a:off x="1714500" y="38100"/>
                <a:ext cx="619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F-RATIO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1" name="Google Shape;661;p24"/>
              <p:cNvSpPr txBox="1"/>
              <p:nvPr/>
            </p:nvSpPr>
            <p:spPr>
              <a:xfrm>
                <a:off x="2381250" y="3810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P-VALUE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2" name="Google Shape;662;p24"/>
              <p:cNvSpPr txBox="1"/>
              <p:nvPr/>
            </p:nvSpPr>
            <p:spPr>
              <a:xfrm>
                <a:off x="3095625" y="38100"/>
                <a:ext cx="838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SIGNIFICANCE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0" y="2667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4"/>
              <p:cNvSpPr txBox="1"/>
              <p:nvPr/>
            </p:nvSpPr>
            <p:spPr>
              <a:xfrm>
                <a:off x="114300" y="3143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 Satisfaction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5" name="Google Shape;665;p24"/>
              <p:cNvSpPr txBox="1"/>
              <p:nvPr/>
            </p:nvSpPr>
            <p:spPr>
              <a:xfrm>
                <a:off x="1714500" y="3143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4.887</a:t>
                </a:r>
                <a:endParaRPr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66" name="Google Shape;666;p24"/>
              <p:cNvSpPr txBox="1"/>
              <p:nvPr/>
            </p:nvSpPr>
            <p:spPr>
              <a:xfrm>
                <a:off x="2381250" y="3143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0.0118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7" name="Google Shape;667;p24"/>
              <p:cNvSpPr txBox="1"/>
              <p:nvPr/>
            </p:nvSpPr>
            <p:spPr>
              <a:xfrm>
                <a:off x="3095625" y="3143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0.05 *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0" y="590550"/>
                <a:ext cx="4048200" cy="324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4"/>
              <p:cNvSpPr txBox="1"/>
              <p:nvPr/>
            </p:nvSpPr>
            <p:spPr>
              <a:xfrm>
                <a:off x="114300" y="63817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Satisfaction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0" name="Google Shape;670;p24"/>
              <p:cNvSpPr txBox="1"/>
              <p:nvPr/>
            </p:nvSpPr>
            <p:spPr>
              <a:xfrm>
                <a:off x="1714500" y="63817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4.344</a:t>
                </a:r>
                <a:endParaRPr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71" name="Google Shape;671;p24"/>
              <p:cNvSpPr txBox="1"/>
              <p:nvPr/>
            </p:nvSpPr>
            <p:spPr>
              <a:xfrm>
                <a:off x="2381250" y="63817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0.0186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2" name="Google Shape;672;p24"/>
              <p:cNvSpPr txBox="1"/>
              <p:nvPr/>
            </p:nvSpPr>
            <p:spPr>
              <a:xfrm>
                <a:off x="3095625" y="63817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0.05 *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3" name="Google Shape;673;p24"/>
              <p:cNvSpPr/>
              <p:nvPr/>
            </p:nvSpPr>
            <p:spPr>
              <a:xfrm>
                <a:off x="0" y="9144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4"/>
              <p:cNvSpPr txBox="1"/>
              <p:nvPr/>
            </p:nvSpPr>
            <p:spPr>
              <a:xfrm>
                <a:off x="114300" y="9620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Value for Money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75" name="Google Shape;675;p24"/>
              <p:cNvSpPr txBox="1"/>
              <p:nvPr/>
            </p:nvSpPr>
            <p:spPr>
              <a:xfrm>
                <a:off x="1714500" y="9620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6" name="Google Shape;676;p24"/>
              <p:cNvSpPr txBox="1"/>
              <p:nvPr/>
            </p:nvSpPr>
            <p:spPr>
              <a:xfrm>
                <a:off x="2381250" y="9620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0.0552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77" name="Google Shape;677;p24"/>
              <p:cNvSpPr txBox="1"/>
              <p:nvPr/>
            </p:nvSpPr>
            <p:spPr>
              <a:xfrm>
                <a:off x="3095625" y="9620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Marginal</a:t>
                </a:r>
                <a:endParaRPr sz="80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78" name="Google Shape;678;p24"/>
              <p:cNvSpPr/>
              <p:nvPr/>
            </p:nvSpPr>
            <p:spPr>
              <a:xfrm>
                <a:off x="0" y="1238250"/>
                <a:ext cx="4048200" cy="324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4"/>
              <p:cNvSpPr txBox="1"/>
              <p:nvPr/>
            </p:nvSpPr>
            <p:spPr>
              <a:xfrm>
                <a:off x="114300" y="128587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Trainer Rating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0" name="Google Shape;680;p24"/>
              <p:cNvSpPr txBox="1"/>
              <p:nvPr/>
            </p:nvSpPr>
            <p:spPr>
              <a:xfrm>
                <a:off x="1714500" y="128587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81" name="Google Shape;681;p24"/>
              <p:cNvSpPr txBox="1"/>
              <p:nvPr/>
            </p:nvSpPr>
            <p:spPr>
              <a:xfrm>
                <a:off x="2381250" y="128587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0.4738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2" name="Google Shape;682;p24"/>
              <p:cNvSpPr txBox="1"/>
              <p:nvPr/>
            </p:nvSpPr>
            <p:spPr>
              <a:xfrm>
                <a:off x="3095625" y="128587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Not Sig.</a:t>
                </a:r>
                <a:endParaRPr sz="800" b="0">
                  <a:solidFill>
                    <a:srgbClr val="64748B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0" y="15621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4"/>
              <p:cNvSpPr txBox="1"/>
              <p:nvPr/>
            </p:nvSpPr>
            <p:spPr>
              <a:xfrm>
                <a:off x="114300" y="16097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Renewal Intent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5" name="Google Shape;685;p24"/>
              <p:cNvSpPr txBox="1"/>
              <p:nvPr/>
            </p:nvSpPr>
            <p:spPr>
              <a:xfrm>
                <a:off x="1714500" y="16097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86" name="Google Shape;686;p24"/>
              <p:cNvSpPr txBox="1"/>
              <p:nvPr/>
            </p:nvSpPr>
            <p:spPr>
              <a:xfrm>
                <a:off x="2381250" y="16097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0.4760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7" name="Google Shape;687;p24"/>
              <p:cNvSpPr txBox="1"/>
              <p:nvPr/>
            </p:nvSpPr>
            <p:spPr>
              <a:xfrm>
                <a:off x="3095625" y="16097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Not Sig.</a:t>
                </a:r>
                <a:endParaRPr sz="800" b="0">
                  <a:solidFill>
                    <a:srgbClr val="64748B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</p:grpSp>
        <p:grpSp>
          <p:nvGrpSpPr>
            <p:cNvPr id="688" name="Google Shape;688;p24"/>
            <p:cNvGrpSpPr/>
            <p:nvPr/>
          </p:nvGrpSpPr>
          <p:grpSpPr>
            <a:xfrm>
              <a:off x="0" y="2152650"/>
              <a:ext cx="4048200" cy="1485900"/>
              <a:chOff x="0" y="0"/>
              <a:chExt cx="4048200" cy="1485900"/>
            </a:xfrm>
          </p:grpSpPr>
          <p:sp>
            <p:nvSpPr>
              <p:cNvPr id="689" name="Google Shape;689;p24"/>
              <p:cNvSpPr/>
              <p:nvPr/>
            </p:nvSpPr>
            <p:spPr>
              <a:xfrm>
                <a:off x="0" y="0"/>
                <a:ext cx="4048200" cy="1485900"/>
              </a:xfrm>
              <a:prstGeom prst="roundRect">
                <a:avLst>
                  <a:gd name="adj" fmla="val 5128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4"/>
              <p:cNvSpPr txBox="1"/>
              <p:nvPr/>
            </p:nvSpPr>
            <p:spPr>
              <a:xfrm>
                <a:off x="152400" y="114300"/>
                <a:ext cx="3743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ANOVA F-Ratio Significance Threshold Comparison</a:t>
                </a:r>
                <a:endParaRPr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691" name="Google Shape;691;p2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85863" y="381000"/>
                <a:ext cx="96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2" name="Google Shape;692;p24"/>
              <p:cNvSpPr txBox="1"/>
              <p:nvPr/>
            </p:nvSpPr>
            <p:spPr>
              <a:xfrm>
                <a:off x="114300" y="457200"/>
                <a:ext cx="1000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86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 Satisfaction</a:t>
                </a:r>
                <a:endParaRPr sz="786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>
                <a:off x="1200150" y="457200"/>
                <a:ext cx="2095500" cy="1716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4"/>
              <p:cNvSpPr txBox="1"/>
              <p:nvPr/>
            </p:nvSpPr>
            <p:spPr>
              <a:xfrm>
                <a:off x="3352800" y="45720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 = 4.887</a:t>
                </a:r>
                <a:endParaRPr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5" name="Google Shape;695;p24"/>
              <p:cNvSpPr txBox="1"/>
              <p:nvPr/>
            </p:nvSpPr>
            <p:spPr>
              <a:xfrm>
                <a:off x="114300" y="742950"/>
                <a:ext cx="1000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Sat.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1200150" y="742950"/>
                <a:ext cx="1857300" cy="171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4"/>
              <p:cNvSpPr txBox="1"/>
              <p:nvPr/>
            </p:nvSpPr>
            <p:spPr>
              <a:xfrm>
                <a:off x="3114675" y="74295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 = 4.344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698" name="Google Shape;698;p24"/>
              <p:cNvCxnSpPr/>
              <p:nvPr/>
            </p:nvCxnSpPr>
            <p:spPr>
              <a:xfrm>
                <a:off x="1190625" y="1047750"/>
                <a:ext cx="24288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99" name="Google Shape;699;p24"/>
              <p:cNvSpPr txBox="1"/>
              <p:nvPr/>
            </p:nvSpPr>
            <p:spPr>
              <a:xfrm>
                <a:off x="1095375" y="1085850"/>
                <a:ext cx="190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00" name="Google Shape;700;p24"/>
              <p:cNvSpPr txBox="1"/>
              <p:nvPr/>
            </p:nvSpPr>
            <p:spPr>
              <a:xfrm>
                <a:off x="1952625" y="1085850"/>
                <a:ext cx="238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01" name="Google Shape;701;p24"/>
              <p:cNvSpPr txBox="1"/>
              <p:nvPr/>
            </p:nvSpPr>
            <p:spPr>
              <a:xfrm>
                <a:off x="2809875" y="1085850"/>
                <a:ext cx="238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7" name="Google Shape;707;p25"/>
          <p:cNvGrpSpPr/>
          <p:nvPr/>
        </p:nvGrpSpPr>
        <p:grpSpPr>
          <a:xfrm>
            <a:off x="476250" y="304800"/>
            <a:ext cx="8191500" cy="628650"/>
            <a:chOff x="0" y="0"/>
            <a:chExt cx="8191500" cy="628650"/>
          </a:xfrm>
        </p:grpSpPr>
        <p:sp>
          <p:nvSpPr>
            <p:cNvPr id="708" name="Google Shape;708;p25"/>
            <p:cNvSpPr txBox="1"/>
            <p:nvPr/>
          </p:nvSpPr>
          <p:spPr>
            <a:xfrm>
              <a:off x="0" y="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SATISFACTION DISCRIMINATOR: </a:t>
              </a:r>
              <a:r>
                <a:rPr lang="en" sz="24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VALUE FOR MONEY</a:t>
              </a:r>
              <a:endParaRPr sz="24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0" y="400050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Satisfaction box plots reveal perceived value for money is the primary driver separating likely and unlikely renewers.</a:t>
              </a:r>
              <a:endParaRPr sz="950" b="0">
                <a:solidFill>
                  <a:srgbClr val="555555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476250" y="1047750"/>
            <a:ext cx="3981600" cy="3714900"/>
            <a:chOff x="0" y="0"/>
            <a:chExt cx="3981600" cy="3714900"/>
          </a:xfrm>
        </p:grpSpPr>
        <p:sp>
          <p:nvSpPr>
            <p:cNvPr id="711" name="Google Shape;711;p25"/>
            <p:cNvSpPr/>
            <p:nvPr/>
          </p:nvSpPr>
          <p:spPr>
            <a:xfrm>
              <a:off x="0" y="0"/>
              <a:ext cx="3981600" cy="3714900"/>
            </a:xfrm>
            <a:prstGeom prst="roundRect">
              <a:avLst>
                <a:gd name="adj" fmla="val 2051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5"/>
            <p:cNvSpPr txBox="1"/>
            <p:nvPr/>
          </p:nvSpPr>
          <p:spPr>
            <a:xfrm>
              <a:off x="152400" y="13335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SATISFACTION RATING DISTRIBUTIONS (1-10)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2552700" y="171450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5"/>
            <p:cNvSpPr txBox="1"/>
            <p:nvPr/>
          </p:nvSpPr>
          <p:spPr>
            <a:xfrm>
              <a:off x="2686050" y="1238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Likely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3162300" y="171450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5"/>
            <p:cNvSpPr txBox="1"/>
            <p:nvPr/>
          </p:nvSpPr>
          <p:spPr>
            <a:xfrm>
              <a:off x="3295650" y="1238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Unlikely</a:t>
              </a:r>
              <a:endParaRPr sz="6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17" name="Google Shape;717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56673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25"/>
            <p:cNvSpPr txBox="1"/>
            <p:nvPr/>
          </p:nvSpPr>
          <p:spPr>
            <a:xfrm>
              <a:off x="142875" y="4953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10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19" name="Google Shape;719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06203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25"/>
            <p:cNvSpPr txBox="1"/>
            <p:nvPr/>
          </p:nvSpPr>
          <p:spPr>
            <a:xfrm>
              <a:off x="142875" y="9906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8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1" name="Google Shape;721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566863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5"/>
            <p:cNvSpPr txBox="1"/>
            <p:nvPr/>
          </p:nvSpPr>
          <p:spPr>
            <a:xfrm>
              <a:off x="142875" y="1495425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6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3" name="Google Shape;723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2062163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25"/>
            <p:cNvSpPr txBox="1"/>
            <p:nvPr/>
          </p:nvSpPr>
          <p:spPr>
            <a:xfrm>
              <a:off x="142875" y="1990725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4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5" name="Google Shape;725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256698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25"/>
            <p:cNvSpPr txBox="1"/>
            <p:nvPr/>
          </p:nvSpPr>
          <p:spPr>
            <a:xfrm>
              <a:off x="142875" y="249555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2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7" name="Google Shape;727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1725" y="447675"/>
              <a:ext cx="781200" cy="26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25"/>
            <p:cNvSpPr/>
            <p:nvPr/>
          </p:nvSpPr>
          <p:spPr>
            <a:xfrm>
              <a:off x="2505075" y="1066800"/>
              <a:ext cx="514500" cy="1716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5"/>
            <p:cNvSpPr txBox="1"/>
            <p:nvPr/>
          </p:nvSpPr>
          <p:spPr>
            <a:xfrm>
              <a:off x="2505075" y="1066800"/>
              <a:ext cx="514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MAX GAP</a:t>
              </a:r>
              <a:endParaRPr sz="6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30" name="Google Shape;730;p25"/>
            <p:cNvGrpSpPr/>
            <p:nvPr/>
          </p:nvGrpSpPr>
          <p:grpSpPr>
            <a:xfrm>
              <a:off x="571500" y="571500"/>
              <a:ext cx="152400" cy="447675"/>
              <a:chOff x="-76200" y="571500"/>
              <a:chExt cx="152400" cy="447675"/>
            </a:xfrm>
          </p:grpSpPr>
          <p:cxnSp>
            <p:nvCxnSpPr>
              <p:cNvPr id="731" name="Google Shape;731;p25"/>
              <p:cNvCxnSpPr/>
              <p:nvPr/>
            </p:nvCxnSpPr>
            <p:spPr>
              <a:xfrm>
                <a:off x="0" y="571500"/>
                <a:ext cx="0" cy="4476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2" name="Google Shape;732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3" name="Google Shape;733;p25"/>
              <p:cNvCxnSpPr/>
              <p:nvPr/>
            </p:nvCxnSpPr>
            <p:spPr>
              <a:xfrm>
                <a:off x="-47625" y="10191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34" name="Google Shape;734;p25"/>
              <p:cNvSpPr/>
              <p:nvPr/>
            </p:nvSpPr>
            <p:spPr>
              <a:xfrm>
                <a:off x="-76200" y="619125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35" name="Google Shape;735;p25"/>
              <p:cNvCxnSpPr/>
              <p:nvPr/>
            </p:nvCxnSpPr>
            <p:spPr>
              <a:xfrm>
                <a:off x="-76200" y="7620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36" name="Google Shape;736;p25"/>
            <p:cNvGrpSpPr/>
            <p:nvPr/>
          </p:nvGrpSpPr>
          <p:grpSpPr>
            <a:xfrm>
              <a:off x="762000" y="1066800"/>
              <a:ext cx="152400" cy="1200300"/>
              <a:chOff x="-76200" y="1066800"/>
              <a:chExt cx="152400" cy="1200300"/>
            </a:xfrm>
          </p:grpSpPr>
          <p:cxnSp>
            <p:nvCxnSpPr>
              <p:cNvPr id="737" name="Google Shape;737;p25"/>
              <p:cNvCxnSpPr/>
              <p:nvPr/>
            </p:nvCxnSpPr>
            <p:spPr>
              <a:xfrm>
                <a:off x="0" y="1066800"/>
                <a:ext cx="0" cy="10002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8" name="Google Shape;738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9" name="Google Shape;739;p25"/>
              <p:cNvCxnSpPr/>
              <p:nvPr/>
            </p:nvCxnSpPr>
            <p:spPr>
              <a:xfrm>
                <a:off x="-47625" y="206692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0" name="Google Shape;740;p25"/>
              <p:cNvSpPr/>
              <p:nvPr/>
            </p:nvSpPr>
            <p:spPr>
              <a:xfrm>
                <a:off x="-76200" y="1238250"/>
                <a:ext cx="152400" cy="5238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41" name="Google Shape;741;p25"/>
              <p:cNvCxnSpPr/>
              <p:nvPr/>
            </p:nvCxnSpPr>
            <p:spPr>
              <a:xfrm>
                <a:off x="-76200" y="147637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2" name="Google Shape;742;p25"/>
              <p:cNvSpPr/>
              <p:nvPr/>
            </p:nvSpPr>
            <p:spPr>
              <a:xfrm>
                <a:off x="-28575" y="2209800"/>
                <a:ext cx="57300" cy="57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3" name="Google Shape;743;p25"/>
            <p:cNvSpPr txBox="1"/>
            <p:nvPr/>
          </p:nvSpPr>
          <p:spPr>
            <a:xfrm>
              <a:off x="3810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Equipment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44" name="Google Shape;744;p25"/>
            <p:cNvGrpSpPr/>
            <p:nvPr/>
          </p:nvGrpSpPr>
          <p:grpSpPr>
            <a:xfrm>
              <a:off x="1257300" y="571500"/>
              <a:ext cx="152400" cy="447675"/>
              <a:chOff x="-76200" y="571500"/>
              <a:chExt cx="152400" cy="447675"/>
            </a:xfrm>
          </p:grpSpPr>
          <p:cxnSp>
            <p:nvCxnSpPr>
              <p:cNvPr id="745" name="Google Shape;745;p25"/>
              <p:cNvCxnSpPr/>
              <p:nvPr/>
            </p:nvCxnSpPr>
            <p:spPr>
              <a:xfrm>
                <a:off x="0" y="571500"/>
                <a:ext cx="0" cy="4476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6" name="Google Shape;746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7" name="Google Shape;747;p25"/>
              <p:cNvCxnSpPr/>
              <p:nvPr/>
            </p:nvCxnSpPr>
            <p:spPr>
              <a:xfrm>
                <a:off x="-47625" y="10191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8" name="Google Shape;748;p25"/>
              <p:cNvSpPr/>
              <p:nvPr/>
            </p:nvSpPr>
            <p:spPr>
              <a:xfrm>
                <a:off x="-76200" y="647700"/>
                <a:ext cx="152400" cy="2667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49" name="Google Shape;749;p25"/>
              <p:cNvCxnSpPr/>
              <p:nvPr/>
            </p:nvCxnSpPr>
            <p:spPr>
              <a:xfrm>
                <a:off x="-76200" y="7810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50" name="Google Shape;750;p25"/>
            <p:cNvGrpSpPr/>
            <p:nvPr/>
          </p:nvGrpSpPr>
          <p:grpSpPr>
            <a:xfrm>
              <a:off x="1447800" y="1066800"/>
              <a:ext cx="152400" cy="857400"/>
              <a:chOff x="-76200" y="1066800"/>
              <a:chExt cx="152400" cy="857400"/>
            </a:xfrm>
          </p:grpSpPr>
          <p:cxnSp>
            <p:nvCxnSpPr>
              <p:cNvPr id="751" name="Google Shape;751;p25"/>
              <p:cNvCxnSpPr/>
              <p:nvPr/>
            </p:nvCxnSpPr>
            <p:spPr>
              <a:xfrm>
                <a:off x="0" y="1066800"/>
                <a:ext cx="0" cy="8574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2" name="Google Shape;752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3" name="Google Shape;753;p25"/>
              <p:cNvCxnSpPr/>
              <p:nvPr/>
            </p:nvCxnSpPr>
            <p:spPr>
              <a:xfrm>
                <a:off x="-47625" y="19240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54" name="Google Shape;754;p25"/>
              <p:cNvSpPr/>
              <p:nvPr/>
            </p:nvSpPr>
            <p:spPr>
              <a:xfrm>
                <a:off x="-76200" y="1285875"/>
                <a:ext cx="1524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5" name="Google Shape;755;p25"/>
              <p:cNvCxnSpPr/>
              <p:nvPr/>
            </p:nvCxnSpPr>
            <p:spPr>
              <a:xfrm>
                <a:off x="-76200" y="15049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56" name="Google Shape;756;p25"/>
            <p:cNvSpPr txBox="1"/>
            <p:nvPr/>
          </p:nvSpPr>
          <p:spPr>
            <a:xfrm>
              <a:off x="10668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Hygiene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57" name="Google Shape;757;p25"/>
            <p:cNvGrpSpPr/>
            <p:nvPr/>
          </p:nvGrpSpPr>
          <p:grpSpPr>
            <a:xfrm>
              <a:off x="1943100" y="571500"/>
              <a:ext cx="152400" cy="495300"/>
              <a:chOff x="-76200" y="571500"/>
              <a:chExt cx="152400" cy="495300"/>
            </a:xfrm>
          </p:grpSpPr>
          <p:cxnSp>
            <p:nvCxnSpPr>
              <p:cNvPr id="758" name="Google Shape;758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9" name="Google Shape;759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0" name="Google Shape;760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1" name="Google Shape;761;p25"/>
              <p:cNvSpPr/>
              <p:nvPr/>
            </p:nvSpPr>
            <p:spPr>
              <a:xfrm>
                <a:off x="-76200" y="666750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62" name="Google Shape;762;p25"/>
              <p:cNvCxnSpPr/>
              <p:nvPr/>
            </p:nvCxnSpPr>
            <p:spPr>
              <a:xfrm>
                <a:off x="-76200" y="809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63" name="Google Shape;763;p25"/>
            <p:cNvGrpSpPr/>
            <p:nvPr/>
          </p:nvGrpSpPr>
          <p:grpSpPr>
            <a:xfrm>
              <a:off x="2133600" y="1143000"/>
              <a:ext cx="152400" cy="1000200"/>
              <a:chOff x="-76200" y="1143000"/>
              <a:chExt cx="152400" cy="1000200"/>
            </a:xfrm>
          </p:grpSpPr>
          <p:cxnSp>
            <p:nvCxnSpPr>
              <p:cNvPr id="764" name="Google Shape;764;p25"/>
              <p:cNvCxnSpPr/>
              <p:nvPr/>
            </p:nvCxnSpPr>
            <p:spPr>
              <a:xfrm>
                <a:off x="0" y="1143000"/>
                <a:ext cx="0" cy="10002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5" name="Google Shape;765;p25"/>
              <p:cNvCxnSpPr/>
              <p:nvPr/>
            </p:nvCxnSpPr>
            <p:spPr>
              <a:xfrm>
                <a:off x="-47625" y="11430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6" name="Google Shape;766;p25"/>
              <p:cNvCxnSpPr/>
              <p:nvPr/>
            </p:nvCxnSpPr>
            <p:spPr>
              <a:xfrm>
                <a:off x="-47625" y="214312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7" name="Google Shape;767;p25"/>
              <p:cNvSpPr/>
              <p:nvPr/>
            </p:nvSpPr>
            <p:spPr>
              <a:xfrm>
                <a:off x="-76200" y="1352550"/>
                <a:ext cx="152400" cy="4764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68" name="Google Shape;768;p25"/>
              <p:cNvCxnSpPr/>
              <p:nvPr/>
            </p:nvCxnSpPr>
            <p:spPr>
              <a:xfrm>
                <a:off x="-76200" y="16002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69" name="Google Shape;769;p25"/>
            <p:cNvSpPr txBox="1"/>
            <p:nvPr/>
          </p:nvSpPr>
          <p:spPr>
            <a:xfrm>
              <a:off x="17526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Trainer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70" name="Google Shape;770;p25"/>
            <p:cNvGrpSpPr/>
            <p:nvPr/>
          </p:nvGrpSpPr>
          <p:grpSpPr>
            <a:xfrm>
              <a:off x="2571750" y="571500"/>
              <a:ext cx="152400" cy="495300"/>
              <a:chOff x="-76200" y="571500"/>
              <a:chExt cx="152400" cy="495300"/>
            </a:xfrm>
          </p:grpSpPr>
          <p:cxnSp>
            <p:nvCxnSpPr>
              <p:cNvPr id="771" name="Google Shape;771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2" name="Google Shape;772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3" name="Google Shape;773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74" name="Google Shape;774;p25"/>
              <p:cNvSpPr/>
              <p:nvPr/>
            </p:nvSpPr>
            <p:spPr>
              <a:xfrm>
                <a:off x="-76200" y="647700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75" name="Google Shape;775;p25"/>
              <p:cNvCxnSpPr/>
              <p:nvPr/>
            </p:nvCxnSpPr>
            <p:spPr>
              <a:xfrm>
                <a:off x="-76200" y="7810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76" name="Google Shape;776;p25"/>
            <p:cNvGrpSpPr/>
            <p:nvPr/>
          </p:nvGrpSpPr>
          <p:grpSpPr>
            <a:xfrm>
              <a:off x="2762250" y="1666875"/>
              <a:ext cx="152400" cy="904875"/>
              <a:chOff x="-76200" y="1666875"/>
              <a:chExt cx="152400" cy="904875"/>
            </a:xfrm>
          </p:grpSpPr>
          <p:cxnSp>
            <p:nvCxnSpPr>
              <p:cNvPr id="777" name="Google Shape;777;p25"/>
              <p:cNvCxnSpPr/>
              <p:nvPr/>
            </p:nvCxnSpPr>
            <p:spPr>
              <a:xfrm>
                <a:off x="0" y="1666875"/>
                <a:ext cx="0" cy="904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8" name="Google Shape;778;p25"/>
              <p:cNvCxnSpPr/>
              <p:nvPr/>
            </p:nvCxnSpPr>
            <p:spPr>
              <a:xfrm>
                <a:off x="-47625" y="16668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9" name="Google Shape;779;p25"/>
              <p:cNvCxnSpPr/>
              <p:nvPr/>
            </p:nvCxnSpPr>
            <p:spPr>
              <a:xfrm>
                <a:off x="-47625" y="25717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0" name="Google Shape;780;p25"/>
              <p:cNvSpPr/>
              <p:nvPr/>
            </p:nvSpPr>
            <p:spPr>
              <a:xfrm>
                <a:off x="-76200" y="1905000"/>
                <a:ext cx="152400" cy="4764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81" name="Google Shape;781;p25"/>
              <p:cNvCxnSpPr/>
              <p:nvPr/>
            </p:nvCxnSpPr>
            <p:spPr>
              <a:xfrm>
                <a:off x="-76200" y="21431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82" name="Google Shape;782;p25"/>
            <p:cNvSpPr txBox="1"/>
            <p:nvPr/>
          </p:nvSpPr>
          <p:spPr>
            <a:xfrm>
              <a:off x="2381250" y="32194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Value for Money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83" name="Google Shape;783;p25"/>
            <p:cNvGrpSpPr/>
            <p:nvPr/>
          </p:nvGrpSpPr>
          <p:grpSpPr>
            <a:xfrm>
              <a:off x="3257550" y="571500"/>
              <a:ext cx="152400" cy="495300"/>
              <a:chOff x="-76200" y="571500"/>
              <a:chExt cx="152400" cy="495300"/>
            </a:xfrm>
          </p:grpSpPr>
          <p:cxnSp>
            <p:nvCxnSpPr>
              <p:cNvPr id="784" name="Google Shape;784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5" name="Google Shape;785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6" name="Google Shape;786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7" name="Google Shape;787;p25"/>
              <p:cNvSpPr/>
              <p:nvPr/>
            </p:nvSpPr>
            <p:spPr>
              <a:xfrm>
                <a:off x="-76200" y="685800"/>
                <a:ext cx="152400" cy="2667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88" name="Google Shape;788;p25"/>
              <p:cNvCxnSpPr/>
              <p:nvPr/>
            </p:nvCxnSpPr>
            <p:spPr>
              <a:xfrm>
                <a:off x="-76200" y="8191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89" name="Google Shape;789;p25"/>
            <p:cNvGrpSpPr/>
            <p:nvPr/>
          </p:nvGrpSpPr>
          <p:grpSpPr>
            <a:xfrm>
              <a:off x="3448050" y="1123950"/>
              <a:ext cx="152400" cy="1066800"/>
              <a:chOff x="-76200" y="1123950"/>
              <a:chExt cx="152400" cy="1066800"/>
            </a:xfrm>
          </p:grpSpPr>
          <p:cxnSp>
            <p:nvCxnSpPr>
              <p:cNvPr id="790" name="Google Shape;790;p25"/>
              <p:cNvCxnSpPr/>
              <p:nvPr/>
            </p:nvCxnSpPr>
            <p:spPr>
              <a:xfrm>
                <a:off x="0" y="1123950"/>
                <a:ext cx="0" cy="1066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1" name="Google Shape;791;p25"/>
              <p:cNvCxnSpPr/>
              <p:nvPr/>
            </p:nvCxnSpPr>
            <p:spPr>
              <a:xfrm>
                <a:off x="-47625" y="11239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2" name="Google Shape;792;p25"/>
              <p:cNvCxnSpPr/>
              <p:nvPr/>
            </p:nvCxnSpPr>
            <p:spPr>
              <a:xfrm>
                <a:off x="-47625" y="21907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93" name="Google Shape;793;p25"/>
              <p:cNvSpPr/>
              <p:nvPr/>
            </p:nvSpPr>
            <p:spPr>
              <a:xfrm>
                <a:off x="-76200" y="1333500"/>
                <a:ext cx="152400" cy="4953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4" name="Google Shape;794;p25"/>
              <p:cNvCxnSpPr/>
              <p:nvPr/>
            </p:nvCxnSpPr>
            <p:spPr>
              <a:xfrm>
                <a:off x="-76200" y="1571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95" name="Google Shape;795;p25"/>
            <p:cNvSpPr txBox="1"/>
            <p:nvPr/>
          </p:nvSpPr>
          <p:spPr>
            <a:xfrm>
              <a:off x="30861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Overall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796" name="Google Shape;796;p25"/>
          <p:cNvGrpSpPr/>
          <p:nvPr/>
        </p:nvGrpSpPr>
        <p:grpSpPr>
          <a:xfrm>
            <a:off x="4686300" y="1047750"/>
            <a:ext cx="3981600" cy="3124200"/>
            <a:chOff x="0" y="0"/>
            <a:chExt cx="3981600" cy="3124200"/>
          </a:xfrm>
        </p:grpSpPr>
        <p:grpSp>
          <p:nvGrpSpPr>
            <p:cNvPr id="797" name="Google Shape;797;p25"/>
            <p:cNvGrpSpPr/>
            <p:nvPr/>
          </p:nvGrpSpPr>
          <p:grpSpPr>
            <a:xfrm>
              <a:off x="0" y="0"/>
              <a:ext cx="3981600" cy="705000"/>
              <a:chOff x="0" y="0"/>
              <a:chExt cx="3981600" cy="705000"/>
            </a:xfrm>
          </p:grpSpPr>
          <p:sp>
            <p:nvSpPr>
              <p:cNvPr id="798" name="Google Shape;798;p25"/>
              <p:cNvSpPr/>
              <p:nvPr/>
            </p:nvSpPr>
            <p:spPr>
              <a:xfrm>
                <a:off x="0" y="0"/>
                <a:ext cx="3981600" cy="705000"/>
              </a:xfrm>
              <a:prstGeom prst="roundRect">
                <a:avLst>
                  <a:gd name="adj" fmla="val 8108"/>
                </a:avLst>
              </a:prstGeom>
              <a:solidFill>
                <a:srgbClr val="F4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25"/>
              <p:cNvSpPr/>
              <p:nvPr/>
            </p:nvSpPr>
            <p:spPr>
              <a:xfrm>
                <a:off x="0" y="0"/>
                <a:ext cx="47700" cy="7050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25"/>
              <p:cNvSpPr txBox="1"/>
              <p:nvPr/>
            </p:nvSpPr>
            <p:spPr>
              <a:xfrm>
                <a:off x="171450" y="95250"/>
                <a:ext cx="36576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33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Survey Box Plot Methodology</a:t>
                </a:r>
                <a:endParaRPr sz="833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Compared medians, IQRs, and outliers across 5 survey satisfaction dimensions (equipment, hygiene, trainer, value, and overall) between likely and unlikely renewers.</a:t>
                </a:r>
                <a:endParaRPr sz="694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sp>
          <p:nvSpPr>
            <p:cNvPr id="801" name="Google Shape;801;p25"/>
            <p:cNvSpPr txBox="1"/>
            <p:nvPr/>
          </p:nvSpPr>
          <p:spPr>
            <a:xfrm>
              <a:off x="0" y="895350"/>
              <a:ext cx="3981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KEY INSIGHTS</a:t>
              </a:r>
              <a:endParaRPr sz="13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802" name="Google Shape;802;p25"/>
            <p:cNvGrpSpPr/>
            <p:nvPr/>
          </p:nvGrpSpPr>
          <p:grpSpPr>
            <a:xfrm>
              <a:off x="0" y="1219200"/>
              <a:ext cx="3924300" cy="419100"/>
              <a:chOff x="0" y="0"/>
              <a:chExt cx="3924300" cy="419100"/>
            </a:xfrm>
          </p:grpSpPr>
          <p:sp>
            <p:nvSpPr>
              <p:cNvPr id="803" name="Google Shape;803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5"/>
              <p:cNvSpPr txBox="1"/>
              <p:nvPr/>
            </p:nvSpPr>
            <p:spPr>
              <a:xfrm>
                <a:off x="19050" y="190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05" name="Google Shape;805;p25"/>
              <p:cNvSpPr txBox="1"/>
              <p:nvPr/>
            </p:nvSpPr>
            <p:spPr>
              <a:xfrm>
                <a:off x="304800" y="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Consistent Superiority:</a:t>
                </a:r>
                <a:r>
                  <a:rPr lang="en" sz="80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Likely renewers consistently score higher across all surveyed satisfaction dimensions without exception.</a:t>
                </a:r>
                <a:endParaRPr sz="80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806" name="Google Shape;806;p25"/>
            <p:cNvGrpSpPr/>
            <p:nvPr/>
          </p:nvGrpSpPr>
          <p:grpSpPr>
            <a:xfrm>
              <a:off x="0" y="1714500"/>
              <a:ext cx="3981600" cy="857400"/>
              <a:chOff x="0" y="0"/>
              <a:chExt cx="3981600" cy="857400"/>
            </a:xfrm>
          </p:grpSpPr>
          <p:sp>
            <p:nvSpPr>
              <p:cNvPr id="807" name="Google Shape;807;p25"/>
              <p:cNvSpPr/>
              <p:nvPr/>
            </p:nvSpPr>
            <p:spPr>
              <a:xfrm>
                <a:off x="0" y="0"/>
                <a:ext cx="3981600" cy="857400"/>
              </a:xfrm>
              <a:prstGeom prst="roundRect">
                <a:avLst>
                  <a:gd name="adj" fmla="val 6666"/>
                </a:avLst>
              </a:prstGeom>
              <a:solidFill>
                <a:srgbClr val="A60042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5"/>
              <p:cNvSpPr/>
              <p:nvPr/>
            </p:nvSpPr>
            <p:spPr>
              <a:xfrm>
                <a:off x="0" y="0"/>
                <a:ext cx="47700" cy="8574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5"/>
              <p:cNvSpPr/>
              <p:nvPr/>
            </p:nvSpPr>
            <p:spPr>
              <a:xfrm>
                <a:off x="95250" y="95250"/>
                <a:ext cx="228600" cy="228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5"/>
              <p:cNvSpPr txBox="1"/>
              <p:nvPr/>
            </p:nvSpPr>
            <p:spPr>
              <a:xfrm>
                <a:off x="114300" y="1143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11" name="Google Shape;811;p25"/>
              <p:cNvSpPr txBox="1"/>
              <p:nvPr/>
            </p:nvSpPr>
            <p:spPr>
              <a:xfrm>
                <a:off x="400050" y="114300"/>
                <a:ext cx="34290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Maximum Distribution Separation</a:t>
                </a:r>
                <a:endParaRPr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8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 most distinct visual and statistical separation between the two cohorts occurs in the </a:t>
                </a:r>
                <a:r>
                  <a:rPr lang="en" sz="78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"Value for Money"</a:t>
                </a:r>
                <a:r>
                  <a:rPr lang="en" sz="78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category (Median gap of ~5.5 pts).</a:t>
                </a:r>
                <a:endParaRPr sz="78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812" name="Google Shape;812;p25"/>
            <p:cNvGrpSpPr/>
            <p:nvPr/>
          </p:nvGrpSpPr>
          <p:grpSpPr>
            <a:xfrm>
              <a:off x="0" y="2667000"/>
              <a:ext cx="3924300" cy="457200"/>
              <a:chOff x="0" y="0"/>
              <a:chExt cx="3924300" cy="457200"/>
            </a:xfrm>
          </p:grpSpPr>
          <p:sp>
            <p:nvSpPr>
              <p:cNvPr id="813" name="Google Shape;813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5"/>
              <p:cNvSpPr txBox="1"/>
              <p:nvPr/>
            </p:nvSpPr>
            <p:spPr>
              <a:xfrm>
                <a:off x="19050" y="190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15" name="Google Shape;815;p25"/>
              <p:cNvSpPr txBox="1"/>
              <p:nvPr/>
            </p:nvSpPr>
            <p:spPr>
              <a:xfrm>
                <a:off x="304800" y="0"/>
                <a:ext cx="3619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Renewal Driver:</a:t>
                </a:r>
                <a:r>
                  <a:rPr lang="en" sz="80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This wide separation identifies perceived value as the primary perceptual discriminator driving a member's intent to renew.</a:t>
                </a:r>
                <a:endParaRPr sz="80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26"/>
          <p:cNvGrpSpPr/>
          <p:nvPr/>
        </p:nvGrpSpPr>
        <p:grpSpPr>
          <a:xfrm>
            <a:off x="381000" y="266700"/>
            <a:ext cx="8382000" cy="552450"/>
            <a:chOff x="0" y="0"/>
            <a:chExt cx="8382000" cy="552450"/>
          </a:xfrm>
        </p:grpSpPr>
        <p:sp>
          <p:nvSpPr>
            <p:cNvPr id="821" name="Google Shape;821;p26"/>
            <p:cNvSpPr txBox="1"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CORRELATION ANALYSIS &amp; </a:t>
              </a:r>
              <a:r>
                <a:rPr lang="en" sz="22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RETENTION DRIVERS</a:t>
              </a:r>
              <a:endParaRPr sz="22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22" name="Google Shape;822;p26"/>
            <p:cNvSpPr txBox="1"/>
            <p:nvPr/>
          </p:nvSpPr>
          <p:spPr>
            <a:xfrm>
              <a:off x="0" y="3619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Statistical validation of key membership variables to identify tenure drivers and early churn indicators</a:t>
              </a:r>
              <a:endParaRPr sz="90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823" name="Google Shape;823;p26"/>
          <p:cNvGrpSpPr/>
          <p:nvPr/>
        </p:nvGrpSpPr>
        <p:grpSpPr>
          <a:xfrm>
            <a:off x="381000" y="904875"/>
            <a:ext cx="4048200" cy="2143200"/>
            <a:chOff x="0" y="0"/>
            <a:chExt cx="4048200" cy="2143200"/>
          </a:xfrm>
        </p:grpSpPr>
        <p:sp>
          <p:nvSpPr>
            <p:cNvPr id="824" name="Google Shape;824;p26"/>
            <p:cNvSpPr/>
            <p:nvPr/>
          </p:nvSpPr>
          <p:spPr>
            <a:xfrm>
              <a:off x="0" y="0"/>
              <a:ext cx="4048200" cy="2143200"/>
            </a:xfrm>
            <a:prstGeom prst="roundRect">
              <a:avLst>
                <a:gd name="adj" fmla="val 355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 txBox="1"/>
            <p:nvPr/>
          </p:nvSpPr>
          <p:spPr>
            <a:xfrm>
              <a:off x="152400" y="133350"/>
              <a:ext cx="37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CORRELATION MATRIX HEATMAP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26" name="Google Shape;826;p26"/>
            <p:cNvSpPr txBox="1"/>
            <p:nvPr/>
          </p:nvSpPr>
          <p:spPr>
            <a:xfrm>
              <a:off x="123825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Tenure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7" name="Google Shape;827;p26"/>
            <p:cNvSpPr txBox="1"/>
            <p:nvPr/>
          </p:nvSpPr>
          <p:spPr>
            <a:xfrm>
              <a:off x="209550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Amt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8" name="Google Shape;828;p26"/>
            <p:cNvSpPr txBox="1"/>
            <p:nvPr/>
          </p:nvSpPr>
          <p:spPr>
            <a:xfrm>
              <a:off x="295275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Pay Delay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9" name="Google Shape;829;p26"/>
            <p:cNvSpPr txBox="1"/>
            <p:nvPr/>
          </p:nvSpPr>
          <p:spPr>
            <a:xfrm>
              <a:off x="152400" y="6286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Tenure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123825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 txBox="1"/>
            <p:nvPr/>
          </p:nvSpPr>
          <p:spPr>
            <a:xfrm>
              <a:off x="123825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09550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 txBox="1"/>
            <p:nvPr/>
          </p:nvSpPr>
          <p:spPr>
            <a:xfrm>
              <a:off x="209550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+0.78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295275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 txBox="1"/>
            <p:nvPr/>
          </p:nvSpPr>
          <p:spPr>
            <a:xfrm>
              <a:off x="295275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-0.65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6" name="Google Shape;836;p26"/>
            <p:cNvSpPr txBox="1"/>
            <p:nvPr/>
          </p:nvSpPr>
          <p:spPr>
            <a:xfrm>
              <a:off x="152400" y="9715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Amt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23825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 txBox="1"/>
            <p:nvPr/>
          </p:nvSpPr>
          <p:spPr>
            <a:xfrm>
              <a:off x="123825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+0.78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209550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 txBox="1"/>
            <p:nvPr/>
          </p:nvSpPr>
          <p:spPr>
            <a:xfrm>
              <a:off x="209550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95275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C84B6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 txBox="1"/>
            <p:nvPr/>
          </p:nvSpPr>
          <p:spPr>
            <a:xfrm>
              <a:off x="295275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-0.42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3" name="Google Shape;843;p26"/>
            <p:cNvSpPr txBox="1"/>
            <p:nvPr/>
          </p:nvSpPr>
          <p:spPr>
            <a:xfrm>
              <a:off x="152400" y="13144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Pay Delay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23825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 txBox="1"/>
            <p:nvPr/>
          </p:nvSpPr>
          <p:spPr>
            <a:xfrm>
              <a:off x="123825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-0.65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209550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C84B6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6"/>
            <p:cNvSpPr txBox="1"/>
            <p:nvPr/>
          </p:nvSpPr>
          <p:spPr>
            <a:xfrm>
              <a:off x="209550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-0.42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95275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6"/>
            <p:cNvSpPr txBox="1"/>
            <p:nvPr/>
          </p:nvSpPr>
          <p:spPr>
            <a:xfrm>
              <a:off x="295275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238250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6"/>
            <p:cNvSpPr txBox="1"/>
            <p:nvPr/>
          </p:nvSpPr>
          <p:spPr>
            <a:xfrm>
              <a:off x="1190625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+1.0 Positive</a:t>
              </a:r>
              <a:endParaRPr sz="5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143125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6"/>
            <p:cNvSpPr txBox="1"/>
            <p:nvPr/>
          </p:nvSpPr>
          <p:spPr>
            <a:xfrm>
              <a:off x="2095500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0">
                  <a:solidFill>
                    <a:srgbClr val="666666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0.0 Neutral</a:t>
              </a:r>
              <a:endParaRPr sz="550" b="0">
                <a:solidFill>
                  <a:srgbClr val="666666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3048000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6"/>
            <p:cNvSpPr txBox="1"/>
            <p:nvPr/>
          </p:nvSpPr>
          <p:spPr>
            <a:xfrm>
              <a:off x="3000375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-1.0 Negative</a:t>
              </a:r>
              <a:endParaRPr sz="5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56" name="Google Shape;856;p26"/>
          <p:cNvGrpSpPr/>
          <p:nvPr/>
        </p:nvGrpSpPr>
        <p:grpSpPr>
          <a:xfrm>
            <a:off x="4714875" y="904875"/>
            <a:ext cx="4048200" cy="2143200"/>
            <a:chOff x="0" y="0"/>
            <a:chExt cx="4048200" cy="2143200"/>
          </a:xfrm>
        </p:grpSpPr>
        <p:sp>
          <p:nvSpPr>
            <p:cNvPr id="857" name="Google Shape;857;p26"/>
            <p:cNvSpPr/>
            <p:nvPr/>
          </p:nvSpPr>
          <p:spPr>
            <a:xfrm>
              <a:off x="0" y="0"/>
              <a:ext cx="4048200" cy="2143200"/>
            </a:xfrm>
            <a:prstGeom prst="roundRect">
              <a:avLst>
                <a:gd name="adj" fmla="val 355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6"/>
            <p:cNvSpPr txBox="1"/>
            <p:nvPr/>
          </p:nvSpPr>
          <p:spPr>
            <a:xfrm>
              <a:off x="152400" y="133350"/>
              <a:ext cx="37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PLAN AMOUNT VS. MEMBER TENURE (SCATTER PLOT)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859" name="Google Shape;859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4905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26"/>
            <p:cNvSpPr txBox="1"/>
            <p:nvPr/>
          </p:nvSpPr>
          <p:spPr>
            <a:xfrm>
              <a:off x="114300" y="4191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36m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861" name="Google Shape;861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8334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26"/>
            <p:cNvSpPr txBox="1"/>
            <p:nvPr/>
          </p:nvSpPr>
          <p:spPr>
            <a:xfrm>
              <a:off x="114300" y="7620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24m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863" name="Google Shape;863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11763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26"/>
            <p:cNvSpPr txBox="1"/>
            <p:nvPr/>
          </p:nvSpPr>
          <p:spPr>
            <a:xfrm>
              <a:off x="114300" y="11049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12m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5" name="Google Shape;865;p26"/>
            <p:cNvSpPr txBox="1"/>
            <p:nvPr/>
          </p:nvSpPr>
          <p:spPr>
            <a:xfrm>
              <a:off x="114300" y="14478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0m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866" name="Google Shape;866;p26"/>
            <p:cNvCxnSpPr/>
            <p:nvPr/>
          </p:nvCxnSpPr>
          <p:spPr>
            <a:xfrm>
              <a:off x="523875" y="476250"/>
              <a:ext cx="0" cy="10479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7" name="Google Shape;867;p26"/>
            <p:cNvCxnSpPr/>
            <p:nvPr/>
          </p:nvCxnSpPr>
          <p:spPr>
            <a:xfrm>
              <a:off x="523875" y="15240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68" name="Google Shape;868;p26"/>
            <p:cNvSpPr txBox="1"/>
            <p:nvPr/>
          </p:nvSpPr>
          <p:spPr>
            <a:xfrm>
              <a:off x="619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$40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9" name="Google Shape;869;p26"/>
            <p:cNvSpPr txBox="1"/>
            <p:nvPr/>
          </p:nvSpPr>
          <p:spPr>
            <a:xfrm>
              <a:off x="1381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$80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0" name="Google Shape;870;p26"/>
            <p:cNvSpPr txBox="1"/>
            <p:nvPr/>
          </p:nvSpPr>
          <p:spPr>
            <a:xfrm>
              <a:off x="2143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$120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1" name="Google Shape;871;p26"/>
            <p:cNvSpPr txBox="1"/>
            <p:nvPr/>
          </p:nvSpPr>
          <p:spPr>
            <a:xfrm>
              <a:off x="2905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$160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2" name="Google Shape;872;p26"/>
            <p:cNvSpPr txBox="1"/>
            <p:nvPr/>
          </p:nvSpPr>
          <p:spPr>
            <a:xfrm>
              <a:off x="1285875" y="1714500"/>
              <a:ext cx="17145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Plan Amount ($)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873" name="Google Shape;873;p26"/>
            <p:cNvCxnSpPr/>
            <p:nvPr/>
          </p:nvCxnSpPr>
          <p:spPr>
            <a:xfrm rot="10800000" flipH="1">
              <a:off x="619125" y="552450"/>
              <a:ext cx="2905200" cy="876300"/>
            </a:xfrm>
            <a:prstGeom prst="straightConnector1">
              <a:avLst/>
            </a:prstGeom>
            <a:solidFill>
              <a:srgbClr val="FFFFFF"/>
            </a:solidFill>
            <a:ln w="23825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74" name="Google Shape;874;p26"/>
            <p:cNvSpPr/>
            <p:nvPr/>
          </p:nvSpPr>
          <p:spPr>
            <a:xfrm>
              <a:off x="652463" y="13763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00113" y="13192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1090613" y="12239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1347788" y="11287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604963" y="11668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1824038" y="9953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38363" y="9191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424113" y="8429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709863" y="7477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3014663" y="6715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3252788" y="7096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3452813" y="5572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2238375" y="1123950"/>
              <a:ext cx="1285800" cy="209700"/>
            </a:xfrm>
            <a:prstGeom prst="roundRect">
              <a:avLst>
                <a:gd name="adj" fmla="val 1818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 txBox="1"/>
            <p:nvPr/>
          </p:nvSpPr>
          <p:spPr>
            <a:xfrm>
              <a:off x="2238375" y="1123950"/>
              <a:ext cx="1285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Strong Trend: r = +0.78</a:t>
              </a:r>
              <a:endParaRPr sz="6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88" name="Google Shape;888;p26"/>
          <p:cNvGrpSpPr/>
          <p:nvPr/>
        </p:nvGrpSpPr>
        <p:grpSpPr>
          <a:xfrm>
            <a:off x="381000" y="3190875"/>
            <a:ext cx="4048200" cy="1571700"/>
            <a:chOff x="0" y="0"/>
            <a:chExt cx="4048200" cy="1571700"/>
          </a:xfrm>
        </p:grpSpPr>
        <p:sp>
          <p:nvSpPr>
            <p:cNvPr id="889" name="Google Shape;889;p26"/>
            <p:cNvSpPr/>
            <p:nvPr/>
          </p:nvSpPr>
          <p:spPr>
            <a:xfrm>
              <a:off x="0" y="0"/>
              <a:ext cx="4048200" cy="15717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 txBox="1"/>
            <p:nvPr/>
          </p:nvSpPr>
          <p:spPr>
            <a:xfrm>
              <a:off x="209550" y="152400"/>
              <a:ext cx="366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STRONG POSITIVE CORRELATION (r &gt; 0.7)</a:t>
              </a:r>
              <a:endParaRPr sz="11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209550" y="419100"/>
              <a:ext cx="685800" cy="190500"/>
            </a:xfrm>
            <a:prstGeom prst="roundRect">
              <a:avLst>
                <a:gd name="adj" fmla="val 50000"/>
              </a:avLst>
            </a:prstGeom>
            <a:solidFill>
              <a:srgbClr val="0E1C5D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 txBox="1"/>
            <p:nvPr/>
          </p:nvSpPr>
          <p:spPr>
            <a:xfrm>
              <a:off x="209550" y="419100"/>
              <a:ext cx="68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r = +0.78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4" name="Google Shape;894;p26"/>
            <p:cNvSpPr txBox="1"/>
            <p:nvPr/>
          </p:nvSpPr>
          <p:spPr>
            <a:xfrm>
              <a:off x="209550" y="685800"/>
              <a:ext cx="3667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amount directly aligns with membership duration.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Higher-value financial commitments directly correlate with longer member tenure, indicating premium tier members exhibit significantly stronger long-term retention.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95" name="Google Shape;895;p26"/>
          <p:cNvGrpSpPr/>
          <p:nvPr/>
        </p:nvGrpSpPr>
        <p:grpSpPr>
          <a:xfrm>
            <a:off x="4714875" y="3190875"/>
            <a:ext cx="4048200" cy="1571700"/>
            <a:chOff x="0" y="0"/>
            <a:chExt cx="4048200" cy="1571700"/>
          </a:xfrm>
        </p:grpSpPr>
        <p:sp>
          <p:nvSpPr>
            <p:cNvPr id="896" name="Google Shape;896;p26"/>
            <p:cNvSpPr/>
            <p:nvPr/>
          </p:nvSpPr>
          <p:spPr>
            <a:xfrm>
              <a:off x="0" y="0"/>
              <a:ext cx="4048200" cy="15717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 txBox="1"/>
            <p:nvPr/>
          </p:nvSpPr>
          <p:spPr>
            <a:xfrm>
              <a:off x="209550" y="152400"/>
              <a:ext cx="366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NEGATIVE ASSOCIATION &amp; EARLY CHURN WARNING</a:t>
              </a:r>
              <a:endParaRPr sz="11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209550" y="419100"/>
              <a:ext cx="685800" cy="190500"/>
            </a:xfrm>
            <a:prstGeom prst="roundRect">
              <a:avLst>
                <a:gd name="adj" fmla="val 50000"/>
              </a:avLst>
            </a:prstGeom>
            <a:solidFill>
              <a:srgbClr val="A60042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 txBox="1"/>
            <p:nvPr/>
          </p:nvSpPr>
          <p:spPr>
            <a:xfrm>
              <a:off x="209550" y="419100"/>
              <a:ext cx="68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r = -0.65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1" name="Google Shape;901;p26"/>
            <p:cNvSpPr txBox="1"/>
            <p:nvPr/>
          </p:nvSpPr>
          <p:spPr>
            <a:xfrm>
              <a:off x="209550" y="685800"/>
              <a:ext cx="3667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Payment delays strongly indicate impending attrition.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The length of payment gaps correlates negatively with member retention. Recurring billing delays serve as a critical statistical early warning sign of impending member churn, enabling proactive intervention.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27"/>
          <p:cNvGrpSpPr/>
          <p:nvPr/>
        </p:nvGrpSpPr>
        <p:grpSpPr>
          <a:xfrm>
            <a:off x="514350" y="428625"/>
            <a:ext cx="8115300" cy="638250"/>
            <a:chOff x="0" y="0"/>
            <a:chExt cx="8115300" cy="638250"/>
          </a:xfrm>
        </p:grpSpPr>
        <p:sp>
          <p:nvSpPr>
            <p:cNvPr id="908" name="Google Shape;908;p27"/>
            <p:cNvSpPr txBox="1"/>
            <p:nvPr/>
          </p:nvSpPr>
          <p:spPr>
            <a:xfrm>
              <a:off x="0" y="0"/>
              <a:ext cx="811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Root Cause Analysis: Member Churn</a:t>
              </a:r>
              <a:endParaRPr sz="23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909" name="Google Shape;909;p27"/>
            <p:cNvSpPr txBox="1"/>
            <p:nvPr/>
          </p:nvSpPr>
          <p:spPr>
            <a:xfrm>
              <a:off x="0" y="40005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The Ishikawa diagram categorizes operational gaps, isolating missing reminders and peak congestion as primary churn catalysts.</a:t>
              </a:r>
              <a:endParaRPr sz="7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910" name="Google Shape;910;p27"/>
          <p:cNvGrpSpPr/>
          <p:nvPr/>
        </p:nvGrpSpPr>
        <p:grpSpPr>
          <a:xfrm>
            <a:off x="514350" y="1095375"/>
            <a:ext cx="8153475" cy="3714825"/>
            <a:chOff x="514350" y="904875"/>
            <a:chExt cx="8153475" cy="3714825"/>
          </a:xfrm>
        </p:grpSpPr>
        <p:cxnSp>
          <p:nvCxnSpPr>
            <p:cNvPr id="911" name="Google Shape;911;p27"/>
            <p:cNvCxnSpPr/>
            <p:nvPr/>
          </p:nvCxnSpPr>
          <p:spPr>
            <a:xfrm>
              <a:off x="514350" y="2762250"/>
              <a:ext cx="7010400" cy="0"/>
            </a:xfrm>
            <a:prstGeom prst="straightConnector1">
              <a:avLst/>
            </a:prstGeom>
            <a:solidFill>
              <a:srgbClr val="FFFFFF"/>
            </a:solidFill>
            <a:ln w="381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2" name="Google Shape;912;p27"/>
            <p:cNvSpPr/>
            <p:nvPr/>
          </p:nvSpPr>
          <p:spPr>
            <a:xfrm>
              <a:off x="7524750" y="2695575"/>
              <a:ext cx="1428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3" name="Google Shape;913;p27"/>
            <p:cNvGrpSpPr/>
            <p:nvPr/>
          </p:nvGrpSpPr>
          <p:grpSpPr>
            <a:xfrm>
              <a:off x="7667625" y="2428875"/>
              <a:ext cx="1000200" cy="666900"/>
              <a:chOff x="0" y="0"/>
              <a:chExt cx="1000200" cy="666900"/>
            </a:xfrm>
          </p:grpSpPr>
          <p:sp>
            <p:nvSpPr>
              <p:cNvPr id="914" name="Google Shape;914;p27"/>
              <p:cNvSpPr/>
              <p:nvPr/>
            </p:nvSpPr>
            <p:spPr>
              <a:xfrm>
                <a:off x="0" y="0"/>
                <a:ext cx="1000200" cy="666900"/>
              </a:xfrm>
              <a:prstGeom prst="roundRect">
                <a:avLst>
                  <a:gd name="adj" fmla="val 2857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7"/>
              <p:cNvSpPr txBox="1"/>
              <p:nvPr/>
            </p:nvSpPr>
            <p:spPr>
              <a:xfrm>
                <a:off x="47625" y="114300"/>
                <a:ext cx="904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MEMBER</a:t>
                </a:r>
                <a:endParaRPr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CHURN</a:t>
                </a:r>
                <a:endParaRPr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916" name="Google Shape;916;p27"/>
            <p:cNvGrpSpPr/>
            <p:nvPr/>
          </p:nvGrpSpPr>
          <p:grpSpPr>
            <a:xfrm>
              <a:off x="666750" y="904875"/>
              <a:ext cx="1524000" cy="1857225"/>
              <a:chOff x="666750" y="904875"/>
              <a:chExt cx="1524000" cy="1857225"/>
            </a:xfrm>
          </p:grpSpPr>
          <p:cxnSp>
            <p:nvCxnSpPr>
              <p:cNvPr id="917" name="Google Shape;917;p27"/>
              <p:cNvCxnSpPr/>
              <p:nvPr/>
            </p:nvCxnSpPr>
            <p:spPr>
              <a:xfrm>
                <a:off x="1428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18" name="Google Shape;918;p27"/>
              <p:cNvSpPr/>
              <p:nvPr/>
            </p:nvSpPr>
            <p:spPr>
              <a:xfrm>
                <a:off x="857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7"/>
              <p:cNvSpPr txBox="1"/>
              <p:nvPr/>
            </p:nvSpPr>
            <p:spPr>
              <a:xfrm>
                <a:off x="857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PROCESS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20" name="Google Shape;920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47750" y="1562100"/>
                <a:ext cx="5811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1" name="Google Shape;921;p27"/>
              <p:cNvSpPr txBox="1"/>
              <p:nvPr/>
            </p:nvSpPr>
            <p:spPr>
              <a:xfrm>
                <a:off x="666750" y="1266825"/>
                <a:ext cx="109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94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Absence of automated CRM renewal reminders</a:t>
                </a:r>
                <a:endParaRPr sz="694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22" name="Google Shape;922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285875" y="2085975"/>
                <a:ext cx="590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3" name="Google Shape;923;p27"/>
              <p:cNvSpPr txBox="1"/>
              <p:nvPr/>
            </p:nvSpPr>
            <p:spPr>
              <a:xfrm>
                <a:off x="904875" y="185737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Lack of structured onboarding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24" name="Google Shape;924;p27"/>
            <p:cNvGrpSpPr/>
            <p:nvPr/>
          </p:nvGrpSpPr>
          <p:grpSpPr>
            <a:xfrm>
              <a:off x="2857500" y="904875"/>
              <a:ext cx="1619250" cy="1857225"/>
              <a:chOff x="2857500" y="904875"/>
              <a:chExt cx="1619250" cy="1857225"/>
            </a:xfrm>
          </p:grpSpPr>
          <p:cxnSp>
            <p:nvCxnSpPr>
              <p:cNvPr id="925" name="Google Shape;925;p27"/>
              <p:cNvCxnSpPr/>
              <p:nvPr/>
            </p:nvCxnSpPr>
            <p:spPr>
              <a:xfrm>
                <a:off x="3714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26" name="Google Shape;926;p27"/>
              <p:cNvSpPr/>
              <p:nvPr/>
            </p:nvSpPr>
            <p:spPr>
              <a:xfrm>
                <a:off x="3143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7"/>
              <p:cNvSpPr txBox="1"/>
              <p:nvPr/>
            </p:nvSpPr>
            <p:spPr>
              <a:xfrm>
                <a:off x="3143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EQUIPMENT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28" name="Google Shape;928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38500" y="1562100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9" name="Google Shape;929;p27"/>
              <p:cNvSpPr txBox="1"/>
              <p:nvPr/>
            </p:nvSpPr>
            <p:spPr>
              <a:xfrm>
                <a:off x="2857500" y="133350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94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Machine unavailability during key hours</a:t>
                </a:r>
                <a:endParaRPr sz="694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30" name="Google Shape;930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76625" y="2085975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1" name="Google Shape;931;p27"/>
              <p:cNvSpPr txBox="1"/>
              <p:nvPr/>
            </p:nvSpPr>
            <p:spPr>
              <a:xfrm>
                <a:off x="3095625" y="185737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Heavy congestion in peak evening times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32" name="Google Shape;932;p27"/>
            <p:cNvGrpSpPr/>
            <p:nvPr/>
          </p:nvGrpSpPr>
          <p:grpSpPr>
            <a:xfrm>
              <a:off x="5143500" y="904875"/>
              <a:ext cx="1619250" cy="1857225"/>
              <a:chOff x="5143500" y="904875"/>
              <a:chExt cx="1619250" cy="1857225"/>
            </a:xfrm>
          </p:grpSpPr>
          <p:cxnSp>
            <p:nvCxnSpPr>
              <p:cNvPr id="933" name="Google Shape;933;p27"/>
              <p:cNvCxnSpPr/>
              <p:nvPr/>
            </p:nvCxnSpPr>
            <p:spPr>
              <a:xfrm>
                <a:off x="6000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4" name="Google Shape;934;p27"/>
              <p:cNvSpPr/>
              <p:nvPr/>
            </p:nvSpPr>
            <p:spPr>
              <a:xfrm>
                <a:off x="5429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7"/>
              <p:cNvSpPr txBox="1"/>
              <p:nvPr/>
            </p:nvSpPr>
            <p:spPr>
              <a:xfrm>
                <a:off x="5429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PEOPLE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cxnSp>
            <p:nvCxnSpPr>
              <p:cNvPr id="936" name="Google Shape;936;p27"/>
              <p:cNvCxnSpPr/>
              <p:nvPr/>
            </p:nvCxnSpPr>
            <p:spPr>
              <a:xfrm>
                <a:off x="5524500" y="1666875"/>
                <a:ext cx="723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7" name="Google Shape;937;p27"/>
              <p:cNvSpPr txBox="1"/>
              <p:nvPr/>
            </p:nvSpPr>
            <p:spPr>
              <a:xfrm>
                <a:off x="5143500" y="14287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Variable floor staff engagement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38" name="Google Shape;938;p27"/>
              <p:cNvCxnSpPr/>
              <p:nvPr/>
            </p:nvCxnSpPr>
            <p:spPr>
              <a:xfrm>
                <a:off x="5762625" y="2190750"/>
                <a:ext cx="733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9" name="Google Shape;939;p27"/>
              <p:cNvSpPr txBox="1"/>
              <p:nvPr/>
            </p:nvSpPr>
            <p:spPr>
              <a:xfrm>
                <a:off x="5381625" y="19526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Limited trainer check-ins post-signup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40" name="Google Shape;940;p27"/>
            <p:cNvGrpSpPr/>
            <p:nvPr/>
          </p:nvGrpSpPr>
          <p:grpSpPr>
            <a:xfrm>
              <a:off x="666750" y="2762400"/>
              <a:ext cx="1524000" cy="1857300"/>
              <a:chOff x="666750" y="2762400"/>
              <a:chExt cx="1524000" cy="1857300"/>
            </a:xfrm>
          </p:grpSpPr>
          <p:cxnSp>
            <p:nvCxnSpPr>
              <p:cNvPr id="941" name="Google Shape;941;p27"/>
              <p:cNvCxnSpPr/>
              <p:nvPr/>
            </p:nvCxnSpPr>
            <p:spPr>
              <a:xfrm rot="10800000" flipH="1">
                <a:off x="1428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2" name="Google Shape;942;p27"/>
              <p:cNvSpPr/>
              <p:nvPr/>
            </p:nvSpPr>
            <p:spPr>
              <a:xfrm>
                <a:off x="857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7"/>
              <p:cNvSpPr txBox="1"/>
              <p:nvPr/>
            </p:nvSpPr>
            <p:spPr>
              <a:xfrm>
                <a:off x="857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PROMOTION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44" name="Google Shape;944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285875" y="3419475"/>
                <a:ext cx="590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5" name="Google Shape;945;p27"/>
              <p:cNvSpPr txBox="1"/>
              <p:nvPr/>
            </p:nvSpPr>
            <p:spPr>
              <a:xfrm>
                <a:off x="904875" y="34480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Limited loyalty &amp; retention programs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46" name="Google Shape;946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47750" y="3943350"/>
                <a:ext cx="5811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7" name="Google Shape;947;p27"/>
              <p:cNvSpPr txBox="1"/>
              <p:nvPr/>
            </p:nvSpPr>
            <p:spPr>
              <a:xfrm>
                <a:off x="66675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Absence of tier upgrade incentives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48" name="Google Shape;948;p27"/>
            <p:cNvGrpSpPr/>
            <p:nvPr/>
          </p:nvGrpSpPr>
          <p:grpSpPr>
            <a:xfrm>
              <a:off x="2857500" y="2762400"/>
              <a:ext cx="1619250" cy="1857300"/>
              <a:chOff x="2857500" y="2762400"/>
              <a:chExt cx="1619250" cy="1857300"/>
            </a:xfrm>
          </p:grpSpPr>
          <p:cxnSp>
            <p:nvCxnSpPr>
              <p:cNvPr id="949" name="Google Shape;949;p27"/>
              <p:cNvCxnSpPr/>
              <p:nvPr/>
            </p:nvCxnSpPr>
            <p:spPr>
              <a:xfrm rot="10800000" flipH="1">
                <a:off x="3714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0" name="Google Shape;950;p27"/>
              <p:cNvSpPr/>
              <p:nvPr/>
            </p:nvSpPr>
            <p:spPr>
              <a:xfrm>
                <a:off x="3143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27"/>
              <p:cNvSpPr txBox="1"/>
              <p:nvPr/>
            </p:nvSpPr>
            <p:spPr>
              <a:xfrm>
                <a:off x="3143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POLICY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52" name="Google Shape;952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76625" y="3419475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3" name="Google Shape;953;p27"/>
              <p:cNvSpPr txBox="1"/>
              <p:nvPr/>
            </p:nvSpPr>
            <p:spPr>
              <a:xfrm>
                <a:off x="3095625" y="34480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Lack of membership freeze options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54" name="Google Shape;954;p27"/>
              <p:cNvCxnSpPr/>
              <p:nvPr/>
            </p:nvCxnSpPr>
            <p:spPr>
              <a:xfrm>
                <a:off x="3238500" y="3952875"/>
                <a:ext cx="6762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5" name="Google Shape;955;p27"/>
              <p:cNvSpPr txBox="1"/>
              <p:nvPr/>
            </p:nvSpPr>
            <p:spPr>
              <a:xfrm>
                <a:off x="285750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Rigid cancellation window rules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56" name="Google Shape;956;p27"/>
            <p:cNvGrpSpPr/>
            <p:nvPr/>
          </p:nvGrpSpPr>
          <p:grpSpPr>
            <a:xfrm>
              <a:off x="5143500" y="2762400"/>
              <a:ext cx="1619250" cy="1857300"/>
              <a:chOff x="5143500" y="2762400"/>
              <a:chExt cx="1619250" cy="1857300"/>
            </a:xfrm>
          </p:grpSpPr>
          <p:cxnSp>
            <p:nvCxnSpPr>
              <p:cNvPr id="957" name="Google Shape;957;p27"/>
              <p:cNvCxnSpPr/>
              <p:nvPr/>
            </p:nvCxnSpPr>
            <p:spPr>
              <a:xfrm rot="10800000" flipH="1">
                <a:off x="6000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8" name="Google Shape;958;p27"/>
              <p:cNvSpPr/>
              <p:nvPr/>
            </p:nvSpPr>
            <p:spPr>
              <a:xfrm>
                <a:off x="5429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7"/>
              <p:cNvSpPr txBox="1"/>
              <p:nvPr/>
            </p:nvSpPr>
            <p:spPr>
              <a:xfrm>
                <a:off x="5429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PRICE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60" name="Google Shape;960;p2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762625" y="3419475"/>
                <a:ext cx="733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1" name="Google Shape;961;p27"/>
              <p:cNvSpPr txBox="1"/>
              <p:nvPr/>
            </p:nvSpPr>
            <p:spPr>
              <a:xfrm>
                <a:off x="5381625" y="344805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38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38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Perceived value mismatch for monthly plan members</a:t>
                </a:r>
                <a:endParaRPr sz="638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62" name="Google Shape;962;p27"/>
              <p:cNvCxnSpPr/>
              <p:nvPr/>
            </p:nvCxnSpPr>
            <p:spPr>
              <a:xfrm>
                <a:off x="5524500" y="3952875"/>
                <a:ext cx="723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63" name="Google Shape;963;p27"/>
              <p:cNvSpPr txBox="1"/>
              <p:nvPr/>
            </p:nvSpPr>
            <p:spPr>
              <a:xfrm>
                <a:off x="514350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High friction relative to peak utility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8"/>
          <p:cNvGrpSpPr/>
          <p:nvPr/>
        </p:nvGrpSpPr>
        <p:grpSpPr>
          <a:xfrm>
            <a:off x="514350" y="381000"/>
            <a:ext cx="8115300" cy="571650"/>
            <a:chOff x="0" y="0"/>
            <a:chExt cx="8115300" cy="571650"/>
          </a:xfrm>
        </p:grpSpPr>
        <p:sp>
          <p:nvSpPr>
            <p:cNvPr id="970" name="Google Shape;970;p28"/>
            <p:cNvSpPr txBox="1"/>
            <p:nvPr/>
          </p:nvSpPr>
          <p:spPr>
            <a:xfrm>
              <a:off x="0" y="0"/>
              <a:ext cx="8115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FIVE WHYS </a:t>
              </a:r>
              <a:r>
                <a:rPr lang="en" sz="222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ROOT CAUSE ANALYSIS</a:t>
              </a:r>
              <a:endParaRPr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971" name="Google Shape;971;p28"/>
            <p:cNvSpPr txBox="1"/>
            <p:nvPr/>
          </p:nvSpPr>
          <p:spPr>
            <a:xfrm>
              <a:off x="0" y="36195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Operational symptoms drilled down to isolate three primary failure chains driving member attrition.</a:t>
              </a:r>
              <a:endParaRPr sz="90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972" name="Google Shape;972;p28"/>
          <p:cNvGrpSpPr/>
          <p:nvPr/>
        </p:nvGrpSpPr>
        <p:grpSpPr>
          <a:xfrm>
            <a:off x="514350" y="1095375"/>
            <a:ext cx="8115300" cy="1028700"/>
            <a:chOff x="0" y="0"/>
            <a:chExt cx="8115300" cy="1028700"/>
          </a:xfrm>
        </p:grpSpPr>
        <p:sp>
          <p:nvSpPr>
            <p:cNvPr id="973" name="Google Shape;973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4" name="Google Shape;974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975" name="Google Shape;975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01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977" name="Google Shape;977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 forget to renew memberships at expiration date.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No advance notification or reminder received before lapse.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Front desk staff relies on manual follow-up outreach.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3" name="Google Shape;983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984" name="Google Shape;984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Complete absence of a CRM automated reminder system.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  <p:grpSp>
        <p:nvGrpSpPr>
          <p:cNvPr id="987" name="Google Shape;987;p28"/>
          <p:cNvGrpSpPr/>
          <p:nvPr/>
        </p:nvGrpSpPr>
        <p:grpSpPr>
          <a:xfrm>
            <a:off x="514350" y="2257425"/>
            <a:ext cx="8115300" cy="1028700"/>
            <a:chOff x="0" y="0"/>
            <a:chExt cx="8115300" cy="1028700"/>
          </a:xfrm>
        </p:grpSpPr>
        <p:sp>
          <p:nvSpPr>
            <p:cNvPr id="988" name="Google Shape;988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9" name="Google Shape;989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990" name="Google Shape;990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02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992" name="Google Shape;992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High member churn driven by peak-hour frustration.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Severe facility overcrowding and long equipment waits.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No visibility or schedule balancing for busy workout slots.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8" name="Google Shape;998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999" name="Google Shape;999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Facility lacks capacity &amp; crowd tracking mechanisms.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  <p:grpSp>
        <p:nvGrpSpPr>
          <p:cNvPr id="1002" name="Google Shape;1002;p28"/>
          <p:cNvGrpSpPr/>
          <p:nvPr/>
        </p:nvGrpSpPr>
        <p:grpSpPr>
          <a:xfrm>
            <a:off x="514350" y="3419475"/>
            <a:ext cx="8115300" cy="1028700"/>
            <a:chOff x="0" y="0"/>
            <a:chExt cx="8115300" cy="1028700"/>
          </a:xfrm>
        </p:grpSpPr>
        <p:sp>
          <p:nvSpPr>
            <p:cNvPr id="1003" name="Google Shape;1003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1005" name="Google Shape;1005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03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1007" name="Google Shape;1007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 lose motivation and quit within 90 days.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Perception of zero progress or physical achievement.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Lack of periodic check-ins or goal re-alignments.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3" name="Google Shape;1013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1014" name="Google Shape;1014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No structured fitness assessment or tracking cadence.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29"/>
          <p:cNvGrpSpPr/>
          <p:nvPr/>
        </p:nvGrpSpPr>
        <p:grpSpPr>
          <a:xfrm>
            <a:off x="514350" y="304800"/>
            <a:ext cx="8115300" cy="495300"/>
            <a:chOff x="0" y="0"/>
            <a:chExt cx="8115300" cy="495300"/>
          </a:xfrm>
        </p:grpSpPr>
        <p:sp>
          <p:nvSpPr>
            <p:cNvPr id="1022" name="Google Shape;1022;p29"/>
            <p:cNvSpPr txBox="1"/>
            <p:nvPr/>
          </p:nvSpPr>
          <p:spPr>
            <a:xfrm>
              <a:off x="0" y="0"/>
              <a:ext cx="811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VOICE OF CUSTOMER (VOC) QUALITATIVE DASHBOARD</a:t>
              </a:r>
              <a:endParaRPr sz="20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23" name="Google Shape;1023;p29"/>
            <p:cNvSpPr txBox="1"/>
            <p:nvPr/>
          </p:nvSpPr>
          <p:spPr>
            <a:xfrm>
              <a:off x="0" y="30480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Feedback Analysis: Overcrowding and Machine Wait Times Identified as Primary Pain Points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024" name="Google Shape;1024;p29"/>
          <p:cNvGrpSpPr/>
          <p:nvPr/>
        </p:nvGrpSpPr>
        <p:grpSpPr>
          <a:xfrm>
            <a:off x="514350" y="904875"/>
            <a:ext cx="2590800" cy="3905400"/>
            <a:chOff x="0" y="0"/>
            <a:chExt cx="2590800" cy="3905400"/>
          </a:xfrm>
        </p:grpSpPr>
        <p:sp>
          <p:nvSpPr>
            <p:cNvPr id="1025" name="Google Shape;1025;p29"/>
            <p:cNvSpPr/>
            <p:nvPr/>
          </p:nvSpPr>
          <p:spPr>
            <a:xfrm>
              <a:off x="0" y="0"/>
              <a:ext cx="2590800" cy="3905400"/>
            </a:xfrm>
            <a:prstGeom prst="roundRect">
              <a:avLst>
                <a:gd name="adj" fmla="val 220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VOC SENTIMENT DISTRIBUTION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29" name="Google Shape;1029;p29"/>
            <p:cNvGrpSpPr/>
            <p:nvPr/>
          </p:nvGrpSpPr>
          <p:grpSpPr>
            <a:xfrm>
              <a:off x="771525" y="638175"/>
              <a:ext cx="1047863" cy="1047900"/>
              <a:chOff x="-523875" y="-523875"/>
              <a:chExt cx="1047863" cy="1047900"/>
            </a:xfrm>
          </p:grpSpPr>
          <p:sp>
            <p:nvSpPr>
              <p:cNvPr id="1030" name="Google Shape;1030;p29"/>
              <p:cNvSpPr/>
              <p:nvPr/>
            </p:nvSpPr>
            <p:spPr>
              <a:xfrm>
                <a:off x="-457200" y="-457200"/>
                <a:ext cx="914400" cy="914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33350" cap="flat" cmpd="sng">
                <a:solidFill>
                  <a:srgbClr val="EAEC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31" name="Google Shape;1031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252412" y="-523875"/>
                <a:ext cx="7764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2" name="Google Shape;1032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-523875" y="-309562"/>
                <a:ext cx="3381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3" name="Google Shape;1033;p2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-423862" y="-523875"/>
                <a:ext cx="423900" cy="295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4" name="Google Shape;1034;p29"/>
              <p:cNvSpPr txBox="1"/>
              <p:nvPr/>
            </p:nvSpPr>
            <p:spPr>
              <a:xfrm>
                <a:off x="-476250" y="-17145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58%</a:t>
                </a:r>
                <a:endParaRPr sz="1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OVERCROWDING</a:t>
                </a:r>
                <a:endParaRPr sz="5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035" name="Google Shape;1035;p29"/>
            <p:cNvGrpSpPr/>
            <p:nvPr/>
          </p:nvGrpSpPr>
          <p:grpSpPr>
            <a:xfrm>
              <a:off x="133350" y="1905000"/>
              <a:ext cx="2324100" cy="1428900"/>
              <a:chOff x="0" y="0"/>
              <a:chExt cx="2324100" cy="1428900"/>
            </a:xfrm>
          </p:grpSpPr>
          <p:sp>
            <p:nvSpPr>
              <p:cNvPr id="1036" name="Google Shape;1036;p29"/>
              <p:cNvSpPr/>
              <p:nvPr/>
            </p:nvSpPr>
            <p:spPr>
              <a:xfrm>
                <a:off x="0" y="1905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9"/>
              <p:cNvSpPr txBox="1"/>
              <p:nvPr/>
            </p:nvSpPr>
            <p:spPr>
              <a:xfrm>
                <a:off x="152400" y="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58% - Overcrowding &amp; Wait Times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source of member dissatisfaction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38" name="Google Shape;1038;p29"/>
              <p:cNvSpPr/>
              <p:nvPr/>
            </p:nvSpPr>
            <p:spPr>
              <a:xfrm>
                <a:off x="0" y="49530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9"/>
              <p:cNvSpPr txBox="1"/>
              <p:nvPr/>
            </p:nvSpPr>
            <p:spPr>
              <a:xfrm>
                <a:off x="152400" y="47625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27% - Lack of Personal Guidance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Recurring theme among non-PT members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40" name="Google Shape;1040;p29"/>
              <p:cNvSpPr/>
              <p:nvPr/>
            </p:nvSpPr>
            <p:spPr>
              <a:xfrm>
                <a:off x="0" y="97155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8C93A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9"/>
              <p:cNvSpPr txBox="1"/>
              <p:nvPr/>
            </p:nvSpPr>
            <p:spPr>
              <a:xfrm>
                <a:off x="152400" y="95250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15% - General Facility &amp; Other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Cleanliness, hours, and billing queries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42" name="Google Shape;1042;p29"/>
          <p:cNvGrpSpPr/>
          <p:nvPr/>
        </p:nvGrpSpPr>
        <p:grpSpPr>
          <a:xfrm>
            <a:off x="3276600" y="904875"/>
            <a:ext cx="2590800" cy="1905000"/>
            <a:chOff x="0" y="0"/>
            <a:chExt cx="2590800" cy="1905000"/>
          </a:xfrm>
        </p:grpSpPr>
        <p:sp>
          <p:nvSpPr>
            <p:cNvPr id="1043" name="Google Shape;1043;p29"/>
            <p:cNvSpPr/>
            <p:nvPr/>
          </p:nvSpPr>
          <p:spPr>
            <a:xfrm>
              <a:off x="0" y="0"/>
              <a:ext cx="2590800" cy="1905000"/>
            </a:xfrm>
            <a:prstGeom prst="roundRect">
              <a:avLst>
                <a:gd name="adj" fmla="val 300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REVIEW WORD CLOUD HIGHLIGHTS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47" name="Google Shape;1047;p29"/>
            <p:cNvGrpSpPr/>
            <p:nvPr/>
          </p:nvGrpSpPr>
          <p:grpSpPr>
            <a:xfrm>
              <a:off x="114300" y="361950"/>
              <a:ext cx="2362350" cy="1181100"/>
              <a:chOff x="0" y="0"/>
              <a:chExt cx="2362350" cy="1181100"/>
            </a:xfrm>
          </p:grpSpPr>
          <p:sp>
            <p:nvSpPr>
              <p:cNvPr id="1048" name="Google Shape;1048;p29"/>
              <p:cNvSpPr/>
              <p:nvPr/>
            </p:nvSpPr>
            <p:spPr>
              <a:xfrm>
                <a:off x="0" y="0"/>
                <a:ext cx="12384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9"/>
              <p:cNvSpPr txBox="1"/>
              <p:nvPr/>
            </p:nvSpPr>
            <p:spPr>
              <a:xfrm>
                <a:off x="0" y="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OVERCROWDING</a:t>
                </a:r>
                <a:endParaRPr sz="8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050" name="Google Shape;1050;p29"/>
              <p:cNvSpPr/>
              <p:nvPr/>
            </p:nvSpPr>
            <p:spPr>
              <a:xfrm>
                <a:off x="1295400" y="0"/>
                <a:ext cx="10668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9"/>
              <p:cNvSpPr txBox="1"/>
              <p:nvPr/>
            </p:nvSpPr>
            <p:spPr>
              <a:xfrm>
                <a:off x="1295400" y="0"/>
                <a:ext cx="1066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Machine Wait Times</a:t>
                </a:r>
                <a:endParaRPr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2" name="Google Shape;1052;p29"/>
              <p:cNvSpPr/>
              <p:nvPr/>
            </p:nvSpPr>
            <p:spPr>
              <a:xfrm>
                <a:off x="0" y="304800"/>
                <a:ext cx="1047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EAECE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9"/>
              <p:cNvSpPr txBox="1"/>
              <p:nvPr/>
            </p:nvSpPr>
            <p:spPr>
              <a:xfrm>
                <a:off x="0" y="30480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Lack of Guidance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4" name="Google Shape;1054;p29"/>
              <p:cNvSpPr/>
              <p:nvPr/>
            </p:nvSpPr>
            <p:spPr>
              <a:xfrm>
                <a:off x="1104900" y="304800"/>
                <a:ext cx="12573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FCE8EF"/>
              </a:solidFill>
              <a:ln w="95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9"/>
              <p:cNvSpPr txBox="1"/>
              <p:nvPr/>
            </p:nvSpPr>
            <p:spPr>
              <a:xfrm>
                <a:off x="1104900" y="304800"/>
                <a:ext cx="1257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Peak Hour Congestion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6" name="Google Shape;1056;p29"/>
              <p:cNvSpPr/>
              <p:nvPr/>
            </p:nvSpPr>
            <p:spPr>
              <a:xfrm>
                <a:off x="0" y="590550"/>
                <a:ext cx="12954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9"/>
              <p:cNvSpPr txBox="1"/>
              <p:nvPr/>
            </p:nvSpPr>
            <p:spPr>
              <a:xfrm>
                <a:off x="0" y="590550"/>
                <a:ext cx="1295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 Personal Attention</a:t>
                </a:r>
                <a:endParaRPr sz="6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8" name="Google Shape;1058;p29"/>
              <p:cNvSpPr/>
              <p:nvPr/>
            </p:nvSpPr>
            <p:spPr>
              <a:xfrm>
                <a:off x="1352550" y="590550"/>
                <a:ext cx="10098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9"/>
              <p:cNvSpPr txBox="1"/>
              <p:nvPr/>
            </p:nvSpPr>
            <p:spPr>
              <a:xfrm>
                <a:off x="1352550" y="590550"/>
                <a:ext cx="1009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Access</a:t>
                </a:r>
                <a:endParaRPr sz="6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60" name="Google Shape;1060;p29"/>
              <p:cNvSpPr/>
              <p:nvPr/>
            </p:nvSpPr>
            <p:spPr>
              <a:xfrm>
                <a:off x="0" y="876300"/>
                <a:ext cx="23622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9"/>
              <p:cNvSpPr txBox="1"/>
              <p:nvPr/>
            </p:nvSpPr>
            <p:spPr>
              <a:xfrm>
                <a:off x="76200" y="895350"/>
                <a:ext cx="2209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sentiment triggers extracted from 1,200+ online member reviews and exit survey feedback.</a:t>
                </a:r>
                <a:endParaRPr sz="55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62" name="Google Shape;1062;p29"/>
          <p:cNvGrpSpPr/>
          <p:nvPr/>
        </p:nvGrpSpPr>
        <p:grpSpPr>
          <a:xfrm>
            <a:off x="3276600" y="2924175"/>
            <a:ext cx="2590800" cy="1886100"/>
            <a:chOff x="0" y="0"/>
            <a:chExt cx="2590800" cy="1886100"/>
          </a:xfrm>
        </p:grpSpPr>
        <p:sp>
          <p:nvSpPr>
            <p:cNvPr id="1063" name="Google Shape;1063;p29"/>
            <p:cNvSpPr/>
            <p:nvPr/>
          </p:nvSpPr>
          <p:spPr>
            <a:xfrm>
              <a:off x="0" y="0"/>
              <a:ext cx="2590800" cy="1886100"/>
            </a:xfrm>
            <a:prstGeom prst="roundRect">
              <a:avLst>
                <a:gd name="adj" fmla="val 303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RATE COMPARISON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67" name="Google Shape;1067;p29"/>
            <p:cNvGrpSpPr/>
            <p:nvPr/>
          </p:nvGrpSpPr>
          <p:grpSpPr>
            <a:xfrm>
              <a:off x="114300" y="342900"/>
              <a:ext cx="2362200" cy="1428750"/>
              <a:chOff x="0" y="0"/>
              <a:chExt cx="2362200" cy="1428750"/>
            </a:xfrm>
          </p:grpSpPr>
          <p:sp>
            <p:nvSpPr>
              <p:cNvPr id="1068" name="Google Shape;1068;p29"/>
              <p:cNvSpPr txBox="1"/>
              <p:nvPr/>
            </p:nvSpPr>
            <p:spPr>
              <a:xfrm>
                <a:off x="0" y="0"/>
                <a:ext cx="2362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Non-PT Members (Standard Plan)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69" name="Google Shape;1069;p29"/>
              <p:cNvSpPr/>
              <p:nvPr/>
            </p:nvSpPr>
            <p:spPr>
              <a:xfrm>
                <a:off x="0" y="152400"/>
                <a:ext cx="20955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9"/>
              <p:cNvSpPr txBox="1"/>
              <p:nvPr/>
            </p:nvSpPr>
            <p:spPr>
              <a:xfrm>
                <a:off x="76200" y="152400"/>
                <a:ext cx="19431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 Churn Risk (3x Baseline)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1" name="Google Shape;1071;p29"/>
              <p:cNvSpPr txBox="1"/>
              <p:nvPr/>
            </p:nvSpPr>
            <p:spPr>
              <a:xfrm>
                <a:off x="0" y="361950"/>
                <a:ext cx="2362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PT Members (Guided Attention)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2" name="Google Shape;1072;p29"/>
              <p:cNvSpPr/>
              <p:nvPr/>
            </p:nvSpPr>
            <p:spPr>
              <a:xfrm>
                <a:off x="0" y="514350"/>
                <a:ext cx="7143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9"/>
              <p:cNvSpPr txBox="1"/>
              <p:nvPr/>
            </p:nvSpPr>
            <p:spPr>
              <a:xfrm>
                <a:off x="76200" y="514350"/>
                <a:ext cx="619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Low Churn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>
                <a:off x="0" y="742950"/>
                <a:ext cx="2362200" cy="685800"/>
              </a:xfrm>
              <a:prstGeom prst="roundRect">
                <a:avLst>
                  <a:gd name="adj" fmla="val 5555"/>
                </a:avLst>
              </a:prstGeom>
              <a:solidFill>
                <a:srgbClr val="FCE8EF"/>
              </a:solidFill>
              <a:ln w="76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9"/>
              <p:cNvSpPr txBox="1"/>
              <p:nvPr/>
            </p:nvSpPr>
            <p:spPr>
              <a:xfrm>
                <a:off x="76200" y="800100"/>
                <a:ext cx="2209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Correlation Insight: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Non-PT members show 3x higher churn, directly aligning qualitative wait-time complaints with retention loss.</a:t>
                </a:r>
                <a:endParaRPr sz="600" b="0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76" name="Google Shape;1076;p29"/>
          <p:cNvGrpSpPr/>
          <p:nvPr/>
        </p:nvGrpSpPr>
        <p:grpSpPr>
          <a:xfrm>
            <a:off x="6038850" y="904875"/>
            <a:ext cx="2590800" cy="3905400"/>
            <a:chOff x="0" y="0"/>
            <a:chExt cx="2590800" cy="3905400"/>
          </a:xfrm>
        </p:grpSpPr>
        <p:sp>
          <p:nvSpPr>
            <p:cNvPr id="1077" name="Google Shape;1077;p29"/>
            <p:cNvSpPr/>
            <p:nvPr/>
          </p:nvSpPr>
          <p:spPr>
            <a:xfrm>
              <a:off x="0" y="0"/>
              <a:ext cx="2590800" cy="3905400"/>
            </a:xfrm>
            <a:prstGeom prst="roundRect">
              <a:avLst>
                <a:gd name="adj" fmla="val 220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0" y="0"/>
              <a:ext cx="2590800" cy="47700"/>
            </a:xfrm>
            <a:prstGeom prst="roundRect">
              <a:avLst>
                <a:gd name="adj" fmla="val 4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 txBox="1"/>
            <p:nvPr/>
          </p:nvSpPr>
          <p:spPr>
            <a:xfrm>
              <a:off x="152400" y="152400"/>
              <a:ext cx="2286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KEY VOC INSIGHTS</a:t>
              </a:r>
              <a:endParaRPr sz="1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80" name="Google Shape;1080;p29"/>
            <p:cNvSpPr txBox="1"/>
            <p:nvPr/>
          </p:nvSpPr>
          <p:spPr>
            <a:xfrm>
              <a:off x="152400" y="400050"/>
              <a:ext cx="2286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QUALITATIVE FINDINGS SUMMARY</a:t>
              </a:r>
              <a:endParaRPr sz="6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81" name="Google Shape;1081;p29"/>
            <p:cNvGrpSpPr/>
            <p:nvPr/>
          </p:nvGrpSpPr>
          <p:grpSpPr>
            <a:xfrm>
              <a:off x="152400" y="647700"/>
              <a:ext cx="2286000" cy="2933700"/>
              <a:chOff x="0" y="0"/>
              <a:chExt cx="2286000" cy="2933700"/>
            </a:xfrm>
          </p:grpSpPr>
          <p:sp>
            <p:nvSpPr>
              <p:cNvPr id="1082" name="Google Shape;1082;p29"/>
              <p:cNvSpPr/>
              <p:nvPr/>
            </p:nvSpPr>
            <p:spPr>
              <a:xfrm>
                <a:off x="0" y="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9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9"/>
              <p:cNvSpPr txBox="1"/>
              <p:nvPr/>
            </p:nvSpPr>
            <p:spPr>
              <a:xfrm>
                <a:off x="114300" y="9525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Overcrowding &amp; Wait Times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reviews frequently highlighted overcrowding and excessive machine wait times as major sources of dissatisfaction.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85" name="Google Shape;1085;p29"/>
              <p:cNvSpPr/>
              <p:nvPr/>
            </p:nvSpPr>
            <p:spPr>
              <a:xfrm>
                <a:off x="0" y="100965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9"/>
              <p:cNvSpPr/>
              <p:nvPr/>
            </p:nvSpPr>
            <p:spPr>
              <a:xfrm>
                <a:off x="0" y="1009650"/>
                <a:ext cx="38100" cy="9144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9"/>
              <p:cNvSpPr txBox="1"/>
              <p:nvPr/>
            </p:nvSpPr>
            <p:spPr>
              <a:xfrm>
                <a:off x="114300" y="110490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Lack of Member Guidance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 lack of guidance and personalized attention for non-personal-training members was a recurring negative sentiment theme.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88" name="Google Shape;1088;p29"/>
              <p:cNvSpPr/>
              <p:nvPr/>
            </p:nvSpPr>
            <p:spPr>
              <a:xfrm>
                <a:off x="0" y="201930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9"/>
              <p:cNvSpPr/>
              <p:nvPr/>
            </p:nvSpPr>
            <p:spPr>
              <a:xfrm>
                <a:off x="0" y="2019300"/>
                <a:ext cx="38100" cy="9144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9"/>
              <p:cNvSpPr txBox="1"/>
              <p:nvPr/>
            </p:nvSpPr>
            <p:spPr>
              <a:xfrm>
                <a:off x="114300" y="211455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Quantitative Churn Alignment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These qualitative findings strongly align with the quantitative churn data by plan and duration.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0"/>
          <p:cNvGrpSpPr/>
          <p:nvPr/>
        </p:nvGrpSpPr>
        <p:grpSpPr>
          <a:xfrm>
            <a:off x="514350" y="323850"/>
            <a:ext cx="8096400" cy="590550"/>
            <a:chOff x="0" y="-19050"/>
            <a:chExt cx="8096400" cy="590550"/>
          </a:xfrm>
        </p:grpSpPr>
        <p:sp>
          <p:nvSpPr>
            <p:cNvPr id="1096" name="Google Shape;1096;p30"/>
            <p:cNvSpPr/>
            <p:nvPr/>
          </p:nvSpPr>
          <p:spPr>
            <a:xfrm>
              <a:off x="0" y="0"/>
              <a:ext cx="342900" cy="266700"/>
            </a:xfrm>
            <a:prstGeom prst="roundRect">
              <a:avLst>
                <a:gd name="adj" fmla="val 14285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 txBox="1"/>
            <p:nvPr/>
          </p:nvSpPr>
          <p:spPr>
            <a:xfrm>
              <a:off x="0" y="0"/>
              <a:ext cx="342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1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98" name="Google Shape;1098;p30"/>
            <p:cNvSpPr txBox="1"/>
            <p:nvPr/>
          </p:nvSpPr>
          <p:spPr>
            <a:xfrm>
              <a:off x="438150" y="-19050"/>
              <a:ext cx="7620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3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MEMBER EXPERIENCE SURVEY</a:t>
              </a:r>
              <a:endParaRPr sz="2035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99" name="Google Shape;1099;p30"/>
            <p:cNvSpPr txBox="1"/>
            <p:nvPr/>
          </p:nvSpPr>
          <p:spPr>
            <a:xfrm>
              <a:off x="0" y="342900"/>
              <a:ext cx="8096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Structured Survey Findings (N=50)</a:t>
              </a:r>
              <a:r>
                <a:rPr lang="en" sz="950"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9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— Strong baseline satisfaction across touchpoints, with perceived value as lowest metric.</a:t>
              </a:r>
              <a:endParaRPr sz="95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100" name="Google Shape;1100;p30"/>
          <p:cNvGrpSpPr/>
          <p:nvPr/>
        </p:nvGrpSpPr>
        <p:grpSpPr>
          <a:xfrm>
            <a:off x="514350" y="1066800"/>
            <a:ext cx="3714900" cy="3409950"/>
            <a:chOff x="0" y="0"/>
            <a:chExt cx="3714900" cy="3409950"/>
          </a:xfrm>
        </p:grpSpPr>
        <p:grpSp>
          <p:nvGrpSpPr>
            <p:cNvPr id="1101" name="Google Shape;1101;p30"/>
            <p:cNvGrpSpPr/>
            <p:nvPr/>
          </p:nvGrpSpPr>
          <p:grpSpPr>
            <a:xfrm>
              <a:off x="0" y="0"/>
              <a:ext cx="1790700" cy="1009800"/>
              <a:chOff x="0" y="0"/>
              <a:chExt cx="1790700" cy="1009800"/>
            </a:xfrm>
          </p:grpSpPr>
          <p:sp>
            <p:nvSpPr>
              <p:cNvPr id="1102" name="Google Shape;1102;p30"/>
              <p:cNvSpPr/>
              <p:nvPr/>
            </p:nvSpPr>
            <p:spPr>
              <a:xfrm>
                <a:off x="0" y="0"/>
                <a:ext cx="17907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0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0"/>
              <p:cNvSpPr txBox="1"/>
              <p:nvPr/>
            </p:nvSpPr>
            <p:spPr>
              <a:xfrm>
                <a:off x="152400" y="114300"/>
                <a:ext cx="15240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80%</a:t>
                </a:r>
                <a:endParaRPr sz="2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Renewal Intent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Likely renewers</a:t>
                </a:r>
                <a:endParaRPr sz="8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05" name="Google Shape;1105;p30"/>
            <p:cNvGrpSpPr/>
            <p:nvPr/>
          </p:nvGrpSpPr>
          <p:grpSpPr>
            <a:xfrm>
              <a:off x="1924050" y="0"/>
              <a:ext cx="1790700" cy="1009800"/>
              <a:chOff x="0" y="0"/>
              <a:chExt cx="1790700" cy="1009800"/>
            </a:xfrm>
          </p:grpSpPr>
          <p:sp>
            <p:nvSpPr>
              <p:cNvPr id="1106" name="Google Shape;1106;p30"/>
              <p:cNvSpPr/>
              <p:nvPr/>
            </p:nvSpPr>
            <p:spPr>
              <a:xfrm>
                <a:off x="0" y="0"/>
                <a:ext cx="17907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0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0"/>
              <p:cNvSpPr txBox="1"/>
              <p:nvPr/>
            </p:nvSpPr>
            <p:spPr>
              <a:xfrm>
                <a:off x="152400" y="114300"/>
                <a:ext cx="15240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+44</a:t>
                </a:r>
                <a:endParaRPr sz="26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Net Promoter Score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NPS Rating Benchmark</a:t>
                </a:r>
                <a:endParaRPr sz="8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09" name="Google Shape;1109;p30"/>
            <p:cNvGrpSpPr/>
            <p:nvPr/>
          </p:nvGrpSpPr>
          <p:grpSpPr>
            <a:xfrm>
              <a:off x="0" y="1162050"/>
              <a:ext cx="3714900" cy="2247900"/>
              <a:chOff x="0" y="0"/>
              <a:chExt cx="3714900" cy="2247900"/>
            </a:xfrm>
          </p:grpSpPr>
          <p:sp>
            <p:nvSpPr>
              <p:cNvPr id="1110" name="Google Shape;1110;p30"/>
              <p:cNvSpPr/>
              <p:nvPr/>
            </p:nvSpPr>
            <p:spPr>
              <a:xfrm>
                <a:off x="0" y="0"/>
                <a:ext cx="3714900" cy="2247900"/>
              </a:xfrm>
              <a:prstGeom prst="roundRect">
                <a:avLst>
                  <a:gd name="adj" fmla="val 3389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0"/>
              <p:cNvSpPr/>
              <p:nvPr/>
            </p:nvSpPr>
            <p:spPr>
              <a:xfrm>
                <a:off x="0" y="0"/>
                <a:ext cx="57300" cy="22479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0"/>
              <p:cNvSpPr txBox="1"/>
              <p:nvPr/>
            </p:nvSpPr>
            <p:spPr>
              <a:xfrm>
                <a:off x="209550" y="190500"/>
                <a:ext cx="3295800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CRITICAL FINDING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Perceptual Pain Point</a:t>
                </a:r>
                <a:endParaRPr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E0E4EC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While hygiene and trainer ratings are excellent, "Value for Money" scored the lowest, validating it as a key perceptual pain point for member retention.</a:t>
                </a:r>
                <a:endParaRPr sz="950">
                  <a:solidFill>
                    <a:srgbClr val="E0E4EC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LEVER FOR RETENTION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Addressing value perception directly impacts the 20% uncommitted members.</a:t>
                </a:r>
                <a:endParaRPr sz="85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113" name="Google Shape;1113;p30"/>
          <p:cNvGrpSpPr/>
          <p:nvPr/>
        </p:nvGrpSpPr>
        <p:grpSpPr>
          <a:xfrm>
            <a:off x="4514850" y="1066800"/>
            <a:ext cx="4114800" cy="3410100"/>
            <a:chOff x="0" y="0"/>
            <a:chExt cx="4114800" cy="3410100"/>
          </a:xfrm>
        </p:grpSpPr>
        <p:sp>
          <p:nvSpPr>
            <p:cNvPr id="1114" name="Google Shape;1114;p30"/>
            <p:cNvSpPr/>
            <p:nvPr/>
          </p:nvSpPr>
          <p:spPr>
            <a:xfrm>
              <a:off x="0" y="0"/>
              <a:ext cx="4114800" cy="3410100"/>
            </a:xfrm>
            <a:prstGeom prst="roundRect">
              <a:avLst>
                <a:gd name="adj" fmla="val 2234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0" y="0"/>
              <a:ext cx="4114800" cy="400200"/>
            </a:xfrm>
            <a:prstGeom prst="roundRect">
              <a:avLst>
                <a:gd name="adj" fmla="val 19047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0" y="304800"/>
              <a:ext cx="4114800" cy="954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 txBox="1"/>
            <p:nvPr/>
          </p:nvSpPr>
          <p:spPr>
            <a:xfrm>
              <a:off x="190500" y="0"/>
              <a:ext cx="373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MEAN SATISFACTION RATINGS</a:t>
              </a:r>
              <a:endParaRPr sz="1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118" name="Google Shape;1118;p30"/>
            <p:cNvSpPr txBox="1"/>
            <p:nvPr/>
          </p:nvSpPr>
          <p:spPr>
            <a:xfrm>
              <a:off x="190500" y="4572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666666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Scores evaluated out of 5.0 (N=50)</a:t>
              </a:r>
              <a:endParaRPr sz="850" b="0">
                <a:solidFill>
                  <a:srgbClr val="666666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1119" name="Google Shape;1119;p30"/>
            <p:cNvGrpSpPr/>
            <p:nvPr/>
          </p:nvGrpSpPr>
          <p:grpSpPr>
            <a:xfrm>
              <a:off x="190500" y="742950"/>
              <a:ext cx="3733800" cy="285900"/>
              <a:chOff x="0" y="0"/>
              <a:chExt cx="3733800" cy="285900"/>
            </a:xfrm>
          </p:grpSpPr>
          <p:sp>
            <p:nvSpPr>
              <p:cNvPr id="1120" name="Google Shape;1120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Hygiene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1" name="Google Shape;1121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4.78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2" name="Google Shape;1122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0"/>
              <p:cNvSpPr/>
              <p:nvPr/>
            </p:nvSpPr>
            <p:spPr>
              <a:xfrm>
                <a:off x="0" y="190500"/>
                <a:ext cx="3571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" name="Google Shape;1124;p30"/>
            <p:cNvGrpSpPr/>
            <p:nvPr/>
          </p:nvGrpSpPr>
          <p:grpSpPr>
            <a:xfrm>
              <a:off x="190500" y="1238250"/>
              <a:ext cx="3733800" cy="285900"/>
              <a:chOff x="0" y="0"/>
              <a:chExt cx="3733800" cy="285900"/>
            </a:xfrm>
          </p:grpSpPr>
          <p:sp>
            <p:nvSpPr>
              <p:cNvPr id="1125" name="Google Shape;1125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Trainer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6" name="Google Shape;1126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4.62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7" name="Google Shape;1127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0"/>
              <p:cNvSpPr/>
              <p:nvPr/>
            </p:nvSpPr>
            <p:spPr>
              <a:xfrm>
                <a:off x="0" y="190500"/>
                <a:ext cx="34482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9" name="Google Shape;1129;p30"/>
            <p:cNvGrpSpPr/>
            <p:nvPr/>
          </p:nvGrpSpPr>
          <p:grpSpPr>
            <a:xfrm>
              <a:off x="190500" y="1733550"/>
              <a:ext cx="3733800" cy="285900"/>
              <a:chOff x="0" y="0"/>
              <a:chExt cx="3733800" cy="285900"/>
            </a:xfrm>
          </p:grpSpPr>
          <p:sp>
            <p:nvSpPr>
              <p:cNvPr id="1130" name="Google Shape;1130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1" name="Google Shape;1131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4.44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2" name="Google Shape;1132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0"/>
              <p:cNvSpPr/>
              <p:nvPr/>
            </p:nvSpPr>
            <p:spPr>
              <a:xfrm>
                <a:off x="0" y="190500"/>
                <a:ext cx="33147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4" name="Google Shape;1134;p30"/>
            <p:cNvGrpSpPr/>
            <p:nvPr/>
          </p:nvGrpSpPr>
          <p:grpSpPr>
            <a:xfrm>
              <a:off x="190500" y="2228850"/>
              <a:ext cx="3733800" cy="285900"/>
              <a:chOff x="0" y="0"/>
              <a:chExt cx="3733800" cy="285900"/>
            </a:xfrm>
          </p:grpSpPr>
          <p:sp>
            <p:nvSpPr>
              <p:cNvPr id="1135" name="Google Shape;1135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6" name="Google Shape;1136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4.38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7" name="Google Shape;1137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0"/>
              <p:cNvSpPr/>
              <p:nvPr/>
            </p:nvSpPr>
            <p:spPr>
              <a:xfrm>
                <a:off x="0" y="190500"/>
                <a:ext cx="32670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9" name="Google Shape;1139;p30"/>
            <p:cNvGrpSpPr/>
            <p:nvPr/>
          </p:nvGrpSpPr>
          <p:grpSpPr>
            <a:xfrm>
              <a:off x="95250" y="2705100"/>
              <a:ext cx="3924300" cy="590700"/>
              <a:chOff x="0" y="0"/>
              <a:chExt cx="3924300" cy="590700"/>
            </a:xfrm>
          </p:grpSpPr>
          <p:sp>
            <p:nvSpPr>
              <p:cNvPr id="1140" name="Google Shape;1140;p30"/>
              <p:cNvSpPr/>
              <p:nvPr/>
            </p:nvSpPr>
            <p:spPr>
              <a:xfrm>
                <a:off x="0" y="0"/>
                <a:ext cx="3924300" cy="590700"/>
              </a:xfrm>
              <a:prstGeom prst="roundRect">
                <a:avLst>
                  <a:gd name="adj" fmla="val 9677"/>
                </a:avLst>
              </a:prstGeom>
              <a:solidFill>
                <a:srgbClr val="FFF0F4"/>
              </a:solidFill>
              <a:ln w="95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0"/>
              <p:cNvSpPr txBox="1"/>
              <p:nvPr/>
            </p:nvSpPr>
            <p:spPr>
              <a:xfrm>
                <a:off x="95250" y="76200"/>
                <a:ext cx="1143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Value for Money</a:t>
                </a:r>
                <a:endParaRPr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2" name="Google Shape;1142;p30"/>
              <p:cNvSpPr/>
              <p:nvPr/>
            </p:nvSpPr>
            <p:spPr>
              <a:xfrm>
                <a:off x="1276350" y="76200"/>
                <a:ext cx="7620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0"/>
              <p:cNvSpPr txBox="1"/>
              <p:nvPr/>
            </p:nvSpPr>
            <p:spPr>
              <a:xfrm>
                <a:off x="1276350" y="762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Lowest Metric</a:t>
                </a:r>
                <a:endParaRPr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4" name="Google Shape;1144;p30"/>
              <p:cNvSpPr txBox="1"/>
              <p:nvPr/>
            </p:nvSpPr>
            <p:spPr>
              <a:xfrm>
                <a:off x="2667000" y="76200"/>
                <a:ext cx="1162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1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4.02</a:t>
                </a:r>
                <a:endParaRPr sz="111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5" name="Google Shape;1145;p30"/>
              <p:cNvSpPr/>
              <p:nvPr/>
            </p:nvSpPr>
            <p:spPr>
              <a:xfrm>
                <a:off x="95250" y="361950"/>
                <a:ext cx="37338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0"/>
              <p:cNvSpPr/>
              <p:nvPr/>
            </p:nvSpPr>
            <p:spPr>
              <a:xfrm>
                <a:off x="95250" y="361950"/>
                <a:ext cx="3000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2" name="Google Shape;1152;p31"/>
          <p:cNvGrpSpPr/>
          <p:nvPr/>
        </p:nvGrpSpPr>
        <p:grpSpPr>
          <a:xfrm>
            <a:off x="514350" y="304800"/>
            <a:ext cx="8115300" cy="552450"/>
            <a:chOff x="0" y="0"/>
            <a:chExt cx="8115300" cy="552450"/>
          </a:xfrm>
        </p:grpSpPr>
        <p:sp>
          <p:nvSpPr>
            <p:cNvPr id="1153" name="Google Shape;1153;p31"/>
            <p:cNvSpPr txBox="1"/>
            <p:nvPr/>
          </p:nvSpPr>
          <p:spPr>
            <a:xfrm>
              <a:off x="0" y="0"/>
              <a:ext cx="811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43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MEMBER EXPERIENCE &amp; </a:t>
              </a:r>
              <a:r>
                <a:rPr lang="en" sz="1943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RETENTION FEEDBACK</a:t>
              </a:r>
              <a:endParaRPr sz="1943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154" name="Google Shape;1154;p31"/>
            <p:cNvSpPr txBox="1"/>
            <p:nvPr/>
          </p:nvSpPr>
          <p:spPr>
            <a:xfrm>
              <a:off x="0" y="323850"/>
              <a:ext cx="811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rPr>
                <a:t>While the Net Promoter Score is a healthy +44, mitigating overcrowding and upgrading equipment are top member priorities. Survey feedback provided a detailed breakdown of loyalty, churn reasons, and retention preferences:</a:t>
              </a:r>
              <a:endParaRPr sz="750" b="0">
                <a:solidFill>
                  <a:srgbClr val="4A556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155" name="Google Shape;1155;p31"/>
          <p:cNvGrpSpPr/>
          <p:nvPr/>
        </p:nvGrpSpPr>
        <p:grpSpPr>
          <a:xfrm>
            <a:off x="514350" y="952500"/>
            <a:ext cx="2552700" cy="3810000"/>
            <a:chOff x="0" y="0"/>
            <a:chExt cx="2552700" cy="3810000"/>
          </a:xfrm>
        </p:grpSpPr>
        <p:sp>
          <p:nvSpPr>
            <p:cNvPr id="1156" name="Google Shape;1156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NPS BREAKDOWN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160" name="Google Shape;1160;p31"/>
            <p:cNvGrpSpPr/>
            <p:nvPr/>
          </p:nvGrpSpPr>
          <p:grpSpPr>
            <a:xfrm>
              <a:off x="781050" y="885825"/>
              <a:ext cx="990600" cy="990600"/>
              <a:chOff x="-495300" y="-495300"/>
              <a:chExt cx="990600" cy="990600"/>
            </a:xfrm>
          </p:grpSpPr>
          <p:sp>
            <p:nvSpPr>
              <p:cNvPr id="1161" name="Google Shape;1161;p31"/>
              <p:cNvSpPr/>
              <p:nvPr/>
            </p:nvSpPr>
            <p:spPr>
              <a:xfrm>
                <a:off x="-495300" y="-495300"/>
                <a:ext cx="990600" cy="990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524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1"/>
              <p:cNvSpPr txBox="1"/>
              <p:nvPr/>
            </p:nvSpPr>
            <p:spPr>
              <a:xfrm>
                <a:off x="-476250" y="-209550"/>
                <a:ext cx="952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+44</a:t>
                </a:r>
                <a:endParaRPr sz="20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NET NPS</a:t>
                </a:r>
                <a:endParaRPr sz="6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63" name="Google Shape;1163;p31"/>
            <p:cNvGrpSpPr/>
            <p:nvPr/>
          </p:nvGrpSpPr>
          <p:grpSpPr>
            <a:xfrm>
              <a:off x="152400" y="2190750"/>
              <a:ext cx="2247900" cy="228600"/>
              <a:chOff x="0" y="0"/>
              <a:chExt cx="2247900" cy="228600"/>
            </a:xfrm>
          </p:grpSpPr>
          <p:sp>
            <p:nvSpPr>
              <p:cNvPr id="1164" name="Google Shape;1164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Promoters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65" name="Google Shape;1165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56%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0" y="152400"/>
                <a:ext cx="12573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8" name="Google Shape;1168;p31"/>
            <p:cNvGrpSpPr/>
            <p:nvPr/>
          </p:nvGrpSpPr>
          <p:grpSpPr>
            <a:xfrm>
              <a:off x="152400" y="2667000"/>
              <a:ext cx="2247900" cy="228600"/>
              <a:chOff x="0" y="0"/>
              <a:chExt cx="2247900" cy="228600"/>
            </a:xfrm>
          </p:grpSpPr>
          <p:sp>
            <p:nvSpPr>
              <p:cNvPr id="1169" name="Google Shape;1169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Passives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0" name="Google Shape;1170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32%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0" y="152400"/>
                <a:ext cx="7191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3" name="Google Shape;1173;p31"/>
            <p:cNvGrpSpPr/>
            <p:nvPr/>
          </p:nvGrpSpPr>
          <p:grpSpPr>
            <a:xfrm>
              <a:off x="152400" y="3143250"/>
              <a:ext cx="2247900" cy="228600"/>
              <a:chOff x="0" y="0"/>
              <a:chExt cx="2247900" cy="228600"/>
            </a:xfrm>
          </p:grpSpPr>
          <p:sp>
            <p:nvSpPr>
              <p:cNvPr id="1174" name="Google Shape;1174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7A86B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Detractors</a:t>
                </a:r>
                <a:endParaRPr sz="750" b="1">
                  <a:solidFill>
                    <a:srgbClr val="7A86B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5" name="Google Shape;1175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7A86B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12%</a:t>
                </a:r>
                <a:endParaRPr sz="750" b="1">
                  <a:solidFill>
                    <a:srgbClr val="7A86B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0" y="152400"/>
                <a:ext cx="2697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8" name="Google Shape;1178;p31"/>
          <p:cNvGrpSpPr/>
          <p:nvPr/>
        </p:nvGrpSpPr>
        <p:grpSpPr>
          <a:xfrm>
            <a:off x="3295650" y="952500"/>
            <a:ext cx="2552700" cy="3810000"/>
            <a:chOff x="0" y="0"/>
            <a:chExt cx="2552700" cy="3810000"/>
          </a:xfrm>
        </p:grpSpPr>
        <p:sp>
          <p:nvSpPr>
            <p:cNvPr id="1179" name="Google Shape;1179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TOP CHURN REASONS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183" name="Google Shape;1183;p31"/>
            <p:cNvGrpSpPr/>
            <p:nvPr/>
          </p:nvGrpSpPr>
          <p:grpSpPr>
            <a:xfrm>
              <a:off x="152400" y="400050"/>
              <a:ext cx="2247900" cy="1009800"/>
              <a:chOff x="0" y="0"/>
              <a:chExt cx="2247900" cy="1009800"/>
            </a:xfrm>
          </p:grpSpPr>
          <p:sp>
            <p:nvSpPr>
              <p:cNvPr id="1184" name="Google Shape;1184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1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188" name="Google Shape;1188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Relocation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89" name="Google Shape;1189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driver of churn; completely external to gym operational performance.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90" name="Google Shape;1190;p31"/>
            <p:cNvGrpSpPr/>
            <p:nvPr/>
          </p:nvGrpSpPr>
          <p:grpSpPr>
            <a:xfrm>
              <a:off x="152400" y="1524000"/>
              <a:ext cx="2247900" cy="1009800"/>
              <a:chOff x="0" y="0"/>
              <a:chExt cx="2247900" cy="1009800"/>
            </a:xfrm>
          </p:grpSpPr>
          <p:sp>
            <p:nvSpPr>
              <p:cNvPr id="1191" name="Google Shape;1191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2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195" name="Google Shape;1195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Facility Overcrowding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96" name="Google Shape;1196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operational frustration during peak evening and weekend workout hours.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97" name="Google Shape;1197;p31"/>
            <p:cNvGrpSpPr/>
            <p:nvPr/>
          </p:nvGrpSpPr>
          <p:grpSpPr>
            <a:xfrm>
              <a:off x="152400" y="2647950"/>
              <a:ext cx="2247900" cy="1009800"/>
              <a:chOff x="0" y="0"/>
              <a:chExt cx="2247900" cy="1009800"/>
            </a:xfrm>
          </p:grpSpPr>
          <p:sp>
            <p:nvSpPr>
              <p:cNvPr id="1198" name="Google Shape;1198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3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202" name="Google Shape;1202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Machine Wait Times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03" name="Google Shape;1203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Directly tied to overcrowding; impacts high-demand strength &amp; cardio zones.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204" name="Google Shape;1204;p31"/>
          <p:cNvGrpSpPr/>
          <p:nvPr/>
        </p:nvGrpSpPr>
        <p:grpSpPr>
          <a:xfrm>
            <a:off x="6076950" y="952500"/>
            <a:ext cx="2552700" cy="3810000"/>
            <a:chOff x="0" y="0"/>
            <a:chExt cx="2552700" cy="3810000"/>
          </a:xfrm>
        </p:grpSpPr>
        <p:sp>
          <p:nvSpPr>
            <p:cNvPr id="1205" name="Google Shape;1205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DESIRED RETENTION INITIATIVES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09" name="Google Shape;1209;p31"/>
            <p:cNvGrpSpPr/>
            <p:nvPr/>
          </p:nvGrpSpPr>
          <p:grpSpPr>
            <a:xfrm>
              <a:off x="152400" y="400050"/>
              <a:ext cx="2247900" cy="457350"/>
              <a:chOff x="0" y="0"/>
              <a:chExt cx="2247900" cy="457350"/>
            </a:xfrm>
          </p:grpSpPr>
          <p:sp>
            <p:nvSpPr>
              <p:cNvPr id="1210" name="Google Shape;1210;p31"/>
              <p:cNvSpPr txBox="1"/>
              <p:nvPr/>
            </p:nvSpPr>
            <p:spPr>
              <a:xfrm>
                <a:off x="0" y="0"/>
                <a:ext cx="2247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Specialized Equipment </a:t>
                </a: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— Top Priority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0" y="209550"/>
                <a:ext cx="22479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1"/>
              <p:cNvSpPr/>
              <p:nvPr/>
            </p:nvSpPr>
            <p:spPr>
              <a:xfrm>
                <a:off x="0" y="209550"/>
                <a:ext cx="19050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1"/>
              <p:cNvSpPr txBox="1"/>
              <p:nvPr/>
            </p:nvSpPr>
            <p:spPr>
              <a:xfrm>
                <a:off x="95250" y="209550"/>
                <a:ext cx="17145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Rank #1 Requested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14" name="Google Shape;1214;p31"/>
            <p:cNvGrpSpPr/>
            <p:nvPr/>
          </p:nvGrpSpPr>
          <p:grpSpPr>
            <a:xfrm>
              <a:off x="152400" y="1047750"/>
              <a:ext cx="2247900" cy="457350"/>
              <a:chOff x="0" y="0"/>
              <a:chExt cx="2247900" cy="457350"/>
            </a:xfrm>
          </p:grpSpPr>
          <p:sp>
            <p:nvSpPr>
              <p:cNvPr id="1215" name="Google Shape;1215;p31"/>
              <p:cNvSpPr txBox="1"/>
              <p:nvPr/>
            </p:nvSpPr>
            <p:spPr>
              <a:xfrm>
                <a:off x="0" y="0"/>
                <a:ext cx="2247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Structured Progress Tracking </a:t>
                </a:r>
                <a:r>
                  <a:rPr lang="en" sz="74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— High Interest</a:t>
                </a:r>
                <a:endParaRPr sz="74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16" name="Google Shape;1216;p31"/>
              <p:cNvSpPr/>
              <p:nvPr/>
            </p:nvSpPr>
            <p:spPr>
              <a:xfrm>
                <a:off x="0" y="209550"/>
                <a:ext cx="22479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1"/>
              <p:cNvSpPr/>
              <p:nvPr/>
            </p:nvSpPr>
            <p:spPr>
              <a:xfrm>
                <a:off x="0" y="209550"/>
                <a:ext cx="16002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 txBox="1"/>
              <p:nvPr/>
            </p:nvSpPr>
            <p:spPr>
              <a:xfrm>
                <a:off x="95250" y="209550"/>
                <a:ext cx="14097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Rank #2 Requested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19" name="Google Shape;1219;p31"/>
            <p:cNvGrpSpPr/>
            <p:nvPr/>
          </p:nvGrpSpPr>
          <p:grpSpPr>
            <a:xfrm>
              <a:off x="152400" y="1828800"/>
              <a:ext cx="2247900" cy="1828800"/>
              <a:chOff x="0" y="0"/>
              <a:chExt cx="2247900" cy="1828800"/>
            </a:xfrm>
          </p:grpSpPr>
          <p:sp>
            <p:nvSpPr>
              <p:cNvPr id="1220" name="Google Shape;1220;p31"/>
              <p:cNvSpPr/>
              <p:nvPr/>
            </p:nvSpPr>
            <p:spPr>
              <a:xfrm>
                <a:off x="0" y="0"/>
                <a:ext cx="2247900" cy="1828800"/>
              </a:xfrm>
              <a:prstGeom prst="roundRect">
                <a:avLst>
                  <a:gd name="adj" fmla="val 312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0" y="0"/>
                <a:ext cx="47700" cy="1828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1"/>
              <p:cNvSpPr txBox="1"/>
              <p:nvPr/>
            </p:nvSpPr>
            <p:spPr>
              <a:xfrm>
                <a:off x="152400" y="152400"/>
                <a:ext cx="19431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ACTIONABLE FOCUS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cxnSp>
            <p:nvCxnSpPr>
              <p:cNvPr id="1223" name="Google Shape;1223;p31"/>
              <p:cNvCxnSpPr/>
              <p:nvPr/>
            </p:nvCxnSpPr>
            <p:spPr>
              <a:xfrm>
                <a:off x="152400" y="419100"/>
                <a:ext cx="19431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24" name="Google Shape;1224;p31"/>
              <p:cNvSpPr txBox="1"/>
              <p:nvPr/>
            </p:nvSpPr>
            <p:spPr>
              <a:xfrm>
                <a:off x="152400" y="514350"/>
                <a:ext cx="1943100" cy="11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retention strategy must directly target overcrowding mitigation alongside introducing specialized machinery and digital progress tracking tools.</a:t>
                </a:r>
                <a:endParaRPr sz="7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32"/>
          <p:cNvSpPr txBox="1"/>
          <p:nvPr/>
        </p:nvSpPr>
        <p:spPr>
          <a:xfrm>
            <a:off x="514350" y="304800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SURVEY ANALYTICS </a:t>
            </a:r>
            <a:r>
              <a:rPr lang="en" sz="220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DASHBOARD</a:t>
            </a:r>
            <a:endParaRPr sz="220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231" name="Google Shape;1231;p32"/>
          <p:cNvGrpSpPr/>
          <p:nvPr/>
        </p:nvGrpSpPr>
        <p:grpSpPr>
          <a:xfrm>
            <a:off x="514350" y="723900"/>
            <a:ext cx="8115300" cy="381000"/>
            <a:chOff x="0" y="0"/>
            <a:chExt cx="8115300" cy="381000"/>
          </a:xfrm>
        </p:grpSpPr>
        <p:sp>
          <p:nvSpPr>
            <p:cNvPr id="1232" name="Google Shape;1232;p32"/>
            <p:cNvSpPr/>
            <p:nvPr/>
          </p:nvSpPr>
          <p:spPr>
            <a:xfrm>
              <a:off x="0" y="0"/>
              <a:ext cx="8115300" cy="381000"/>
            </a:xfrm>
            <a:prstGeom prst="roundRect">
              <a:avLst>
                <a:gd name="adj" fmla="val 15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0" y="0"/>
              <a:ext cx="57300" cy="3810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2"/>
            <p:cNvSpPr txBox="1"/>
            <p:nvPr/>
          </p:nvSpPr>
          <p:spPr>
            <a:xfrm>
              <a:off x="152400" y="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Takeaway</a:t>
              </a:r>
              <a:endParaRPr sz="75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4F5F9"/>
                  </a:solidFill>
                  <a:latin typeface="Work Sans"/>
                  <a:ea typeface="Work Sans"/>
                  <a:cs typeface="Work Sans"/>
                  <a:sym typeface="Work Sans"/>
                </a:rPr>
                <a:t>Comprehensive survey analytics confirm that targeted satisfaction improvements directly influence members' intent to renew.</a:t>
              </a:r>
              <a:endParaRPr sz="850" b="0">
                <a:solidFill>
                  <a:srgbClr val="F4F5F9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35" name="Google Shape;1235;p32"/>
          <p:cNvGrpSpPr/>
          <p:nvPr/>
        </p:nvGrpSpPr>
        <p:grpSpPr>
          <a:xfrm>
            <a:off x="514350" y="1219200"/>
            <a:ext cx="2590800" cy="1638300"/>
            <a:chOff x="0" y="0"/>
            <a:chExt cx="2590800" cy="1638300"/>
          </a:xfrm>
        </p:grpSpPr>
        <p:sp>
          <p:nvSpPr>
            <p:cNvPr id="1236" name="Google Shape;123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1. Member Satisfaction Box Plots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239" name="Google Shape;1239;p32"/>
            <p:cNvCxnSpPr/>
            <p:nvPr/>
          </p:nvCxnSpPr>
          <p:spPr>
            <a:xfrm>
              <a:off x="190500" y="1333500"/>
              <a:ext cx="22098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0" name="Google Shape;1240;p32"/>
            <p:cNvCxnSpPr/>
            <p:nvPr/>
          </p:nvCxnSpPr>
          <p:spPr>
            <a:xfrm>
              <a:off x="285750" y="381000"/>
              <a:ext cx="0" cy="952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41" name="Google Shape;1241;p32"/>
            <p:cNvGrpSpPr/>
            <p:nvPr/>
          </p:nvGrpSpPr>
          <p:grpSpPr>
            <a:xfrm>
              <a:off x="542925" y="619125"/>
              <a:ext cx="342900" cy="571500"/>
              <a:chOff x="-171450" y="619125"/>
              <a:chExt cx="342900" cy="571500"/>
            </a:xfrm>
          </p:grpSpPr>
          <p:cxnSp>
            <p:nvCxnSpPr>
              <p:cNvPr id="1242" name="Google Shape;1242;p32"/>
              <p:cNvCxnSpPr/>
              <p:nvPr/>
            </p:nvCxnSpPr>
            <p:spPr>
              <a:xfrm>
                <a:off x="0" y="619125"/>
                <a:ext cx="0" cy="571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3" name="Google Shape;1243;p32"/>
              <p:cNvCxnSpPr/>
              <p:nvPr/>
            </p:nvCxnSpPr>
            <p:spPr>
              <a:xfrm>
                <a:off x="-76200" y="6191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4" name="Google Shape;1244;p32"/>
              <p:cNvCxnSpPr/>
              <p:nvPr/>
            </p:nvCxnSpPr>
            <p:spPr>
              <a:xfrm>
                <a:off x="-76200" y="1190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45" name="Google Shape;1245;p32"/>
              <p:cNvSpPr/>
              <p:nvPr/>
            </p:nvSpPr>
            <p:spPr>
              <a:xfrm>
                <a:off x="-171450" y="762000"/>
                <a:ext cx="342900" cy="285900"/>
              </a:xfrm>
              <a:prstGeom prst="rect">
                <a:avLst/>
              </a:prstGeom>
              <a:solidFill>
                <a:srgbClr val="A60042">
                  <a:alpha val="25000"/>
                </a:srgbClr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46" name="Google Shape;1246;p32"/>
              <p:cNvCxnSpPr/>
              <p:nvPr/>
            </p:nvCxnSpPr>
            <p:spPr>
              <a:xfrm>
                <a:off x="-171450" y="904875"/>
                <a:ext cx="342900" cy="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47" name="Google Shape;1247;p32"/>
            <p:cNvSpPr txBox="1"/>
            <p:nvPr/>
          </p:nvSpPr>
          <p:spPr>
            <a:xfrm>
              <a:off x="333375" y="1381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1" b="0">
                  <a:solidFill>
                    <a:srgbClr val="475569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Unlikely (Mean: 5.2)</a:t>
              </a:r>
              <a:endParaRPr sz="601" b="0">
                <a:solidFill>
                  <a:srgbClr val="475569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1248" name="Google Shape;1248;p32"/>
            <p:cNvGrpSpPr/>
            <p:nvPr/>
          </p:nvGrpSpPr>
          <p:grpSpPr>
            <a:xfrm>
              <a:off x="1590675" y="457200"/>
              <a:ext cx="342900" cy="571500"/>
              <a:chOff x="-171450" y="457200"/>
              <a:chExt cx="342900" cy="571500"/>
            </a:xfrm>
          </p:grpSpPr>
          <p:cxnSp>
            <p:nvCxnSpPr>
              <p:cNvPr id="1249" name="Google Shape;1249;p32"/>
              <p:cNvCxnSpPr/>
              <p:nvPr/>
            </p:nvCxnSpPr>
            <p:spPr>
              <a:xfrm>
                <a:off x="0" y="457200"/>
                <a:ext cx="0" cy="571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0" name="Google Shape;1250;p32"/>
              <p:cNvCxnSpPr/>
              <p:nvPr/>
            </p:nvCxnSpPr>
            <p:spPr>
              <a:xfrm>
                <a:off x="-76200" y="4572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1" name="Google Shape;1251;p32"/>
              <p:cNvCxnSpPr/>
              <p:nvPr/>
            </p:nvCxnSpPr>
            <p:spPr>
              <a:xfrm>
                <a:off x="-76200" y="10287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52" name="Google Shape;1252;p32"/>
              <p:cNvSpPr/>
              <p:nvPr/>
            </p:nvSpPr>
            <p:spPr>
              <a:xfrm>
                <a:off x="-171450" y="552450"/>
                <a:ext cx="342900" cy="304800"/>
              </a:xfrm>
              <a:prstGeom prst="rect">
                <a:avLst/>
              </a:prstGeom>
              <a:solidFill>
                <a:srgbClr val="0E1C5D">
                  <a:alpha val="25000"/>
                </a:srgbClr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3" name="Google Shape;1253;p32"/>
              <p:cNvCxnSpPr/>
              <p:nvPr/>
            </p:nvCxnSpPr>
            <p:spPr>
              <a:xfrm>
                <a:off x="-171450" y="685800"/>
                <a:ext cx="342900" cy="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54" name="Google Shape;1254;p32"/>
            <p:cNvSpPr txBox="1"/>
            <p:nvPr/>
          </p:nvSpPr>
          <p:spPr>
            <a:xfrm>
              <a:off x="1381125" y="1381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Likely (Mean: 8.4)</a:t>
              </a:r>
              <a:endParaRPr sz="650" b="0">
                <a:solidFill>
                  <a:srgbClr val="475569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1255" name="Google Shape;1255;p32"/>
          <p:cNvGrpSpPr/>
          <p:nvPr/>
        </p:nvGrpSpPr>
        <p:grpSpPr>
          <a:xfrm>
            <a:off x="3276600" y="1219200"/>
            <a:ext cx="2590800" cy="1638300"/>
            <a:chOff x="0" y="0"/>
            <a:chExt cx="2590800" cy="1638300"/>
          </a:xfrm>
        </p:grpSpPr>
        <p:sp>
          <p:nvSpPr>
            <p:cNvPr id="1256" name="Google Shape;125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2. T-Test Output (Satisfaction Scores)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59" name="Google Shape;1259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Statistically Significant Difference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Confirmed significant variance in satisfaction scores between likely and unlikely renewers.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t-Statistic: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6.42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p-Value: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&lt; 0.001 (p &lt; 0.05 threshold)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Degrees of Freedom (df):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248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Conclusion: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Reject Null Hypothesis (H0)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60" name="Google Shape;1260;p32"/>
          <p:cNvGrpSpPr/>
          <p:nvPr/>
        </p:nvGrpSpPr>
        <p:grpSpPr>
          <a:xfrm>
            <a:off x="6038850" y="1219200"/>
            <a:ext cx="2590800" cy="1638300"/>
            <a:chOff x="0" y="0"/>
            <a:chExt cx="2590800" cy="1638300"/>
          </a:xfrm>
        </p:grpSpPr>
        <p:sp>
          <p:nvSpPr>
            <p:cNvPr id="1261" name="Google Shape;1261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3. Chi-Square Results (Variables vs Renewal)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64" name="Google Shape;1264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Categorical Independence Testing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Validated strong relationship between operational variables and renewal intent groups.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χ² Statistic: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18.85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p-Value: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0.0003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Cramer's V: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0.38 (Moderate to Strong Link)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Key Drivers: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Equipment Availability, Service Value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65" name="Google Shape;1265;p32"/>
          <p:cNvGrpSpPr/>
          <p:nvPr/>
        </p:nvGrpSpPr>
        <p:grpSpPr>
          <a:xfrm>
            <a:off x="514350" y="3009900"/>
            <a:ext cx="2590800" cy="1638300"/>
            <a:chOff x="0" y="0"/>
            <a:chExt cx="2590800" cy="1638300"/>
          </a:xfrm>
        </p:grpSpPr>
        <p:sp>
          <p:nvSpPr>
            <p:cNvPr id="1266" name="Google Shape;126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4. Renewal Intent Correlations (r)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69" name="Google Shape;1269;p32"/>
            <p:cNvGrpSpPr/>
            <p:nvPr/>
          </p:nvGrpSpPr>
          <p:grpSpPr>
            <a:xfrm>
              <a:off x="114300" y="323850"/>
              <a:ext cx="2429025" cy="1086000"/>
              <a:chOff x="0" y="-38100"/>
              <a:chExt cx="2429025" cy="1086000"/>
            </a:xfrm>
          </p:grpSpPr>
          <p:sp>
            <p:nvSpPr>
              <p:cNvPr id="1270" name="Google Shape;1270;p32"/>
              <p:cNvSpPr txBox="1"/>
              <p:nvPr/>
            </p:nvSpPr>
            <p:spPr>
              <a:xfrm>
                <a:off x="0" y="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Equipment Availability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1" name="Google Shape;1271;p32"/>
              <p:cNvSpPr/>
              <p:nvPr/>
            </p:nvSpPr>
            <p:spPr>
              <a:xfrm>
                <a:off x="1000125" y="9525"/>
                <a:ext cx="10953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2"/>
              <p:cNvSpPr txBox="1"/>
              <p:nvPr/>
            </p:nvSpPr>
            <p:spPr>
              <a:xfrm>
                <a:off x="2143125" y="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+0.78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3" name="Google Shape;1273;p32"/>
              <p:cNvSpPr txBox="1"/>
              <p:nvPr/>
            </p:nvSpPr>
            <p:spPr>
              <a:xfrm>
                <a:off x="0" y="28575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Perceived Value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4" name="Google Shape;1274;p32"/>
              <p:cNvSpPr/>
              <p:nvPr/>
            </p:nvSpPr>
            <p:spPr>
              <a:xfrm>
                <a:off x="1000125" y="295275"/>
                <a:ext cx="9810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2"/>
              <p:cNvSpPr txBox="1"/>
              <p:nvPr/>
            </p:nvSpPr>
            <p:spPr>
              <a:xfrm>
                <a:off x="2028825" y="28575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+0.70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6" name="Google Shape;1276;p32"/>
              <p:cNvSpPr txBox="1"/>
              <p:nvPr/>
            </p:nvSpPr>
            <p:spPr>
              <a:xfrm>
                <a:off x="0" y="57150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Staff Interaction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7" name="Google Shape;1277;p32"/>
              <p:cNvSpPr/>
              <p:nvPr/>
            </p:nvSpPr>
            <p:spPr>
              <a:xfrm>
                <a:off x="1000125" y="581025"/>
                <a:ext cx="723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2"/>
              <p:cNvSpPr txBox="1"/>
              <p:nvPr/>
            </p:nvSpPr>
            <p:spPr>
              <a:xfrm>
                <a:off x="1771650" y="57150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+0.52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9" name="Google Shape;1279;p32"/>
              <p:cNvSpPr txBox="1"/>
              <p:nvPr/>
            </p:nvSpPr>
            <p:spPr>
              <a:xfrm>
                <a:off x="0" y="85725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Facility Cleanliness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80" name="Google Shape;1280;p32"/>
              <p:cNvSpPr/>
              <p:nvPr/>
            </p:nvSpPr>
            <p:spPr>
              <a:xfrm>
                <a:off x="1000125" y="866775"/>
                <a:ext cx="6288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2"/>
              <p:cNvSpPr txBox="1"/>
              <p:nvPr/>
            </p:nvSpPr>
            <p:spPr>
              <a:xfrm>
                <a:off x="1676400" y="85725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+0.45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1282" name="Google Shape;1282;p3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95363" y="-38100"/>
                <a:ext cx="9600" cy="108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3" name="Google Shape;1283;p32"/>
          <p:cNvGrpSpPr/>
          <p:nvPr/>
        </p:nvGrpSpPr>
        <p:grpSpPr>
          <a:xfrm>
            <a:off x="3276600" y="3009900"/>
            <a:ext cx="2590800" cy="1638300"/>
            <a:chOff x="0" y="0"/>
            <a:chExt cx="2590800" cy="1638300"/>
          </a:xfrm>
        </p:grpSpPr>
        <p:sp>
          <p:nvSpPr>
            <p:cNvPr id="1284" name="Google Shape;1284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5. Key Operational Drivers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87" name="Google Shape;1287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Equipment Availability &amp; Value Perception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regression isolated two critical operational levers driving 68% of renewal decision variance: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1. Equipment Peak Access: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Direct contributor to immediate member frustration.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2. Price-to-Quality Ratio: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Strongest predictor of long-term retention.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88" name="Google Shape;1288;p32"/>
          <p:cNvGrpSpPr/>
          <p:nvPr/>
        </p:nvGrpSpPr>
        <p:grpSpPr>
          <a:xfrm>
            <a:off x="6038850" y="3009900"/>
            <a:ext cx="2590800" cy="1638300"/>
            <a:chOff x="0" y="0"/>
            <a:chExt cx="2590800" cy="1638300"/>
          </a:xfrm>
        </p:grpSpPr>
        <p:sp>
          <p:nvSpPr>
            <p:cNvPr id="1289" name="Google Shape;1289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0E1C5D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6. Synthesis &amp; Renewal Translation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92" name="Google Shape;1292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Actionable Outcome:</a:t>
              </a:r>
              <a:endParaRPr sz="8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F4F5F9"/>
                  </a:solidFill>
                  <a:latin typeface="Work Sans"/>
                  <a:ea typeface="Work Sans"/>
                  <a:cs typeface="Work Sans"/>
                  <a:sym typeface="Work Sans"/>
                </a:rPr>
                <a:t>These integrated findings prove that operational improvements in equipment availability and value perception will directly translate to higher renewal intent.</a:t>
              </a:r>
              <a:endParaRPr sz="700" b="0">
                <a:solidFill>
                  <a:srgbClr val="F4F5F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Targeted Focus: Operational DMAIC Improvements</a:t>
              </a:r>
              <a:endParaRPr sz="7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1298;p33"/>
          <p:cNvGrpSpPr/>
          <p:nvPr/>
        </p:nvGrpSpPr>
        <p:grpSpPr>
          <a:xfrm>
            <a:off x="514350" y="266700"/>
            <a:ext cx="8115300" cy="705000"/>
            <a:chOff x="0" y="0"/>
            <a:chExt cx="8115300" cy="705000"/>
          </a:xfrm>
        </p:grpSpPr>
        <p:sp>
          <p:nvSpPr>
            <p:cNvPr id="1299" name="Google Shape;1299;p33"/>
            <p:cNvSpPr txBox="1"/>
            <p:nvPr/>
          </p:nvSpPr>
          <p:spPr>
            <a:xfrm>
              <a:off x="0" y="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IMPROVE PHASE — FMEA RISK PRIORITIZATION</a:t>
              </a:r>
              <a:endParaRPr sz="9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00" name="Google Shape;1300;p33"/>
            <p:cNvSpPr txBox="1"/>
            <p:nvPr/>
          </p:nvSpPr>
          <p:spPr>
            <a:xfrm>
              <a:off x="0" y="17145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FAILURE MODE &amp; EFFECTS ANALYSIS (CRITICAL RISKS)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01" name="Google Shape;1301;p33"/>
            <p:cNvSpPr txBox="1"/>
            <p:nvPr/>
          </p:nvSpPr>
          <p:spPr>
            <a:xfrm>
              <a:off x="0" y="49530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6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Formula:</a:t>
              </a:r>
              <a:r>
                <a:rPr lang="en" sz="786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 RPN = Severity × Occurrence × Detection  |  </a:t>
              </a:r>
              <a:r>
                <a:rPr lang="en" sz="786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Threshold: RPN &gt; 200</a:t>
              </a:r>
              <a:r>
                <a:rPr lang="en" sz="786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 (7 Failure Modes Identified, Led by Absence of Automated Renewal Reminders)</a:t>
              </a:r>
              <a:endParaRPr sz="786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302" name="Google Shape;1302;p33"/>
          <p:cNvGrpSpPr/>
          <p:nvPr/>
        </p:nvGrpSpPr>
        <p:grpSpPr>
          <a:xfrm>
            <a:off x="514350" y="1066800"/>
            <a:ext cx="3943200" cy="3029100"/>
            <a:chOff x="0" y="0"/>
            <a:chExt cx="3943200" cy="3029100"/>
          </a:xfrm>
        </p:grpSpPr>
        <p:sp>
          <p:nvSpPr>
            <p:cNvPr id="1303" name="Google Shape;1303;p33"/>
            <p:cNvSpPr/>
            <p:nvPr/>
          </p:nvSpPr>
          <p:spPr>
            <a:xfrm>
              <a:off x="0" y="0"/>
              <a:ext cx="3943200" cy="3029100"/>
            </a:xfrm>
            <a:prstGeom prst="roundRect">
              <a:avLst>
                <a:gd name="adj" fmla="val 188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0" y="0"/>
              <a:ext cx="39432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0" y="209550"/>
              <a:ext cx="3943200" cy="573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3"/>
            <p:cNvSpPr txBox="1"/>
            <p:nvPr/>
          </p:nvSpPr>
          <p:spPr>
            <a:xfrm>
              <a:off x="133350" y="0"/>
              <a:ext cx="3676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FAILURE MODES RANKED BY RPN SCORE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1307" name="Google Shape;1307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19350" y="342900"/>
              <a:ext cx="19200" cy="25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33"/>
            <p:cNvSpPr txBox="1"/>
            <p:nvPr/>
          </p:nvSpPr>
          <p:spPr>
            <a:xfrm>
              <a:off x="2000250" y="304800"/>
              <a:ext cx="8574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A60042"/>
                  </a:solidFill>
                  <a:highlight>
                    <a:srgbClr val="F8F9FA"/>
                  </a:highlight>
                  <a:latin typeface="Work Sans"/>
                  <a:ea typeface="Work Sans"/>
                  <a:cs typeface="Work Sans"/>
                  <a:sym typeface="Work Sans"/>
                </a:rPr>
                <a:t>THRESHOLD (200)</a:t>
              </a:r>
              <a:endParaRPr sz="600" b="1">
                <a:solidFill>
                  <a:srgbClr val="A60042"/>
                </a:solidFill>
                <a:highlight>
                  <a:srgbClr val="F8F9FA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09" name="Google Shape;1309;p33"/>
            <p:cNvGrpSpPr/>
            <p:nvPr/>
          </p:nvGrpSpPr>
          <p:grpSpPr>
            <a:xfrm>
              <a:off x="114300" y="495300"/>
              <a:ext cx="3495600" cy="152400"/>
              <a:chOff x="0" y="0"/>
              <a:chExt cx="3495600" cy="152400"/>
            </a:xfrm>
          </p:grpSpPr>
          <p:sp>
            <p:nvSpPr>
              <p:cNvPr id="1310" name="Google Shape;1310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 No renewal reminders sent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11" name="Google Shape;1311;p33"/>
              <p:cNvSpPr/>
              <p:nvPr/>
            </p:nvSpPr>
            <p:spPr>
              <a:xfrm>
                <a:off x="1409700" y="9525"/>
                <a:ext cx="17049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3"/>
              <p:cNvSpPr txBox="1"/>
              <p:nvPr/>
            </p:nvSpPr>
            <p:spPr>
              <a:xfrm>
                <a:off x="31623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378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13" name="Google Shape;1313;p33"/>
            <p:cNvGrpSpPr/>
            <p:nvPr/>
          </p:nvGrpSpPr>
          <p:grpSpPr>
            <a:xfrm>
              <a:off x="114300" y="838200"/>
              <a:ext cx="3305100" cy="152400"/>
              <a:chOff x="0" y="0"/>
              <a:chExt cx="3305100" cy="152400"/>
            </a:xfrm>
          </p:grpSpPr>
          <p:sp>
            <p:nvSpPr>
              <p:cNvPr id="1314" name="Google Shape;1314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2. No progress tracking system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15" name="Google Shape;1315;p33"/>
              <p:cNvSpPr/>
              <p:nvPr/>
            </p:nvSpPr>
            <p:spPr>
              <a:xfrm>
                <a:off x="1409700" y="9525"/>
                <a:ext cx="1514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3"/>
              <p:cNvSpPr txBox="1"/>
              <p:nvPr/>
            </p:nvSpPr>
            <p:spPr>
              <a:xfrm>
                <a:off x="29718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336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17" name="Google Shape;1317;p33"/>
            <p:cNvGrpSpPr/>
            <p:nvPr/>
          </p:nvGrpSpPr>
          <p:grpSpPr>
            <a:xfrm>
              <a:off x="114300" y="1181100"/>
              <a:ext cx="3305100" cy="152400"/>
              <a:chOff x="0" y="0"/>
              <a:chExt cx="3305100" cy="152400"/>
            </a:xfrm>
          </p:grpSpPr>
          <p:sp>
            <p:nvSpPr>
              <p:cNvPr id="1318" name="Google Shape;1318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3. No upsell/upgrade prompts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19" name="Google Shape;1319;p33"/>
              <p:cNvSpPr/>
              <p:nvPr/>
            </p:nvSpPr>
            <p:spPr>
              <a:xfrm>
                <a:off x="1409700" y="9525"/>
                <a:ext cx="1514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3"/>
              <p:cNvSpPr txBox="1"/>
              <p:nvPr/>
            </p:nvSpPr>
            <p:spPr>
              <a:xfrm>
                <a:off x="29718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336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1" name="Google Shape;1321;p33"/>
            <p:cNvGrpSpPr/>
            <p:nvPr/>
          </p:nvGrpSpPr>
          <p:grpSpPr>
            <a:xfrm>
              <a:off x="114300" y="1524000"/>
              <a:ext cx="3238425" cy="152400"/>
              <a:chOff x="0" y="0"/>
              <a:chExt cx="3238425" cy="152400"/>
            </a:xfrm>
          </p:grpSpPr>
          <p:sp>
            <p:nvSpPr>
              <p:cNvPr id="1322" name="Google Shape;1322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 Only monthly plans chosen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23" name="Google Shape;1323;p33"/>
              <p:cNvSpPr/>
              <p:nvPr/>
            </p:nvSpPr>
            <p:spPr>
              <a:xfrm>
                <a:off x="1409700" y="9525"/>
                <a:ext cx="14478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3"/>
              <p:cNvSpPr txBox="1"/>
              <p:nvPr/>
            </p:nvSpPr>
            <p:spPr>
              <a:xfrm>
                <a:off x="29051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320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5" name="Google Shape;1325;p33"/>
            <p:cNvGrpSpPr/>
            <p:nvPr/>
          </p:nvGrpSpPr>
          <p:grpSpPr>
            <a:xfrm>
              <a:off x="114300" y="1866900"/>
              <a:ext cx="3086025" cy="152400"/>
              <a:chOff x="0" y="0"/>
              <a:chExt cx="3086025" cy="152400"/>
            </a:xfrm>
          </p:grpSpPr>
          <p:sp>
            <p:nvSpPr>
              <p:cNvPr id="1326" name="Google Shape;1326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5. Peak machine unavailability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27" name="Google Shape;1327;p33"/>
              <p:cNvSpPr/>
              <p:nvPr/>
            </p:nvSpPr>
            <p:spPr>
              <a:xfrm>
                <a:off x="1409700" y="9525"/>
                <a:ext cx="1295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3"/>
              <p:cNvSpPr txBox="1"/>
              <p:nvPr/>
            </p:nvSpPr>
            <p:spPr>
              <a:xfrm>
                <a:off x="27527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288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9" name="Google Shape;1329;p33"/>
            <p:cNvGrpSpPr/>
            <p:nvPr/>
          </p:nvGrpSpPr>
          <p:grpSpPr>
            <a:xfrm>
              <a:off x="114300" y="2209800"/>
              <a:ext cx="2876475" cy="152400"/>
              <a:chOff x="0" y="0"/>
              <a:chExt cx="2876475" cy="152400"/>
            </a:xfrm>
          </p:grpSpPr>
          <p:sp>
            <p:nvSpPr>
              <p:cNvPr id="1330" name="Google Shape;1330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6. No orientation/onboarding</a:t>
                </a:r>
                <a:endParaRPr sz="750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31" name="Google Shape;1331;p33"/>
              <p:cNvSpPr/>
              <p:nvPr/>
            </p:nvSpPr>
            <p:spPr>
              <a:xfrm>
                <a:off x="1409700" y="9525"/>
                <a:ext cx="10860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3"/>
              <p:cNvSpPr txBox="1"/>
              <p:nvPr/>
            </p:nvSpPr>
            <p:spPr>
              <a:xfrm>
                <a:off x="254317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240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33" name="Google Shape;1333;p33"/>
            <p:cNvGrpSpPr/>
            <p:nvPr/>
          </p:nvGrpSpPr>
          <p:grpSpPr>
            <a:xfrm>
              <a:off x="114300" y="2552700"/>
              <a:ext cx="2743125" cy="152400"/>
              <a:chOff x="0" y="0"/>
              <a:chExt cx="2743125" cy="152400"/>
            </a:xfrm>
          </p:grpSpPr>
          <p:sp>
            <p:nvSpPr>
              <p:cNvPr id="1334" name="Google Shape;1334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7. Trainer ignores non-PT</a:t>
                </a:r>
                <a:endParaRPr sz="750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35" name="Google Shape;1335;p33"/>
              <p:cNvSpPr/>
              <p:nvPr/>
            </p:nvSpPr>
            <p:spPr>
              <a:xfrm>
                <a:off x="1409700" y="9525"/>
                <a:ext cx="9525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3"/>
              <p:cNvSpPr txBox="1"/>
              <p:nvPr/>
            </p:nvSpPr>
            <p:spPr>
              <a:xfrm>
                <a:off x="24098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210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337" name="Google Shape;1337;p33"/>
          <p:cNvGrpSpPr/>
          <p:nvPr/>
        </p:nvGrpSpPr>
        <p:grpSpPr>
          <a:xfrm>
            <a:off x="4686300" y="1066800"/>
            <a:ext cx="3943200" cy="3029100"/>
            <a:chOff x="0" y="0"/>
            <a:chExt cx="3943200" cy="3029100"/>
          </a:xfrm>
        </p:grpSpPr>
        <p:sp>
          <p:nvSpPr>
            <p:cNvPr id="1338" name="Google Shape;1338;p33"/>
            <p:cNvSpPr/>
            <p:nvPr/>
          </p:nvSpPr>
          <p:spPr>
            <a:xfrm>
              <a:off x="0" y="0"/>
              <a:ext cx="3943200" cy="3029100"/>
            </a:xfrm>
            <a:prstGeom prst="roundRect">
              <a:avLst>
                <a:gd name="adj" fmla="val 188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0" y="0"/>
              <a:ext cx="39432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0" y="209550"/>
              <a:ext cx="3943200" cy="573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3"/>
            <p:cNvSpPr txBox="1"/>
            <p:nvPr/>
          </p:nvSpPr>
          <p:spPr>
            <a:xfrm>
              <a:off x="133350" y="0"/>
              <a:ext cx="3676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SEVERITY VS OCCURRENCE RISK MATRIX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42" name="Google Shape;1342;p33"/>
            <p:cNvGrpSpPr/>
            <p:nvPr/>
          </p:nvGrpSpPr>
          <p:grpSpPr>
            <a:xfrm>
              <a:off x="152400" y="419100"/>
              <a:ext cx="3457500" cy="2400300"/>
              <a:chOff x="-304800" y="38100"/>
              <a:chExt cx="3457500" cy="2400300"/>
            </a:xfrm>
          </p:grpSpPr>
          <p:sp>
            <p:nvSpPr>
              <p:cNvPr id="1343" name="Google Shape;1343;p33"/>
              <p:cNvSpPr/>
              <p:nvPr/>
            </p:nvSpPr>
            <p:spPr>
              <a:xfrm>
                <a:off x="0" y="1143000"/>
                <a:ext cx="1571700" cy="1095300"/>
              </a:xfrm>
              <a:prstGeom prst="rect">
                <a:avLst/>
              </a:prstGeom>
              <a:solidFill>
                <a:srgbClr val="F1F5F9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3"/>
              <p:cNvSpPr/>
              <p:nvPr/>
            </p:nvSpPr>
            <p:spPr>
              <a:xfrm>
                <a:off x="0" y="47625"/>
                <a:ext cx="1571700" cy="1095300"/>
              </a:xfrm>
              <a:prstGeom prst="rect">
                <a:avLst/>
              </a:prstGeom>
              <a:solidFill>
                <a:srgbClr val="E2E8F0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3"/>
              <p:cNvSpPr/>
              <p:nvPr/>
            </p:nvSpPr>
            <p:spPr>
              <a:xfrm>
                <a:off x="1571625" y="1143000"/>
                <a:ext cx="1571700" cy="1095300"/>
              </a:xfrm>
              <a:prstGeom prst="rect">
                <a:avLst/>
              </a:prstGeom>
              <a:solidFill>
                <a:srgbClr val="E2E8F0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46" name="Google Shape;1346;p3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562100" y="38100"/>
                <a:ext cx="1590600" cy="11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7" name="Google Shape;1347;p33"/>
              <p:cNvSpPr/>
              <p:nvPr/>
            </p:nvSpPr>
            <p:spPr>
              <a:xfrm>
                <a:off x="1666875" y="114300"/>
                <a:ext cx="13812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3"/>
              <p:cNvSpPr txBox="1"/>
              <p:nvPr/>
            </p:nvSpPr>
            <p:spPr>
              <a:xfrm>
                <a:off x="1666875" y="114300"/>
                <a:ext cx="1381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CRITICAL ZONE (RPN &gt; 200)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49" name="Google Shape;1349;p33"/>
              <p:cNvCxnSpPr/>
              <p:nvPr/>
            </p:nvCxnSpPr>
            <p:spPr>
              <a:xfrm>
                <a:off x="0" y="2238375"/>
                <a:ext cx="3143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0" name="Google Shape;1350;p33"/>
              <p:cNvCxnSpPr/>
              <p:nvPr/>
            </p:nvCxnSpPr>
            <p:spPr>
              <a:xfrm>
                <a:off x="0" y="47625"/>
                <a:ext cx="0" cy="21909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51" name="Google Shape;1351;p33"/>
              <p:cNvSpPr txBox="1"/>
              <p:nvPr/>
            </p:nvSpPr>
            <p:spPr>
              <a:xfrm>
                <a:off x="762000" y="2286000"/>
                <a:ext cx="1619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OCCURRENCE →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52" name="Google Shape;1352;p33"/>
              <p:cNvSpPr txBox="1"/>
              <p:nvPr/>
            </p:nvSpPr>
            <p:spPr>
              <a:xfrm rot="-5400000">
                <a:off x="-800100" y="876300"/>
                <a:ext cx="1143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SEVERITY →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grpSp>
            <p:nvGrpSpPr>
              <p:cNvPr id="1353" name="Google Shape;1353;p33"/>
              <p:cNvGrpSpPr/>
              <p:nvPr/>
            </p:nvGrpSpPr>
            <p:grpSpPr>
              <a:xfrm>
                <a:off x="1905000" y="323850"/>
                <a:ext cx="1143000" cy="228600"/>
                <a:chOff x="0" y="0"/>
                <a:chExt cx="1143000" cy="228600"/>
              </a:xfrm>
            </p:grpSpPr>
            <p:sp>
              <p:nvSpPr>
                <p:cNvPr id="1354" name="Google Shape;1354;p33"/>
                <p:cNvSpPr/>
                <p:nvPr/>
              </p:nvSpPr>
              <p:spPr>
                <a:xfrm>
                  <a:off x="0" y="0"/>
                  <a:ext cx="1143000" cy="2286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A6004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5" name="Google Shape;1355;p33"/>
                <p:cNvSpPr txBox="1"/>
                <p:nvPr/>
              </p:nvSpPr>
              <p:spPr>
                <a:xfrm>
                  <a:off x="0" y="0"/>
                  <a:ext cx="11430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5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LEAD RISK #1 (RPN 378)</a:t>
                  </a:r>
                  <a:endParaRPr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sp>
            <p:nvSpPr>
              <p:cNvPr id="1356" name="Google Shape;1356;p33"/>
              <p:cNvSpPr/>
              <p:nvPr/>
            </p:nvSpPr>
            <p:spPr>
              <a:xfrm>
                <a:off x="1800225" y="5619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3"/>
              <p:cNvSpPr txBox="1"/>
              <p:nvPr/>
            </p:nvSpPr>
            <p:spPr>
              <a:xfrm>
                <a:off x="1800225" y="5619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#3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58" name="Google Shape;1358;p33"/>
              <p:cNvSpPr/>
              <p:nvPr/>
            </p:nvSpPr>
            <p:spPr>
              <a:xfrm>
                <a:off x="2419350" y="5619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3"/>
              <p:cNvSpPr txBox="1"/>
              <p:nvPr/>
            </p:nvSpPr>
            <p:spPr>
              <a:xfrm>
                <a:off x="2419350" y="5619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#2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0" name="Google Shape;1360;p33"/>
              <p:cNvSpPr/>
              <p:nvPr/>
            </p:nvSpPr>
            <p:spPr>
              <a:xfrm>
                <a:off x="1800225" y="8286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3"/>
              <p:cNvSpPr txBox="1"/>
              <p:nvPr/>
            </p:nvSpPr>
            <p:spPr>
              <a:xfrm>
                <a:off x="1800225" y="828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#5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2" name="Google Shape;1362;p33"/>
              <p:cNvSpPr/>
              <p:nvPr/>
            </p:nvSpPr>
            <p:spPr>
              <a:xfrm>
                <a:off x="2419350" y="8286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3"/>
              <p:cNvSpPr txBox="1"/>
              <p:nvPr/>
            </p:nvSpPr>
            <p:spPr>
              <a:xfrm>
                <a:off x="2419350" y="828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#4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4" name="Google Shape;1364;p33"/>
              <p:cNvSpPr/>
              <p:nvPr/>
            </p:nvSpPr>
            <p:spPr>
              <a:xfrm>
                <a:off x="1323975" y="990600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3"/>
              <p:cNvSpPr txBox="1"/>
              <p:nvPr/>
            </p:nvSpPr>
            <p:spPr>
              <a:xfrm>
                <a:off x="1323975" y="990600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#7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6" name="Google Shape;1366;p33"/>
              <p:cNvSpPr/>
              <p:nvPr/>
            </p:nvSpPr>
            <p:spPr>
              <a:xfrm>
                <a:off x="2419350" y="10572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3"/>
              <p:cNvSpPr txBox="1"/>
              <p:nvPr/>
            </p:nvSpPr>
            <p:spPr>
              <a:xfrm>
                <a:off x="2419350" y="10572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#6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368" name="Google Shape;1368;p33"/>
          <p:cNvGrpSpPr/>
          <p:nvPr/>
        </p:nvGrpSpPr>
        <p:grpSpPr>
          <a:xfrm>
            <a:off x="514350" y="4210050"/>
            <a:ext cx="8115300" cy="514500"/>
            <a:chOff x="0" y="0"/>
            <a:chExt cx="8115300" cy="514500"/>
          </a:xfrm>
        </p:grpSpPr>
        <p:sp>
          <p:nvSpPr>
            <p:cNvPr id="1369" name="Google Shape;1369;p33"/>
            <p:cNvSpPr/>
            <p:nvPr/>
          </p:nvSpPr>
          <p:spPr>
            <a:xfrm>
              <a:off x="0" y="0"/>
              <a:ext cx="8115300" cy="514500"/>
            </a:xfrm>
            <a:prstGeom prst="roundRect">
              <a:avLst>
                <a:gd name="adj" fmla="val 1111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0" y="0"/>
              <a:ext cx="95400" cy="514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333"/>
                  </a:moveTo>
                  <a:cubicBezTo>
                    <a:pt x="0" y="5956"/>
                    <a:pt x="3216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32160" y="120000"/>
                    <a:pt x="0" y="114044"/>
                    <a:pt x="0" y="106667"/>
                  </a:cubicBez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3"/>
            <p:cNvSpPr txBox="1"/>
            <p:nvPr/>
          </p:nvSpPr>
          <p:spPr>
            <a:xfrm>
              <a:off x="228600" y="0"/>
              <a:ext cx="7734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Strategic Focus:</a:t>
              </a:r>
              <a:r>
                <a:rPr lang="en" sz="9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Failure Mode #1 (No renewal reminders sent) scores the maximum RPN (378) due to extreme Occurrence &amp; Severity, requiring immediate automation intervention.</a:t>
              </a:r>
              <a:endParaRPr sz="9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6" name="Google Shape;1376;p34"/>
          <p:cNvGrpSpPr/>
          <p:nvPr/>
        </p:nvGrpSpPr>
        <p:grpSpPr>
          <a:xfrm>
            <a:off x="514350" y="266700"/>
            <a:ext cx="8115300" cy="705000"/>
            <a:chOff x="0" y="0"/>
            <a:chExt cx="8115300" cy="705000"/>
          </a:xfrm>
        </p:grpSpPr>
        <p:sp>
          <p:nvSpPr>
            <p:cNvPr id="1377" name="Google Shape;1377;p34"/>
            <p:cNvSpPr txBox="1"/>
            <p:nvPr/>
          </p:nvSpPr>
          <p:spPr>
            <a:xfrm>
              <a:off x="0" y="0"/>
              <a:ext cx="8115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IMPROVE PHASE — ACTION PLAN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8" name="Google Shape;1378;p34"/>
            <p:cNvSpPr txBox="1"/>
            <p:nvPr/>
          </p:nvSpPr>
          <p:spPr>
            <a:xfrm>
              <a:off x="0" y="17145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PRIORITIZED IMPROVEMENT ACTION PLAN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79" name="Google Shape;1379;p34"/>
            <p:cNvSpPr txBox="1"/>
            <p:nvPr/>
          </p:nvSpPr>
          <p:spPr>
            <a:xfrm>
              <a:off x="0" y="49530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4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Based on FMEA RPN rankings, a targeted action plan deploys automated communications, crowd tracking, and structured onboarding to neutralize critical failure modes.</a:t>
              </a:r>
              <a:endParaRPr sz="740" b="0">
                <a:solidFill>
                  <a:srgbClr val="475569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1380" name="Google Shape;1380;p34"/>
          <p:cNvGrpSpPr/>
          <p:nvPr/>
        </p:nvGrpSpPr>
        <p:grpSpPr>
          <a:xfrm>
            <a:off x="514350" y="1143000"/>
            <a:ext cx="2571900" cy="1571700"/>
            <a:chOff x="0" y="0"/>
            <a:chExt cx="2571900" cy="1571700"/>
          </a:xfrm>
        </p:grpSpPr>
        <p:sp>
          <p:nvSpPr>
            <p:cNvPr id="1381" name="Google Shape;138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85" name="Google Shape;138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Automated Reminders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86" name="Google Shape;1386;p34"/>
            <p:cNvGrpSpPr/>
            <p:nvPr/>
          </p:nvGrpSpPr>
          <p:grpSpPr>
            <a:xfrm>
              <a:off x="152400" y="495300"/>
              <a:ext cx="2266950" cy="369189"/>
              <a:chOff x="0" y="0"/>
              <a:chExt cx="2266950" cy="369189"/>
            </a:xfrm>
          </p:grpSpPr>
          <p:sp>
            <p:nvSpPr>
              <p:cNvPr id="1387" name="Google Shape;138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4"/>
              <p:cNvSpPr txBox="1"/>
              <p:nvPr/>
            </p:nvSpPr>
            <p:spPr>
              <a:xfrm>
                <a:off x="0" y="26289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A6004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notifications_active</a:t>
                </a:r>
                <a:endParaRPr sz="1800" dirty="0">
                  <a:solidFill>
                    <a:srgbClr val="A60042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389" name="Google Shape;138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SMS and email alerts sent at 30, 15, and 7 days pre-expiry.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390" name="Google Shape;1390;p34"/>
          <p:cNvGrpSpPr/>
          <p:nvPr/>
        </p:nvGrpSpPr>
        <p:grpSpPr>
          <a:xfrm>
            <a:off x="3286125" y="1143000"/>
            <a:ext cx="2571900" cy="1571700"/>
            <a:chOff x="0" y="0"/>
            <a:chExt cx="2571900" cy="1571700"/>
          </a:xfrm>
        </p:grpSpPr>
        <p:sp>
          <p:nvSpPr>
            <p:cNvPr id="1391" name="Google Shape;139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95" name="Google Shape;139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Progress Tracking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96" name="Google Shape;1396;p34"/>
            <p:cNvGrpSpPr/>
            <p:nvPr/>
          </p:nvGrpSpPr>
          <p:grpSpPr>
            <a:xfrm>
              <a:off x="152400" y="495300"/>
              <a:ext cx="2324100" cy="369189"/>
              <a:chOff x="0" y="0"/>
              <a:chExt cx="2324100" cy="369189"/>
            </a:xfrm>
          </p:grpSpPr>
          <p:sp>
            <p:nvSpPr>
              <p:cNvPr id="1397" name="Google Shape;139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4"/>
              <p:cNvSpPr txBox="1"/>
              <p:nvPr/>
            </p:nvSpPr>
            <p:spPr>
              <a:xfrm>
                <a:off x="0" y="26289"/>
                <a:ext cx="2324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399" name="Google Shape;139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Implementation of monthly fitness assessments.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00" name="Google Shape;1400;p34"/>
          <p:cNvGrpSpPr/>
          <p:nvPr/>
        </p:nvGrpSpPr>
        <p:grpSpPr>
          <a:xfrm>
            <a:off x="6057900" y="1143000"/>
            <a:ext cx="2571900" cy="1571700"/>
            <a:chOff x="0" y="0"/>
            <a:chExt cx="2571900" cy="1571700"/>
          </a:xfrm>
        </p:grpSpPr>
        <p:sp>
          <p:nvSpPr>
            <p:cNvPr id="1401" name="Google Shape;140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05" name="Google Shape;140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Upgrades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06" name="Google Shape;1406;p34"/>
            <p:cNvGrpSpPr/>
            <p:nvPr/>
          </p:nvGrpSpPr>
          <p:grpSpPr>
            <a:xfrm>
              <a:off x="152400" y="495300"/>
              <a:ext cx="2324100" cy="369189"/>
              <a:chOff x="0" y="0"/>
              <a:chExt cx="2324100" cy="369189"/>
            </a:xfrm>
          </p:grpSpPr>
          <p:sp>
            <p:nvSpPr>
              <p:cNvPr id="1407" name="Google Shape;140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4"/>
              <p:cNvSpPr txBox="1"/>
              <p:nvPr/>
            </p:nvSpPr>
            <p:spPr>
              <a:xfrm>
                <a:off x="0" y="26289"/>
                <a:ext cx="2324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workspace_premium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09" name="Google Shape;140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Loyalty upgrade incentives to convert monthly members.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10" name="Google Shape;1410;p34"/>
          <p:cNvGrpSpPr/>
          <p:nvPr/>
        </p:nvGrpSpPr>
        <p:grpSpPr>
          <a:xfrm>
            <a:off x="514350" y="2876550"/>
            <a:ext cx="2571900" cy="1571700"/>
            <a:chOff x="0" y="0"/>
            <a:chExt cx="2571900" cy="1571700"/>
          </a:xfrm>
        </p:grpSpPr>
        <p:sp>
          <p:nvSpPr>
            <p:cNvPr id="1411" name="Google Shape;141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15" name="Google Shape;141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Congestion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16" name="Google Shape;1416;p34"/>
            <p:cNvGrpSpPr/>
            <p:nvPr/>
          </p:nvGrpSpPr>
          <p:grpSpPr>
            <a:xfrm>
              <a:off x="152400" y="495300"/>
              <a:ext cx="2419500" cy="369189"/>
              <a:chOff x="0" y="0"/>
              <a:chExt cx="2419500" cy="369189"/>
            </a:xfrm>
          </p:grpSpPr>
          <p:sp>
            <p:nvSpPr>
              <p:cNvPr id="1417" name="Google Shape;141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4"/>
              <p:cNvSpPr txBox="1"/>
              <p:nvPr/>
            </p:nvSpPr>
            <p:spPr>
              <a:xfrm>
                <a:off x="0" y="26289"/>
                <a:ext cx="2419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19" name="Google Shape;141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Live crowd tracking and staggered peak slots.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20" name="Google Shape;1420;p34"/>
          <p:cNvGrpSpPr/>
          <p:nvPr/>
        </p:nvGrpSpPr>
        <p:grpSpPr>
          <a:xfrm>
            <a:off x="3286125" y="2876550"/>
            <a:ext cx="2571900" cy="1571700"/>
            <a:chOff x="0" y="0"/>
            <a:chExt cx="2571900" cy="1571700"/>
          </a:xfrm>
        </p:grpSpPr>
        <p:sp>
          <p:nvSpPr>
            <p:cNvPr id="1421" name="Google Shape;142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25" name="Google Shape;142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Onboarding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26" name="Google Shape;1426;p34"/>
            <p:cNvGrpSpPr/>
            <p:nvPr/>
          </p:nvGrpSpPr>
          <p:grpSpPr>
            <a:xfrm>
              <a:off x="152400" y="495300"/>
              <a:ext cx="2266950" cy="369189"/>
              <a:chOff x="0" y="0"/>
              <a:chExt cx="2266950" cy="369189"/>
            </a:xfrm>
          </p:grpSpPr>
          <p:sp>
            <p:nvSpPr>
              <p:cNvPr id="1427" name="Google Shape;142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4"/>
              <p:cNvSpPr txBox="1"/>
              <p:nvPr/>
            </p:nvSpPr>
            <p:spPr>
              <a:xfrm>
                <a:off x="0" y="26289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badge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29" name="Google Shape;142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A structured 7-day orientation program.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30" name="Google Shape;1430;p34"/>
          <p:cNvGrpSpPr/>
          <p:nvPr/>
        </p:nvGrpSpPr>
        <p:grpSpPr>
          <a:xfrm>
            <a:off x="6057900" y="2876550"/>
            <a:ext cx="2571900" cy="1571700"/>
            <a:chOff x="0" y="0"/>
            <a:chExt cx="2571900" cy="1571700"/>
          </a:xfrm>
        </p:grpSpPr>
        <p:sp>
          <p:nvSpPr>
            <p:cNvPr id="1431" name="Google Shape;143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06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35" name="Google Shape;143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Engagement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36" name="Google Shape;1436;p34"/>
            <p:cNvGrpSpPr/>
            <p:nvPr/>
          </p:nvGrpSpPr>
          <p:grpSpPr>
            <a:xfrm>
              <a:off x="152400" y="495300"/>
              <a:ext cx="2286000" cy="369189"/>
              <a:chOff x="0" y="0"/>
              <a:chExt cx="2286000" cy="369189"/>
            </a:xfrm>
          </p:grpSpPr>
          <p:sp>
            <p:nvSpPr>
              <p:cNvPr id="1437" name="Google Shape;143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4"/>
              <p:cNvSpPr txBox="1"/>
              <p:nvPr/>
            </p:nvSpPr>
            <p:spPr>
              <a:xfrm>
                <a:off x="0" y="26289"/>
                <a:ext cx="2286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fitness_center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39" name="Google Shape;143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Mandatory 30-minute floor rounds by trainers for non-PT members.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40" name="Google Shape;1440;p34"/>
          <p:cNvGrpSpPr/>
          <p:nvPr/>
        </p:nvGrpSpPr>
        <p:grpSpPr>
          <a:xfrm>
            <a:off x="514350" y="4591050"/>
            <a:ext cx="8115300" cy="342900"/>
            <a:chOff x="0" y="0"/>
            <a:chExt cx="8115300" cy="342900"/>
          </a:xfrm>
        </p:grpSpPr>
        <p:sp>
          <p:nvSpPr>
            <p:cNvPr id="1441" name="Google Shape;1441;p34"/>
            <p:cNvSpPr/>
            <p:nvPr/>
          </p:nvSpPr>
          <p:spPr>
            <a:xfrm>
              <a:off x="0" y="0"/>
              <a:ext cx="8115300" cy="342900"/>
            </a:xfrm>
            <a:prstGeom prst="roundRect">
              <a:avLst>
                <a:gd name="adj" fmla="val 16666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0" y="0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40200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00" y="120000"/>
                    <a:pt x="0" y="111067"/>
                    <a:pt x="0" y="100000"/>
                  </a:cubicBez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4"/>
            <p:cNvSpPr txBox="1"/>
            <p:nvPr/>
          </p:nvSpPr>
          <p:spPr>
            <a:xfrm>
              <a:off x="171450" y="0"/>
              <a:ext cx="7810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Action Goal: </a:t>
              </a:r>
              <a:r>
                <a:rPr lang="en" sz="8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Neutralize top failure modes through automated communication workflows and proactive engagement touchpoints.</a:t>
              </a:r>
              <a:endParaRPr sz="8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" name="Google Shape;1448;p35"/>
          <p:cNvGrpSpPr/>
          <p:nvPr/>
        </p:nvGrpSpPr>
        <p:grpSpPr>
          <a:xfrm>
            <a:off x="514350" y="228600"/>
            <a:ext cx="8115300" cy="704850"/>
            <a:chOff x="0" y="0"/>
            <a:chExt cx="8115300" cy="704850"/>
          </a:xfrm>
        </p:grpSpPr>
        <p:sp>
          <p:nvSpPr>
            <p:cNvPr id="1449" name="Google Shape;1449;p35"/>
            <p:cNvSpPr txBox="1"/>
            <p:nvPr/>
          </p:nvSpPr>
          <p:spPr>
            <a:xfrm>
              <a:off x="0" y="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CONTROL PHASE — STATISTICAL PROCESS CONTROL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50" name="Google Shape;1450;p35"/>
            <p:cNvSpPr txBox="1"/>
            <p:nvPr/>
          </p:nvSpPr>
          <p:spPr>
            <a:xfrm>
              <a:off x="0" y="19050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STATISTICAL PROCESS CONTROL P-CHARTS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51" name="Google Shape;1451;p35"/>
            <p:cNvSpPr txBox="1"/>
            <p:nvPr/>
          </p:nvSpPr>
          <p:spPr>
            <a:xfrm>
              <a:off x="0" y="51435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Sustained Churn Reduction Validation via 3-Sigma Limit Control Charts</a:t>
              </a:r>
              <a:endParaRPr sz="750" b="0">
                <a:solidFill>
                  <a:srgbClr val="475569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1452" name="Google Shape;1452;p35"/>
          <p:cNvGrpSpPr/>
          <p:nvPr/>
        </p:nvGrpSpPr>
        <p:grpSpPr>
          <a:xfrm>
            <a:off x="514350" y="1028700"/>
            <a:ext cx="4000500" cy="3695700"/>
            <a:chOff x="0" y="0"/>
            <a:chExt cx="4000500" cy="3695700"/>
          </a:xfrm>
        </p:grpSpPr>
        <p:sp>
          <p:nvSpPr>
            <p:cNvPr id="1453" name="Google Shape;1453;p35"/>
            <p:cNvSpPr/>
            <p:nvPr/>
          </p:nvSpPr>
          <p:spPr>
            <a:xfrm>
              <a:off x="0" y="0"/>
              <a:ext cx="4000500" cy="3695700"/>
            </a:xfrm>
            <a:prstGeom prst="roundRect">
              <a:avLst>
                <a:gd name="adj" fmla="val 154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0" y="0"/>
              <a:ext cx="40005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2500"/>
                  </a:moveTo>
                  <a:cubicBezTo>
                    <a:pt x="0" y="10050"/>
                    <a:pt x="766" y="0"/>
                    <a:pt x="1714" y="0"/>
                  </a:cubicBezTo>
                  <a:lnTo>
                    <a:pt x="118286" y="0"/>
                  </a:lnTo>
                  <a:cubicBezTo>
                    <a:pt x="119234" y="0"/>
                    <a:pt x="120000" y="10050"/>
                    <a:pt x="120000" y="22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5"/>
            <p:cNvSpPr txBox="1"/>
            <p:nvPr/>
          </p:nvSpPr>
          <p:spPr>
            <a:xfrm>
              <a:off x="133350" y="0"/>
              <a:ext cx="3733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P-CHART: MONTHLY CHURN PROPORTION CONTROL CHART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56" name="Google Shape;1456;p35"/>
            <p:cNvGrpSpPr/>
            <p:nvPr/>
          </p:nvGrpSpPr>
          <p:grpSpPr>
            <a:xfrm>
              <a:off x="142875" y="419100"/>
              <a:ext cx="3667125" cy="3143250"/>
              <a:chOff x="47625" y="76200"/>
              <a:chExt cx="3667125" cy="3143250"/>
            </a:xfrm>
          </p:grpSpPr>
          <p:sp>
            <p:nvSpPr>
              <p:cNvPr id="1457" name="Google Shape;1457;p35"/>
              <p:cNvSpPr txBox="1"/>
              <p:nvPr/>
            </p:nvSpPr>
            <p:spPr>
              <a:xfrm>
                <a:off x="952500" y="76200"/>
                <a:ext cx="1238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1 BASELINE (12 MOS)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58" name="Google Shape;1458;p35"/>
              <p:cNvSpPr txBox="1"/>
              <p:nvPr/>
            </p:nvSpPr>
            <p:spPr>
              <a:xfrm>
                <a:off x="2571750" y="76200"/>
                <a:ext cx="11430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2 CONTROL (6 MOS)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59" name="Google Shape;1459;p35"/>
              <p:cNvCxnSpPr/>
              <p:nvPr/>
            </p:nvCxnSpPr>
            <p:spPr>
              <a:xfrm>
                <a:off x="428625" y="2476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0" name="Google Shape;1460;p35"/>
              <p:cNvCxnSpPr/>
              <p:nvPr/>
            </p:nvCxnSpPr>
            <p:spPr>
              <a:xfrm>
                <a:off x="428625" y="5905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1" name="Google Shape;1461;p35"/>
              <p:cNvCxnSpPr/>
              <p:nvPr/>
            </p:nvCxnSpPr>
            <p:spPr>
              <a:xfrm>
                <a:off x="428625" y="9334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2" name="Google Shape;1462;p35"/>
              <p:cNvCxnSpPr/>
              <p:nvPr/>
            </p:nvCxnSpPr>
            <p:spPr>
              <a:xfrm>
                <a:off x="428625" y="12763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3" name="Google Shape;1463;p35"/>
              <p:cNvCxnSpPr/>
              <p:nvPr/>
            </p:nvCxnSpPr>
            <p:spPr>
              <a:xfrm>
                <a:off x="428625" y="16192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4" name="Google Shape;1464;p35"/>
              <p:cNvCxnSpPr/>
              <p:nvPr/>
            </p:nvCxnSpPr>
            <p:spPr>
              <a:xfrm>
                <a:off x="428625" y="19621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65" name="Google Shape;1465;p35"/>
              <p:cNvSpPr txBox="1"/>
              <p:nvPr/>
            </p:nvSpPr>
            <p:spPr>
              <a:xfrm>
                <a:off x="47625" y="1905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6" name="Google Shape;1466;p35"/>
              <p:cNvSpPr txBox="1"/>
              <p:nvPr/>
            </p:nvSpPr>
            <p:spPr>
              <a:xfrm>
                <a:off x="47625" y="5334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7" name="Google Shape;1467;p35"/>
              <p:cNvSpPr txBox="1"/>
              <p:nvPr/>
            </p:nvSpPr>
            <p:spPr>
              <a:xfrm>
                <a:off x="47625" y="8763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8" name="Google Shape;1468;p35"/>
              <p:cNvSpPr txBox="1"/>
              <p:nvPr/>
            </p:nvSpPr>
            <p:spPr>
              <a:xfrm>
                <a:off x="47625" y="12192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9" name="Google Shape;1469;p35"/>
              <p:cNvSpPr txBox="1"/>
              <p:nvPr/>
            </p:nvSpPr>
            <p:spPr>
              <a:xfrm>
                <a:off x="47625" y="15621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70" name="Google Shape;1470;p35"/>
              <p:cNvSpPr txBox="1"/>
              <p:nvPr/>
            </p:nvSpPr>
            <p:spPr>
              <a:xfrm>
                <a:off x="47625" y="19050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71" name="Google Shape;1471;p35"/>
              <p:cNvCxnSpPr/>
              <p:nvPr/>
            </p:nvCxnSpPr>
            <p:spPr>
              <a:xfrm>
                <a:off x="428625" y="228600"/>
                <a:ext cx="0" cy="1771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2" name="Google Shape;1472;p35"/>
              <p:cNvCxnSpPr/>
              <p:nvPr/>
            </p:nvCxnSpPr>
            <p:spPr>
              <a:xfrm>
                <a:off x="428625" y="19621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1473" name="Google Shape;1473;p3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505075" y="228600"/>
                <a:ext cx="19200" cy="1733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4" name="Google Shape;1474;p35"/>
              <p:cNvSpPr/>
              <p:nvPr/>
            </p:nvSpPr>
            <p:spPr>
              <a:xfrm>
                <a:off x="476250" y="704850"/>
                <a:ext cx="291480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36522"/>
                    </a:moveTo>
                    <a:lnTo>
                      <a:pt x="7059" y="15652"/>
                    </a:lnTo>
                    <a:lnTo>
                      <a:pt x="14118" y="67826"/>
                    </a:lnTo>
                    <a:lnTo>
                      <a:pt x="21176" y="0"/>
                    </a:lnTo>
                    <a:lnTo>
                      <a:pt x="28235" y="52174"/>
                    </a:lnTo>
                    <a:lnTo>
                      <a:pt x="35294" y="88696"/>
                    </a:lnTo>
                    <a:lnTo>
                      <a:pt x="42353" y="20870"/>
                    </a:lnTo>
                    <a:lnTo>
                      <a:pt x="49412" y="41739"/>
                    </a:lnTo>
                    <a:lnTo>
                      <a:pt x="56471" y="73043"/>
                    </a:lnTo>
                    <a:lnTo>
                      <a:pt x="63529" y="5217"/>
                    </a:lnTo>
                    <a:lnTo>
                      <a:pt x="70588" y="57391"/>
                    </a:lnTo>
                    <a:lnTo>
                      <a:pt x="77647" y="46957"/>
                    </a:lnTo>
                    <a:lnTo>
                      <a:pt x="84706" y="99130"/>
                    </a:lnTo>
                    <a:lnTo>
                      <a:pt x="91765" y="114783"/>
                    </a:lnTo>
                    <a:lnTo>
                      <a:pt x="98824" y="88696"/>
                    </a:lnTo>
                    <a:lnTo>
                      <a:pt x="105882" y="120000"/>
                    </a:lnTo>
                    <a:lnTo>
                      <a:pt x="112941" y="104348"/>
                    </a:lnTo>
                    <a:lnTo>
                      <a:pt x="120000" y="109565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5"/>
              <p:cNvSpPr/>
              <p:nvPr/>
            </p:nvSpPr>
            <p:spPr>
              <a:xfrm>
                <a:off x="442913" y="9382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5"/>
              <p:cNvSpPr/>
              <p:nvPr/>
            </p:nvSpPr>
            <p:spPr>
              <a:xfrm>
                <a:off x="614363" y="7858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5"/>
              <p:cNvSpPr/>
              <p:nvPr/>
            </p:nvSpPr>
            <p:spPr>
              <a:xfrm>
                <a:off x="785813" y="11668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5"/>
              <p:cNvSpPr/>
              <p:nvPr/>
            </p:nvSpPr>
            <p:spPr>
              <a:xfrm>
                <a:off x="957263" y="6715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5"/>
              <p:cNvSpPr/>
              <p:nvPr/>
            </p:nvSpPr>
            <p:spPr>
              <a:xfrm>
                <a:off x="1128713" y="10525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5"/>
              <p:cNvSpPr/>
              <p:nvPr/>
            </p:nvSpPr>
            <p:spPr>
              <a:xfrm>
                <a:off x="1300163" y="13192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5"/>
              <p:cNvSpPr/>
              <p:nvPr/>
            </p:nvSpPr>
            <p:spPr>
              <a:xfrm>
                <a:off x="1471613" y="8239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5"/>
              <p:cNvSpPr/>
              <p:nvPr/>
            </p:nvSpPr>
            <p:spPr>
              <a:xfrm>
                <a:off x="1643063" y="9763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5"/>
              <p:cNvSpPr/>
              <p:nvPr/>
            </p:nvSpPr>
            <p:spPr>
              <a:xfrm>
                <a:off x="1814513" y="12049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5"/>
              <p:cNvSpPr/>
              <p:nvPr/>
            </p:nvSpPr>
            <p:spPr>
              <a:xfrm>
                <a:off x="1985963" y="7096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5"/>
              <p:cNvSpPr/>
              <p:nvPr/>
            </p:nvSpPr>
            <p:spPr>
              <a:xfrm>
                <a:off x="2157413" y="10906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5"/>
              <p:cNvSpPr/>
              <p:nvPr/>
            </p:nvSpPr>
            <p:spPr>
              <a:xfrm>
                <a:off x="2328863" y="10144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5"/>
              <p:cNvSpPr/>
              <p:nvPr/>
            </p:nvSpPr>
            <p:spPr>
              <a:xfrm>
                <a:off x="2500313" y="13954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5"/>
              <p:cNvSpPr/>
              <p:nvPr/>
            </p:nvSpPr>
            <p:spPr>
              <a:xfrm>
                <a:off x="2671763" y="15097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5"/>
              <p:cNvSpPr/>
              <p:nvPr/>
            </p:nvSpPr>
            <p:spPr>
              <a:xfrm>
                <a:off x="2843213" y="13192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5"/>
              <p:cNvSpPr/>
              <p:nvPr/>
            </p:nvSpPr>
            <p:spPr>
              <a:xfrm>
                <a:off x="3014663" y="15478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5"/>
              <p:cNvSpPr/>
              <p:nvPr/>
            </p:nvSpPr>
            <p:spPr>
              <a:xfrm>
                <a:off x="3186113" y="14335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3357563" y="14716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 txBox="1"/>
              <p:nvPr/>
            </p:nvSpPr>
            <p:spPr>
              <a:xfrm>
                <a:off x="4000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4" name="Google Shape;1494;p35"/>
              <p:cNvSpPr txBox="1"/>
              <p:nvPr/>
            </p:nvSpPr>
            <p:spPr>
              <a:xfrm>
                <a:off x="7429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M3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5" name="Google Shape;1495;p35"/>
              <p:cNvSpPr txBox="1"/>
              <p:nvPr/>
            </p:nvSpPr>
            <p:spPr>
              <a:xfrm>
                <a:off x="10858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M5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6" name="Google Shape;1496;p35"/>
              <p:cNvSpPr txBox="1"/>
              <p:nvPr/>
            </p:nvSpPr>
            <p:spPr>
              <a:xfrm>
                <a:off x="14287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M7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7" name="Google Shape;1497;p35"/>
              <p:cNvSpPr txBox="1"/>
              <p:nvPr/>
            </p:nvSpPr>
            <p:spPr>
              <a:xfrm>
                <a:off x="17716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M9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8" name="Google Shape;1498;p35"/>
              <p:cNvSpPr txBox="1"/>
              <p:nvPr/>
            </p:nvSpPr>
            <p:spPr>
              <a:xfrm>
                <a:off x="21050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M11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9" name="Google Shape;1499;p35"/>
              <p:cNvSpPr txBox="1"/>
              <p:nvPr/>
            </p:nvSpPr>
            <p:spPr>
              <a:xfrm>
                <a:off x="24479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M13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500" name="Google Shape;1500;p35"/>
              <p:cNvSpPr txBox="1"/>
              <p:nvPr/>
            </p:nvSpPr>
            <p:spPr>
              <a:xfrm>
                <a:off x="27908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M15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501" name="Google Shape;1501;p35"/>
              <p:cNvSpPr txBox="1"/>
              <p:nvPr/>
            </p:nvSpPr>
            <p:spPr>
              <a:xfrm>
                <a:off x="31337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M17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grpSp>
            <p:nvGrpSpPr>
              <p:cNvPr id="1502" name="Google Shape;1502;p35"/>
              <p:cNvGrpSpPr/>
              <p:nvPr/>
            </p:nvGrpSpPr>
            <p:grpSpPr>
              <a:xfrm>
                <a:off x="142875" y="2266950"/>
                <a:ext cx="3524400" cy="952500"/>
                <a:chOff x="0" y="0"/>
                <a:chExt cx="3524400" cy="952500"/>
              </a:xfrm>
            </p:grpSpPr>
            <p:sp>
              <p:nvSpPr>
                <p:cNvPr id="1503" name="Google Shape;1503;p35"/>
                <p:cNvSpPr/>
                <p:nvPr/>
              </p:nvSpPr>
              <p:spPr>
                <a:xfrm>
                  <a:off x="0" y="0"/>
                  <a:ext cx="3524400" cy="952500"/>
                </a:xfrm>
                <a:prstGeom prst="roundRect">
                  <a:avLst>
                    <a:gd name="adj" fmla="val 4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CBD5E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1504;p35"/>
                <p:cNvSpPr txBox="1"/>
                <p:nvPr/>
              </p:nvSpPr>
              <p:spPr>
                <a:xfrm>
                  <a:off x="114300" y="76200"/>
                  <a:ext cx="32958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CONTROL LIMIT FORMULATION (3-SIGMA):</a:t>
                  </a:r>
                  <a:endParaRPr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UCL / LCL = p-bar ± 3 * sqrt( p-bar * (1 - p-bar) / n )</a:t>
                  </a:r>
                  <a:endParaRPr sz="75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l" rtl="0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Monitors binary churn outcomes to establish continuous statistical process stability across observation windows.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  <p:grpSp>
        <p:nvGrpSpPr>
          <p:cNvPr id="1505" name="Google Shape;1505;p35"/>
          <p:cNvGrpSpPr/>
          <p:nvPr/>
        </p:nvGrpSpPr>
        <p:grpSpPr>
          <a:xfrm>
            <a:off x="4743450" y="1028700"/>
            <a:ext cx="3886200" cy="3695700"/>
            <a:chOff x="0" y="0"/>
            <a:chExt cx="3886200" cy="3695700"/>
          </a:xfrm>
        </p:grpSpPr>
        <p:grpSp>
          <p:nvGrpSpPr>
            <p:cNvPr id="1506" name="Google Shape;1506;p35"/>
            <p:cNvGrpSpPr/>
            <p:nvPr/>
          </p:nvGrpSpPr>
          <p:grpSpPr>
            <a:xfrm>
              <a:off x="0" y="0"/>
              <a:ext cx="3886200" cy="685800"/>
              <a:chOff x="0" y="0"/>
              <a:chExt cx="3886200" cy="685800"/>
            </a:xfrm>
          </p:grpSpPr>
          <p:sp>
            <p:nvSpPr>
              <p:cNvPr id="1507" name="Google Shape;1507;p35"/>
              <p:cNvSpPr/>
              <p:nvPr/>
            </p:nvSpPr>
            <p:spPr>
              <a:xfrm>
                <a:off x="0" y="0"/>
                <a:ext cx="3886200" cy="685800"/>
              </a:xfrm>
              <a:prstGeom prst="roundRect">
                <a:avLst>
                  <a:gd name="adj" fmla="val 8333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 txBox="1"/>
              <p:nvPr/>
            </p:nvSpPr>
            <p:spPr>
              <a:xfrm>
                <a:off x="133350" y="95250"/>
                <a:ext cx="3619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Statistical Process Control P-Charts validate a stable, sustained reduction in monthly churn following countermeasure implementation.</a:t>
                </a:r>
                <a:endParaRPr sz="694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 Control phase utilized a P-Chart to monitor binary churn against 3-sigma limits (UCL/LCL = p-bar ± 3*sqrt(p-bar*(1-p-bar)/n)).</a:t>
                </a:r>
                <a:endParaRPr sz="694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09" name="Google Shape;1509;p35"/>
            <p:cNvGrpSpPr/>
            <p:nvPr/>
          </p:nvGrpSpPr>
          <p:grpSpPr>
            <a:xfrm>
              <a:off x="0" y="800100"/>
              <a:ext cx="3886200" cy="590700"/>
              <a:chOff x="0" y="0"/>
              <a:chExt cx="3886200" cy="590700"/>
            </a:xfrm>
          </p:grpSpPr>
          <p:sp>
            <p:nvSpPr>
              <p:cNvPr id="1510" name="Google Shape;1510;p35"/>
              <p:cNvSpPr/>
              <p:nvPr/>
            </p:nvSpPr>
            <p:spPr>
              <a:xfrm>
                <a:off x="0" y="0"/>
                <a:ext cx="3886200" cy="590700"/>
              </a:xfrm>
              <a:prstGeom prst="roundRect">
                <a:avLst>
                  <a:gd name="adj" fmla="val 6451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0" y="0"/>
                <a:ext cx="38100" cy="5907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 txBox="1"/>
              <p:nvPr/>
            </p:nvSpPr>
            <p:spPr>
              <a:xfrm>
                <a:off x="152400" y="76200"/>
                <a:ext cx="36006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1 BASELINE (12 MONTHS)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Average churn was </a:t>
                </a: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26.9%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, with an upper control limit (UCL)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~40.0%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and a lower control limit (LCL)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~13.8%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.</a:t>
                </a:r>
                <a:endParaRPr sz="7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13" name="Google Shape;1513;p35"/>
            <p:cNvGrpSpPr/>
            <p:nvPr/>
          </p:nvGrpSpPr>
          <p:grpSpPr>
            <a:xfrm>
              <a:off x="0" y="1485900"/>
              <a:ext cx="3886200" cy="590700"/>
              <a:chOff x="0" y="0"/>
              <a:chExt cx="3886200" cy="590700"/>
            </a:xfrm>
          </p:grpSpPr>
          <p:sp>
            <p:nvSpPr>
              <p:cNvPr id="1514" name="Google Shape;1514;p35"/>
              <p:cNvSpPr/>
              <p:nvPr/>
            </p:nvSpPr>
            <p:spPr>
              <a:xfrm>
                <a:off x="0" y="0"/>
                <a:ext cx="3886200" cy="590700"/>
              </a:xfrm>
              <a:prstGeom prst="roundRect">
                <a:avLst>
                  <a:gd name="adj" fmla="val 6451"/>
                </a:avLst>
              </a:prstGeom>
              <a:solidFill>
                <a:srgbClr val="FDF2F5"/>
              </a:solidFill>
              <a:ln w="9525" cap="flat" cmpd="sng">
                <a:solidFill>
                  <a:srgbClr val="FCE7F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0" y="0"/>
                <a:ext cx="38100" cy="5907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 txBox="1"/>
              <p:nvPr/>
            </p:nvSpPr>
            <p:spPr>
              <a:xfrm>
                <a:off x="152400" y="76200"/>
                <a:ext cx="36006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2 CONTROL (6 MONTHS POST-IMPROVEMENT)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Average churn dropped to </a:t>
                </a: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14.7%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, with a UCL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~25.5%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and an LCL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~4.0%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.</a:t>
                </a:r>
                <a:endParaRPr sz="7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17" name="Google Shape;1517;p35"/>
            <p:cNvGrpSpPr/>
            <p:nvPr/>
          </p:nvGrpSpPr>
          <p:grpSpPr>
            <a:xfrm>
              <a:off x="0" y="2171700"/>
              <a:ext cx="3886200" cy="705000"/>
              <a:chOff x="0" y="0"/>
              <a:chExt cx="3886200" cy="705000"/>
            </a:xfrm>
          </p:grpSpPr>
          <p:grpSp>
            <p:nvGrpSpPr>
              <p:cNvPr id="1518" name="Google Shape;1518;p35"/>
              <p:cNvGrpSpPr/>
              <p:nvPr/>
            </p:nvGrpSpPr>
            <p:grpSpPr>
              <a:xfrm>
                <a:off x="0" y="0"/>
                <a:ext cx="1866900" cy="705000"/>
                <a:chOff x="0" y="0"/>
                <a:chExt cx="1866900" cy="705000"/>
              </a:xfrm>
            </p:grpSpPr>
            <p:sp>
              <p:nvSpPr>
                <p:cNvPr id="1519" name="Google Shape;1519;p35"/>
                <p:cNvSpPr/>
                <p:nvPr/>
              </p:nvSpPr>
              <p:spPr>
                <a:xfrm>
                  <a:off x="0" y="0"/>
                  <a:ext cx="1866900" cy="705000"/>
                </a:xfrm>
                <a:prstGeom prst="roundRect">
                  <a:avLst>
                    <a:gd name="adj" fmla="val 8108"/>
                  </a:avLst>
                </a:prstGeom>
                <a:solidFill>
                  <a:srgbClr val="F8F9FA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35"/>
                <p:cNvSpPr txBox="1"/>
                <p:nvPr/>
              </p:nvSpPr>
              <p:spPr>
                <a:xfrm>
                  <a:off x="114300" y="76200"/>
                  <a:ext cx="16383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14.7%</a:t>
                  </a:r>
                  <a:endParaRPr sz="20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1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475569"/>
                      </a:solidFill>
                      <a:latin typeface="Work Sans SemiBold"/>
                      <a:ea typeface="Work Sans SemiBold"/>
                      <a:cs typeface="Work Sans SemiBold"/>
                      <a:sym typeface="Work Sans SemiBold"/>
                    </a:rPr>
                    <a:t>New Average Churn Rate</a:t>
                  </a:r>
                  <a:endParaRPr sz="750" b="0">
                    <a:solidFill>
                      <a:srgbClr val="475569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endParaRPr>
                </a:p>
              </p:txBody>
            </p:sp>
          </p:grpSp>
          <p:grpSp>
            <p:nvGrpSpPr>
              <p:cNvPr id="1521" name="Google Shape;1521;p35"/>
              <p:cNvGrpSpPr/>
              <p:nvPr/>
            </p:nvGrpSpPr>
            <p:grpSpPr>
              <a:xfrm>
                <a:off x="2019300" y="0"/>
                <a:ext cx="1866900" cy="705000"/>
                <a:chOff x="0" y="0"/>
                <a:chExt cx="1866900" cy="705000"/>
              </a:xfrm>
            </p:grpSpPr>
            <p:sp>
              <p:nvSpPr>
                <p:cNvPr id="1522" name="Google Shape;1522;p35"/>
                <p:cNvSpPr/>
                <p:nvPr/>
              </p:nvSpPr>
              <p:spPr>
                <a:xfrm>
                  <a:off x="0" y="0"/>
                  <a:ext cx="1866900" cy="705000"/>
                </a:xfrm>
                <a:prstGeom prst="roundRect">
                  <a:avLst>
                    <a:gd name="adj" fmla="val 8108"/>
                  </a:avLst>
                </a:prstGeom>
                <a:solidFill>
                  <a:srgbClr val="F8F9FA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35"/>
                <p:cNvSpPr txBox="1"/>
                <p:nvPr/>
              </p:nvSpPr>
              <p:spPr>
                <a:xfrm>
                  <a:off x="114300" y="76200"/>
                  <a:ext cx="16383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0 Violations</a:t>
                  </a:r>
                  <a:endParaRPr sz="1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1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475569"/>
                      </a:solidFill>
                      <a:latin typeface="Work Sans SemiBold"/>
                      <a:ea typeface="Work Sans SemiBold"/>
                      <a:cs typeface="Work Sans SemiBold"/>
                      <a:sym typeface="Work Sans SemiBold"/>
                    </a:rPr>
                    <a:t>Strict Control (Zero Nelson Rules)</a:t>
                  </a:r>
                  <a:endParaRPr sz="750" b="0">
                    <a:solidFill>
                      <a:srgbClr val="475569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endParaRPr>
                </a:p>
              </p:txBody>
            </p:sp>
          </p:grpSp>
        </p:grpSp>
        <p:grpSp>
          <p:nvGrpSpPr>
            <p:cNvPr id="1524" name="Google Shape;1524;p35"/>
            <p:cNvGrpSpPr/>
            <p:nvPr/>
          </p:nvGrpSpPr>
          <p:grpSpPr>
            <a:xfrm>
              <a:off x="0" y="2971800"/>
              <a:ext cx="3886200" cy="723900"/>
              <a:chOff x="0" y="0"/>
              <a:chExt cx="3886200" cy="723900"/>
            </a:xfrm>
          </p:grpSpPr>
          <p:sp>
            <p:nvSpPr>
              <p:cNvPr id="1525" name="Google Shape;1525;p35"/>
              <p:cNvSpPr/>
              <p:nvPr/>
            </p:nvSpPr>
            <p:spPr>
              <a:xfrm>
                <a:off x="0" y="0"/>
                <a:ext cx="3886200" cy="723900"/>
              </a:xfrm>
              <a:prstGeom prst="roundRect">
                <a:avLst>
                  <a:gd name="adj" fmla="val 789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0" y="0"/>
                <a:ext cx="954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474"/>
                    </a:moveTo>
                    <a:cubicBezTo>
                      <a:pt x="0" y="4232"/>
                      <a:pt x="32160" y="0"/>
                      <a:pt x="72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72000" y="120000"/>
                    </a:lnTo>
                    <a:cubicBezTo>
                      <a:pt x="32160" y="120000"/>
                      <a:pt x="0" y="115768"/>
                      <a:pt x="0" y="110526"/>
                    </a:cubicBezTo>
                    <a:close/>
                  </a:path>
                </a:pathLst>
              </a:cu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 txBox="1"/>
              <p:nvPr/>
            </p:nvSpPr>
            <p:spPr>
              <a:xfrm>
                <a:off x="190500" y="95250"/>
                <a:ext cx="3562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Process Stability Achieved: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Continuous monitoring verifies that post-improvement interventions permanently shifted the process baseline below the target 15% churn threshold.</a:t>
                </a:r>
                <a:endParaRPr sz="7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6"/>
          <p:cNvSpPr/>
          <p:nvPr/>
        </p:nvSpPr>
        <p:spPr>
          <a:xfrm>
            <a:off x="4828975" y="0"/>
            <a:ext cx="4314900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E1C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3" name="Google Shape;1533;p36"/>
          <p:cNvGrpSpPr/>
          <p:nvPr/>
        </p:nvGrpSpPr>
        <p:grpSpPr>
          <a:xfrm>
            <a:off x="514350" y="619125"/>
            <a:ext cx="3953025" cy="3810150"/>
            <a:chOff x="514350" y="619125"/>
            <a:chExt cx="3953025" cy="3810150"/>
          </a:xfrm>
        </p:grpSpPr>
        <p:sp>
          <p:nvSpPr>
            <p:cNvPr id="1534" name="Google Shape;1534;p36"/>
            <p:cNvSpPr txBox="1"/>
            <p:nvPr/>
          </p:nvSpPr>
          <p:spPr>
            <a:xfrm>
              <a:off x="514350" y="619125"/>
              <a:ext cx="3952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PROJECT IMPACT</a:t>
              </a:r>
              <a:endParaRPr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45.2% CHURN REDUCTION</a:t>
              </a:r>
              <a:endParaRPr sz="248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35" name="Google Shape;1535;p36"/>
            <p:cNvSpPr txBox="1"/>
            <p:nvPr/>
          </p:nvSpPr>
          <p:spPr>
            <a:xfrm>
              <a:off x="514350" y="1476375"/>
              <a:ext cx="3952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The DMAIC methodology successfully reduced member churn by 45.2%, achieving the sub-15% target and improving process capability.</a:t>
              </a:r>
              <a:endParaRPr sz="9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36" name="Google Shape;1536;p36"/>
            <p:cNvSpPr txBox="1"/>
            <p:nvPr/>
          </p:nvSpPr>
          <p:spPr>
            <a:xfrm>
              <a:off x="514350" y="2095500"/>
              <a:ext cx="3952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Performance Comparison</a:t>
              </a:r>
              <a:endParaRPr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537" name="Google Shape;1537;p36"/>
            <p:cNvGrpSpPr/>
            <p:nvPr/>
          </p:nvGrpSpPr>
          <p:grpSpPr>
            <a:xfrm>
              <a:off x="514350" y="2381250"/>
              <a:ext cx="1886100" cy="1428900"/>
              <a:chOff x="0" y="0"/>
              <a:chExt cx="1886100" cy="1428900"/>
            </a:xfrm>
          </p:grpSpPr>
          <p:sp>
            <p:nvSpPr>
              <p:cNvPr id="1538" name="Google Shape;1538;p36"/>
              <p:cNvSpPr/>
              <p:nvPr/>
            </p:nvSpPr>
            <p:spPr>
              <a:xfrm>
                <a:off x="0" y="0"/>
                <a:ext cx="1886100" cy="1428900"/>
              </a:xfrm>
              <a:prstGeom prst="roundRect">
                <a:avLst>
                  <a:gd name="adj" fmla="val 2666"/>
                </a:avLst>
              </a:prstGeom>
              <a:solidFill>
                <a:srgbClr val="F4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6"/>
              <p:cNvSpPr/>
              <p:nvPr/>
            </p:nvSpPr>
            <p:spPr>
              <a:xfrm>
                <a:off x="0" y="0"/>
                <a:ext cx="1886100" cy="57300"/>
              </a:xfrm>
              <a:prstGeom prst="roundRect">
                <a:avLst>
                  <a:gd name="adj" fmla="val 33333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6"/>
              <p:cNvSpPr txBox="1"/>
              <p:nvPr/>
            </p:nvSpPr>
            <p:spPr>
              <a:xfrm>
                <a:off x="142875" y="152400"/>
                <a:ext cx="160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BEFORE (BASELINE)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26.9%</a:t>
                </a:r>
                <a:endParaRPr sz="2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Monthly Churn</a:t>
                </a:r>
                <a:endParaRPr sz="80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Sigma Level: </a:t>
                </a:r>
                <a:r>
                  <a:rPr lang="en" sz="9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~2.1</a:t>
                </a:r>
                <a:endParaRPr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1" name="Google Shape;1541;p36"/>
            <p:cNvGrpSpPr/>
            <p:nvPr/>
          </p:nvGrpSpPr>
          <p:grpSpPr>
            <a:xfrm>
              <a:off x="2581275" y="2381250"/>
              <a:ext cx="1886100" cy="1428900"/>
              <a:chOff x="0" y="0"/>
              <a:chExt cx="1886100" cy="1428900"/>
            </a:xfrm>
          </p:grpSpPr>
          <p:sp>
            <p:nvSpPr>
              <p:cNvPr id="1542" name="Google Shape;1542;p36"/>
              <p:cNvSpPr/>
              <p:nvPr/>
            </p:nvSpPr>
            <p:spPr>
              <a:xfrm>
                <a:off x="0" y="0"/>
                <a:ext cx="1886100" cy="1428900"/>
              </a:xfrm>
              <a:prstGeom prst="roundRect">
                <a:avLst>
                  <a:gd name="adj" fmla="val 2666"/>
                </a:avLst>
              </a:prstGeom>
              <a:solidFill>
                <a:srgbClr val="FDF2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6"/>
              <p:cNvSpPr/>
              <p:nvPr/>
            </p:nvSpPr>
            <p:spPr>
              <a:xfrm>
                <a:off x="0" y="0"/>
                <a:ext cx="1886100" cy="573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6"/>
              <p:cNvSpPr txBox="1"/>
              <p:nvPr/>
            </p:nvSpPr>
            <p:spPr>
              <a:xfrm>
                <a:off x="142875" y="152400"/>
                <a:ext cx="160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AFTER (DMAIC)</a:t>
                </a:r>
                <a:endParaRPr sz="10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14.7%</a:t>
                </a:r>
                <a:endParaRPr sz="2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Monthly Churn (&lt;15% Goal)</a:t>
                </a:r>
                <a:endParaRPr sz="80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Sigma Level: </a:t>
                </a:r>
                <a:r>
                  <a:rPr lang="en" sz="9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~2.6</a:t>
                </a:r>
                <a:endParaRPr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5" name="Google Shape;1545;p36"/>
            <p:cNvGrpSpPr/>
            <p:nvPr/>
          </p:nvGrpSpPr>
          <p:grpSpPr>
            <a:xfrm>
              <a:off x="514350" y="3952875"/>
              <a:ext cx="3952800" cy="476400"/>
              <a:chOff x="0" y="0"/>
              <a:chExt cx="3952800" cy="476400"/>
            </a:xfrm>
          </p:grpSpPr>
          <p:sp>
            <p:nvSpPr>
              <p:cNvPr id="1546" name="Google Shape;1546;p36"/>
              <p:cNvSpPr/>
              <p:nvPr/>
            </p:nvSpPr>
            <p:spPr>
              <a:xfrm>
                <a:off x="0" y="0"/>
                <a:ext cx="3952800" cy="476400"/>
              </a:xfrm>
              <a:prstGeom prst="roundRect">
                <a:avLst>
                  <a:gd name="adj" fmla="val 8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6"/>
              <p:cNvSpPr txBox="1"/>
              <p:nvPr/>
            </p:nvSpPr>
            <p:spPr>
              <a:xfrm>
                <a:off x="142875" y="95250"/>
                <a:ext cx="3667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 churn was reduced from 26.9% to 14.7% (a 45.2% relative reduction), successfully achieving the &lt;15% project goal.</a:t>
                </a:r>
                <a:endParaRPr sz="9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548" name="Google Shape;1548;p36"/>
          <p:cNvGrpSpPr/>
          <p:nvPr/>
        </p:nvGrpSpPr>
        <p:grpSpPr>
          <a:xfrm>
            <a:off x="5191125" y="619125"/>
            <a:ext cx="3524400" cy="3810000"/>
            <a:chOff x="5191125" y="619125"/>
            <a:chExt cx="3524400" cy="3810000"/>
          </a:xfrm>
        </p:grpSpPr>
        <p:pic>
          <p:nvPicPr>
            <p:cNvPr id="1549" name="Google Shape;1549;p36"/>
            <p:cNvPicPr preferRelativeResize="0"/>
            <p:nvPr/>
          </p:nvPicPr>
          <p:blipFill rotWithShape="1">
            <a:blip r:embed="rId3">
              <a:alphaModFix amt="90000"/>
            </a:blip>
            <a:srcRect t="25000" b="25000"/>
            <a:stretch/>
          </p:blipFill>
          <p:spPr>
            <a:xfrm>
              <a:off x="5191125" y="619125"/>
              <a:ext cx="3524400" cy="1762200"/>
            </a:xfrm>
            <a:prstGeom prst="roundRect">
              <a:avLst>
                <a:gd name="adj" fmla="val 2162"/>
              </a:avLst>
            </a:prstGeom>
            <a:noFill/>
            <a:ln>
              <a:noFill/>
            </a:ln>
          </p:spPr>
        </p:pic>
        <p:grpSp>
          <p:nvGrpSpPr>
            <p:cNvPr id="1550" name="Google Shape;1550;p36"/>
            <p:cNvGrpSpPr/>
            <p:nvPr/>
          </p:nvGrpSpPr>
          <p:grpSpPr>
            <a:xfrm>
              <a:off x="5191125" y="2524125"/>
              <a:ext cx="3524400" cy="1905000"/>
              <a:chOff x="0" y="0"/>
              <a:chExt cx="3524400" cy="1905000"/>
            </a:xfrm>
          </p:grpSpPr>
          <p:sp>
            <p:nvSpPr>
              <p:cNvPr id="1551" name="Google Shape;1551;p36"/>
              <p:cNvSpPr/>
              <p:nvPr/>
            </p:nvSpPr>
            <p:spPr>
              <a:xfrm>
                <a:off x="0" y="0"/>
                <a:ext cx="3524400" cy="1905000"/>
              </a:xfrm>
              <a:prstGeom prst="roundRect">
                <a:avLst>
                  <a:gd name="adj" fmla="val 2000"/>
                </a:avLst>
              </a:prstGeom>
              <a:solidFill>
                <a:srgbClr val="1526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6"/>
              <p:cNvSpPr txBox="1"/>
              <p:nvPr/>
            </p:nvSpPr>
            <p:spPr>
              <a:xfrm>
                <a:off x="190500" y="171450"/>
                <a:ext cx="3143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STRATEGIC RECOMMENDATIONS</a:t>
                </a:r>
                <a:endParaRPr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53" name="Google Shape;1553;p36"/>
              <p:cNvSpPr txBox="1"/>
              <p:nvPr/>
            </p:nvSpPr>
            <p:spPr>
              <a:xfrm>
                <a:off x="190500" y="457200"/>
                <a:ext cx="31434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10833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Maintain ongoing P-chart monitoring with bi-annual control limit updates.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457200" lvl="0" indent="-310833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Conduct quarterly member surveys and annual FMEA reviews.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457200" lvl="0" indent="-310833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Implement a CRM loyalty program and formal freeze/pause options to further protect long-term retention.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37"/>
          <p:cNvSpPr/>
          <p:nvPr/>
        </p:nvSpPr>
        <p:spPr>
          <a:xfrm>
            <a:off x="0" y="0"/>
            <a:ext cx="152400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A600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37"/>
          <p:cNvGrpSpPr/>
          <p:nvPr/>
        </p:nvGrpSpPr>
        <p:grpSpPr>
          <a:xfrm>
            <a:off x="514350" y="238125"/>
            <a:ext cx="8115300" cy="438150"/>
            <a:chOff x="0" y="0"/>
            <a:chExt cx="8115300" cy="438150"/>
          </a:xfrm>
        </p:grpSpPr>
        <p:sp>
          <p:nvSpPr>
            <p:cNvPr id="1561" name="Google Shape;1561;p37"/>
            <p:cNvSpPr txBox="1"/>
            <p:nvPr/>
          </p:nvSpPr>
          <p:spPr>
            <a:xfrm>
              <a:off x="0" y="0"/>
              <a:ext cx="811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Thank You</a:t>
              </a:r>
              <a:endParaRPr sz="24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cxnSp>
          <p:nvCxnSpPr>
            <p:cNvPr id="1562" name="Google Shape;1562;p37"/>
            <p:cNvCxnSpPr/>
            <p:nvPr/>
          </p:nvCxnSpPr>
          <p:spPr>
            <a:xfrm>
              <a:off x="0" y="438150"/>
              <a:ext cx="81153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63" name="Google Shape;1563;p37"/>
          <p:cNvGrpSpPr/>
          <p:nvPr/>
        </p:nvGrpSpPr>
        <p:grpSpPr>
          <a:xfrm>
            <a:off x="514350" y="838200"/>
            <a:ext cx="8115300" cy="3048150"/>
            <a:chOff x="0" y="0"/>
            <a:chExt cx="8115300" cy="3048150"/>
          </a:xfrm>
        </p:grpSpPr>
        <p:sp>
          <p:nvSpPr>
            <p:cNvPr id="1564" name="Google Shape;1564;p37"/>
            <p:cNvSpPr txBox="1"/>
            <p:nvPr/>
          </p:nvSpPr>
          <p:spPr>
            <a:xfrm>
              <a:off x="0" y="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Academic References</a:t>
              </a:r>
              <a:endParaRPr sz="11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565" name="Google Shape;1565;p37"/>
            <p:cNvGrpSpPr/>
            <p:nvPr/>
          </p:nvGrpSpPr>
          <p:grpSpPr>
            <a:xfrm>
              <a:off x="0" y="266700"/>
              <a:ext cx="3943200" cy="2781450"/>
              <a:chOff x="0" y="0"/>
              <a:chExt cx="3943200" cy="2781450"/>
            </a:xfrm>
          </p:grpSpPr>
          <p:grpSp>
            <p:nvGrpSpPr>
              <p:cNvPr id="1566" name="Google Shape;1566;p37"/>
              <p:cNvGrpSpPr/>
              <p:nvPr/>
            </p:nvGrpSpPr>
            <p:grpSpPr>
              <a:xfrm>
                <a:off x="0" y="0"/>
                <a:ext cx="3943200" cy="400200"/>
                <a:chOff x="0" y="0"/>
                <a:chExt cx="3943200" cy="400200"/>
              </a:xfrm>
            </p:grpSpPr>
            <p:sp>
              <p:nvSpPr>
                <p:cNvPr id="1567" name="Google Shape;1567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1568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1569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[1] Montgomery, D.C.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(2020).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Introduction to Statistical Quality Control.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0" name="Google Shape;1570;p37"/>
              <p:cNvGrpSpPr/>
              <p:nvPr/>
            </p:nvGrpSpPr>
            <p:grpSpPr>
              <a:xfrm>
                <a:off x="0" y="476250"/>
                <a:ext cx="3943200" cy="400200"/>
                <a:chOff x="0" y="0"/>
                <a:chExt cx="3943200" cy="400200"/>
              </a:xfrm>
            </p:grpSpPr>
            <p:sp>
              <p:nvSpPr>
                <p:cNvPr id="1571" name="Google Shape;1571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[2] George, M.L.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(2002).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Lean Six Sigma.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4" name="Google Shape;1574;p37"/>
              <p:cNvGrpSpPr/>
              <p:nvPr/>
            </p:nvGrpSpPr>
            <p:grpSpPr>
              <a:xfrm>
                <a:off x="0" y="952500"/>
                <a:ext cx="3943200" cy="400200"/>
                <a:chOff x="0" y="0"/>
                <a:chExt cx="3943200" cy="400200"/>
              </a:xfrm>
            </p:grpSpPr>
            <p:sp>
              <p:nvSpPr>
                <p:cNvPr id="1575" name="Google Shape;1575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[3] Pyzdek, T. &amp; Keller, P.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(2014).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The Six Sigma Handbook.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8" name="Google Shape;1578;p37"/>
              <p:cNvGrpSpPr/>
              <p:nvPr/>
            </p:nvGrpSpPr>
            <p:grpSpPr>
              <a:xfrm>
                <a:off x="0" y="1428750"/>
                <a:ext cx="3943200" cy="400200"/>
                <a:chOff x="0" y="0"/>
                <a:chExt cx="3943200" cy="400200"/>
              </a:xfrm>
            </p:grpSpPr>
            <p:sp>
              <p:nvSpPr>
                <p:cNvPr id="1579" name="Google Shape;1579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[4] Stamatis, D.H.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(2003).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Failure Mode and Effect Analysis.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82" name="Google Shape;1582;p37"/>
              <p:cNvGrpSpPr/>
              <p:nvPr/>
            </p:nvGrpSpPr>
            <p:grpSpPr>
              <a:xfrm>
                <a:off x="0" y="1905000"/>
                <a:ext cx="3943200" cy="400200"/>
                <a:chOff x="0" y="0"/>
                <a:chExt cx="3943200" cy="400200"/>
              </a:xfrm>
            </p:grpSpPr>
            <p:sp>
              <p:nvSpPr>
                <p:cNvPr id="1583" name="Google Shape;1583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4" name="Google Shape;1584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[5] Breyfogle, F.W.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(2003).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Implementing Six Sigma.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86" name="Google Shape;1586;p37"/>
              <p:cNvGrpSpPr/>
              <p:nvPr/>
            </p:nvGrpSpPr>
            <p:grpSpPr>
              <a:xfrm>
                <a:off x="0" y="2381250"/>
                <a:ext cx="3943200" cy="400200"/>
                <a:chOff x="0" y="0"/>
                <a:chExt cx="3943200" cy="400200"/>
              </a:xfrm>
            </p:grpSpPr>
            <p:sp>
              <p:nvSpPr>
                <p:cNvPr id="1587" name="Google Shape;1587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[6] Pande, P.S., et al.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(2000).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The Six Sigma Way.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grpSp>
          <p:nvGrpSpPr>
            <p:cNvPr id="1590" name="Google Shape;1590;p37"/>
            <p:cNvGrpSpPr/>
            <p:nvPr/>
          </p:nvGrpSpPr>
          <p:grpSpPr>
            <a:xfrm>
              <a:off x="4171950" y="266700"/>
              <a:ext cx="3943200" cy="2514600"/>
              <a:chOff x="0" y="0"/>
              <a:chExt cx="3943200" cy="2514600"/>
            </a:xfrm>
          </p:grpSpPr>
          <p:grpSp>
            <p:nvGrpSpPr>
              <p:cNvPr id="1591" name="Google Shape;1591;p37"/>
              <p:cNvGrpSpPr/>
              <p:nvPr/>
            </p:nvGrpSpPr>
            <p:grpSpPr>
              <a:xfrm>
                <a:off x="0" y="0"/>
                <a:ext cx="3943200" cy="571500"/>
                <a:chOff x="0" y="0"/>
                <a:chExt cx="3943200" cy="571500"/>
              </a:xfrm>
            </p:grpSpPr>
            <p:sp>
              <p:nvSpPr>
                <p:cNvPr id="1592" name="Google Shape;1592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[7] Vadivel, S.M., Sequeira, A.H., et al.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(2022).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Impact of Lean Service, Workplace Environment &amp; Social Practices.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Annals of Operations Research, 315(2), 2219–2244.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95" name="Google Shape;1595;p37"/>
              <p:cNvGrpSpPr/>
              <p:nvPr/>
            </p:nvGrpSpPr>
            <p:grpSpPr>
              <a:xfrm>
                <a:off x="0" y="647700"/>
                <a:ext cx="3943200" cy="571500"/>
                <a:chOff x="0" y="0"/>
                <a:chExt cx="3943200" cy="571500"/>
              </a:xfrm>
            </p:grpSpPr>
            <p:sp>
              <p:nvSpPr>
                <p:cNvPr id="1596" name="Google Shape;1596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[8] Vadivel, S.M., &amp; Boobalan, K.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(2024).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Influences of Service Quality Factors on Customer Satisfaction.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Int. J. System Assurance Eng. &amp; Management, 15(2), 758–773.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99" name="Google Shape;1599;p37"/>
              <p:cNvGrpSpPr/>
              <p:nvPr/>
            </p:nvGrpSpPr>
            <p:grpSpPr>
              <a:xfrm>
                <a:off x="0" y="1295400"/>
                <a:ext cx="3943200" cy="571500"/>
                <a:chOff x="0" y="0"/>
                <a:chExt cx="3943200" cy="571500"/>
              </a:xfrm>
            </p:grpSpPr>
            <p:sp>
              <p:nvSpPr>
                <p:cNvPr id="1600" name="Google Shape;1600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[9] Vadivel, S.M., Chandrasekaran, B., et al.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(2023).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Analyzing Critical Success Factors of Lean System Implementation.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Intelligent Systems Design &amp; Applications, LNNS 646, 118–127.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603" name="Google Shape;1603;p37"/>
              <p:cNvGrpSpPr/>
              <p:nvPr/>
            </p:nvGrpSpPr>
            <p:grpSpPr>
              <a:xfrm>
                <a:off x="0" y="1943100"/>
                <a:ext cx="3943200" cy="571500"/>
                <a:chOff x="0" y="0"/>
                <a:chExt cx="3943200" cy="571500"/>
              </a:xfrm>
            </p:grpSpPr>
            <p:sp>
              <p:nvSpPr>
                <p:cNvPr id="1604" name="Google Shape;1604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" name="Google Shape;1605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6" name="Google Shape;1606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[10] Vadivel, S.M., Jauhar, S.K., &amp; Sequeira, A.H.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(2022).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Applying Simulation in Lean Service to Enhance Operational Systems.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Annals of Operations Research, 315(2), 993–1017.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4108</Words>
  <Application>Microsoft Office PowerPoint</Application>
  <PresentationFormat>On-screen Show (16:9)</PresentationFormat>
  <Paragraphs>782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Work Sans</vt:lpstr>
      <vt:lpstr>Work Sans SemiBold</vt:lpstr>
      <vt:lpstr>Anton</vt:lpstr>
      <vt:lpstr>Arial</vt:lpstr>
      <vt:lpstr>Work Sans Medium</vt:lpstr>
      <vt:lpstr>Material Icons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Glad Danny</cp:lastModifiedBy>
  <cp:revision>1</cp:revision>
  <dcterms:modified xsi:type="dcterms:W3CDTF">2026-10-25T15:57:39Z</dcterms:modified>
</cp:coreProperties>
</file>